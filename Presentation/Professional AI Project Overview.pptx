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BM Plex Sans Bold" charset="1" panose="020B0803050203000203"/>
      <p:regular r:id="rId15"/>
    </p:embeddedFon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  <p:embeddedFont>
      <p:font typeface="Pattanakarn" charset="1" panose="00000000000000000000"/>
      <p:regular r:id="rId18"/>
    </p:embeddedFont>
    <p:embeddedFont>
      <p:font typeface="Montserrat" charset="1" panose="00000500000000000000"/>
      <p:regular r:id="rId19"/>
    </p:embeddedFont>
    <p:embeddedFont>
      <p:font typeface="Arial MT Pro Bold" charset="1" panose="020B0802020202020204"/>
      <p:regular r:id="rId20"/>
    </p:embeddedFont>
    <p:embeddedFont>
      <p:font typeface="Pattanakarn Bold" charset="1" panose="00000000000000000000"/>
      <p:regular r:id="rId21"/>
    </p:embeddedFont>
    <p:embeddedFont>
      <p:font typeface="Montserra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00875" y="9239250"/>
            <a:ext cx="4286250" cy="56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  <a:spcBef>
                <a:spcPct val="0"/>
              </a:spcBef>
            </a:pPr>
            <a:r>
              <a:rPr lang="en-US" b="true" sz="3600" spc="3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DELETE THIS SLIDE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3375" y="1460085"/>
            <a:ext cx="16201250" cy="643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674" spc="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Presentation Instructions</a:t>
            </a:r>
          </a:p>
          <a:p>
            <a:pPr algn="l">
              <a:lnSpc>
                <a:spcPts val="3930"/>
              </a:lnSpc>
            </a:pP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 presenter </a:t>
            </a:r>
            <a:r>
              <a:rPr lang="en-US" b="true" sz="2674" spc="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must follow the allocated section</a:t>
            </a: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according to the presentation flow.</a:t>
            </a: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Presenters may modify the slide design, layout, colours, and visual style. However, the main presentation </a:t>
            </a:r>
            <a:r>
              <a:rPr lang="en-US" b="true" sz="2674" spc="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sections must remain unchanged</a:t>
            </a: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lang="en-US" b="true" sz="2674" spc="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follow the given order</a:t>
            </a: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presentation must be delivered professionally, clearly, and </a:t>
            </a:r>
            <a:r>
              <a:rPr lang="en-US" b="true" sz="2674" spc="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within the given time limit</a:t>
            </a: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 point should be explained briefly, focusing only on the key ideas, project progress, challenges, and current status.</a:t>
            </a: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Avoid reading directly from the slides. Use the slides as visual support for explanation.</a:t>
            </a: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Ensure smooth transition between presenters and sections.</a:t>
            </a:r>
          </a:p>
          <a:p>
            <a:pPr algn="l">
              <a:lnSpc>
                <a:spcPts val="3930"/>
              </a:lnSpc>
            </a:pP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Time limit:          </a:t>
            </a:r>
            <a:r>
              <a:rPr lang="en-US" b="true" sz="2674" spc="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minutes</a:t>
            </a:r>
          </a:p>
          <a:p>
            <a:pPr algn="l" marL="577324" indent="-288662" lvl="1">
              <a:lnSpc>
                <a:spcPts val="3930"/>
              </a:lnSpc>
              <a:buFont typeface="Arial"/>
              <a:buChar char="•"/>
            </a:pPr>
            <a:r>
              <a:rPr lang="en-US" sz="2674" spc="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Slide limit: </a:t>
            </a:r>
            <a:r>
              <a:rPr lang="en-US" b="true" sz="2674" spc="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Maximum 12 slides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14643" y="4881309"/>
            <a:ext cx="1045871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468810" y="3493400"/>
            <a:ext cx="13350380" cy="98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58"/>
              </a:lnSpc>
            </a:pPr>
            <a:r>
              <a:rPr lang="en-US" sz="6336" spc="6">
                <a:solidFill>
                  <a:srgbClr val="F0F4F1"/>
                </a:solidFill>
                <a:latin typeface="Pattanakarn"/>
                <a:ea typeface="Pattanakarn"/>
                <a:cs typeface="Pattanakarn"/>
                <a:sym typeface="Pattanakarn"/>
              </a:rPr>
              <a:t>PROJECT’S TITLE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97285" y="5161624"/>
            <a:ext cx="9093430" cy="52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7"/>
              </a:lnSpc>
            </a:pPr>
            <a:r>
              <a:rPr lang="en-US" sz="3357" spc="3">
                <a:solidFill>
                  <a:srgbClr val="F0F4F1"/>
                </a:solidFill>
                <a:latin typeface="Montserrat"/>
                <a:ea typeface="Montserrat"/>
                <a:cs typeface="Montserrat"/>
                <a:sym typeface="Montserrat"/>
              </a:rPr>
              <a:t>Subtitle / Subheading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74466" y="6383035"/>
            <a:ext cx="8339069" cy="381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7"/>
              </a:lnSpc>
            </a:pPr>
            <a:r>
              <a:rPr lang="en-US" sz="1200" spc="1">
                <a:solidFill>
                  <a:srgbClr val="F0F4F1"/>
                </a:solidFill>
                <a:latin typeface="Montserrat"/>
                <a:ea typeface="Montserrat"/>
                <a:cs typeface="Montserrat"/>
                <a:sym typeface="Montserrat"/>
              </a:rPr>
              <a:t>A comprehensive overview of our AI project initiative — covering scope, architecture, model development, and current status.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50261" y="587085"/>
            <a:ext cx="5187478" cy="1426182"/>
            <a:chOff x="0" y="0"/>
            <a:chExt cx="6916637" cy="19015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48806" y="0"/>
              <a:ext cx="1725780" cy="1316969"/>
            </a:xfrm>
            <a:custGeom>
              <a:avLst/>
              <a:gdLst/>
              <a:ahLst/>
              <a:cxnLst/>
              <a:rect r="r" b="b" t="t" l="l"/>
              <a:pathLst>
                <a:path h="1316969" w="1725780">
                  <a:moveTo>
                    <a:pt x="0" y="0"/>
                  </a:moveTo>
                  <a:lnTo>
                    <a:pt x="1725780" y="0"/>
                  </a:lnTo>
                  <a:lnTo>
                    <a:pt x="1725780" y="1316969"/>
                  </a:lnTo>
                  <a:lnTo>
                    <a:pt x="0" y="1316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487" t="-40826" r="-87734" b="-61155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802357" y="0"/>
              <a:ext cx="2805169" cy="1403112"/>
            </a:xfrm>
            <a:custGeom>
              <a:avLst/>
              <a:gdLst/>
              <a:ahLst/>
              <a:cxnLst/>
              <a:rect r="r" b="b" t="t" l="l"/>
              <a:pathLst>
                <a:path h="1403112" w="2805169">
                  <a:moveTo>
                    <a:pt x="0" y="0"/>
                  </a:moveTo>
                  <a:lnTo>
                    <a:pt x="2805169" y="0"/>
                  </a:lnTo>
                  <a:lnTo>
                    <a:pt x="2805169" y="1403112"/>
                  </a:lnTo>
                  <a:lnTo>
                    <a:pt x="0" y="140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4421" t="-38320" r="-34284" b="-5126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355487"/>
              <a:ext cx="3423392" cy="546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01"/>
                </a:lnSpc>
              </a:pPr>
              <a:r>
                <a:rPr lang="en-US" sz="1143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JABATAN PERDANA MENTERI</a:t>
              </a:r>
            </a:p>
            <a:p>
              <a:pPr algn="ctr">
                <a:lnSpc>
                  <a:spcPts val="1601"/>
                </a:lnSpc>
                <a:spcBef>
                  <a:spcPct val="0"/>
                </a:spcBef>
              </a:pPr>
              <a:r>
                <a:rPr lang="en-US" b="true" sz="1143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JABATAN PERKHIDMATAN AWAM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493245" y="1374858"/>
              <a:ext cx="3423392" cy="277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01"/>
                </a:lnSpc>
                <a:spcBef>
                  <a:spcPct val="0"/>
                </a:spcBef>
              </a:pPr>
              <a:r>
                <a:rPr lang="en-US" b="true" sz="1143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KEMENTERIAN PENDIDIKAN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21228" y="8802396"/>
            <a:ext cx="13445544" cy="911808"/>
            <a:chOff x="0" y="0"/>
            <a:chExt cx="17927392" cy="121574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927392" cy="1215744"/>
              <a:chOff x="0" y="0"/>
              <a:chExt cx="871667" cy="5911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1667" cy="59112"/>
              </a:xfrm>
              <a:custGeom>
                <a:avLst/>
                <a:gdLst/>
                <a:ahLst/>
                <a:cxnLst/>
                <a:rect r="r" b="b" t="t" l="l"/>
                <a:pathLst>
                  <a:path h="59112" w="871667">
                    <a:moveTo>
                      <a:pt x="29556" y="0"/>
                    </a:moveTo>
                    <a:lnTo>
                      <a:pt x="842111" y="0"/>
                    </a:lnTo>
                    <a:cubicBezTo>
                      <a:pt x="849950" y="0"/>
                      <a:pt x="857467" y="3114"/>
                      <a:pt x="863010" y="8657"/>
                    </a:cubicBezTo>
                    <a:cubicBezTo>
                      <a:pt x="868553" y="14200"/>
                      <a:pt x="871667" y="21717"/>
                      <a:pt x="871667" y="29556"/>
                    </a:cubicBezTo>
                    <a:lnTo>
                      <a:pt x="871667" y="29556"/>
                    </a:lnTo>
                    <a:cubicBezTo>
                      <a:pt x="871667" y="45879"/>
                      <a:pt x="858434" y="59112"/>
                      <a:pt x="842111" y="59112"/>
                    </a:cubicBezTo>
                    <a:lnTo>
                      <a:pt x="29556" y="59112"/>
                    </a:lnTo>
                    <a:cubicBezTo>
                      <a:pt x="21717" y="59112"/>
                      <a:pt x="14200" y="55998"/>
                      <a:pt x="8657" y="50455"/>
                    </a:cubicBezTo>
                    <a:cubicBezTo>
                      <a:pt x="3114" y="44912"/>
                      <a:pt x="0" y="37395"/>
                      <a:pt x="0" y="29556"/>
                    </a:cubicBezTo>
                    <a:lnTo>
                      <a:pt x="0" y="29556"/>
                    </a:lnTo>
                    <a:cubicBezTo>
                      <a:pt x="0" y="21717"/>
                      <a:pt x="3114" y="14200"/>
                      <a:pt x="8657" y="8657"/>
                    </a:cubicBezTo>
                    <a:cubicBezTo>
                      <a:pt x="14200" y="3114"/>
                      <a:pt x="21717" y="0"/>
                      <a:pt x="2955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76200"/>
                <a:ext cx="871667" cy="135312"/>
              </a:xfrm>
              <a:prstGeom prst="rect">
                <a:avLst/>
              </a:prstGeom>
            </p:spPr>
            <p:txBody>
              <a:bodyPr anchor="ctr" rtlCol="false" tIns="20487" lIns="20487" bIns="20487" rIns="20487"/>
              <a:lstStyle/>
              <a:p>
                <a:pPr algn="ctr">
                  <a:lnSpc>
                    <a:spcPts val="4282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740500" y="208147"/>
              <a:ext cx="2278999" cy="799450"/>
            </a:xfrm>
            <a:custGeom>
              <a:avLst/>
              <a:gdLst/>
              <a:ahLst/>
              <a:cxnLst/>
              <a:rect r="r" b="b" t="t" l="l"/>
              <a:pathLst>
                <a:path h="799450" w="2278999">
                  <a:moveTo>
                    <a:pt x="0" y="0"/>
                  </a:moveTo>
                  <a:lnTo>
                    <a:pt x="2278999" y="0"/>
                  </a:lnTo>
                  <a:lnTo>
                    <a:pt x="2278999" y="799450"/>
                  </a:lnTo>
                  <a:lnTo>
                    <a:pt x="0" y="799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5372" r="0" b="-89698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932103" y="208147"/>
              <a:ext cx="1585945" cy="799450"/>
            </a:xfrm>
            <a:custGeom>
              <a:avLst/>
              <a:gdLst/>
              <a:ahLst/>
              <a:cxnLst/>
              <a:rect r="r" b="b" t="t" l="l"/>
              <a:pathLst>
                <a:path h="799450" w="1585945">
                  <a:moveTo>
                    <a:pt x="0" y="0"/>
                  </a:moveTo>
                  <a:lnTo>
                    <a:pt x="1585945" y="0"/>
                  </a:lnTo>
                  <a:lnTo>
                    <a:pt x="1585945" y="799450"/>
                  </a:lnTo>
                  <a:lnTo>
                    <a:pt x="0" y="799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75" r="0" b="-18982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0643395" y="269531"/>
              <a:ext cx="2265064" cy="721303"/>
            </a:xfrm>
            <a:custGeom>
              <a:avLst/>
              <a:gdLst/>
              <a:ahLst/>
              <a:cxnLst/>
              <a:rect r="r" b="b" t="t" l="l"/>
              <a:pathLst>
                <a:path h="721303" w="2265064">
                  <a:moveTo>
                    <a:pt x="0" y="0"/>
                  </a:moveTo>
                  <a:lnTo>
                    <a:pt x="2265063" y="0"/>
                  </a:lnTo>
                  <a:lnTo>
                    <a:pt x="2265063" y="721303"/>
                  </a:lnTo>
                  <a:lnTo>
                    <a:pt x="0" y="721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097" t="-29582" r="-36294" b="-87903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821062" y="404484"/>
              <a:ext cx="3241214" cy="451398"/>
            </a:xfrm>
            <a:custGeom>
              <a:avLst/>
              <a:gdLst/>
              <a:ahLst/>
              <a:cxnLst/>
              <a:rect r="r" b="b" t="t" l="l"/>
              <a:pathLst>
                <a:path h="451398" w="3241214">
                  <a:moveTo>
                    <a:pt x="0" y="0"/>
                  </a:moveTo>
                  <a:lnTo>
                    <a:pt x="3241213" y="0"/>
                  </a:lnTo>
                  <a:lnTo>
                    <a:pt x="3241213" y="451398"/>
                  </a:lnTo>
                  <a:lnTo>
                    <a:pt x="0" y="451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506" t="-236860" r="-6291" b="-56346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430651" y="230458"/>
              <a:ext cx="817699" cy="777139"/>
            </a:xfrm>
            <a:custGeom>
              <a:avLst/>
              <a:gdLst/>
              <a:ahLst/>
              <a:cxnLst/>
              <a:rect r="r" b="b" t="t" l="l"/>
              <a:pathLst>
                <a:path h="777139" w="817699">
                  <a:moveTo>
                    <a:pt x="0" y="0"/>
                  </a:moveTo>
                  <a:lnTo>
                    <a:pt x="817699" y="0"/>
                  </a:lnTo>
                  <a:lnTo>
                    <a:pt x="817699" y="777139"/>
                  </a:lnTo>
                  <a:lnTo>
                    <a:pt x="0" y="777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004" r="0" b="-1214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259687" y="249238"/>
              <a:ext cx="2471105" cy="721303"/>
            </a:xfrm>
            <a:custGeom>
              <a:avLst/>
              <a:gdLst/>
              <a:ahLst/>
              <a:cxnLst/>
              <a:rect r="r" b="b" t="t" l="l"/>
              <a:pathLst>
                <a:path h="721303" w="2471105">
                  <a:moveTo>
                    <a:pt x="0" y="0"/>
                  </a:moveTo>
                  <a:lnTo>
                    <a:pt x="2471104" y="0"/>
                  </a:lnTo>
                  <a:lnTo>
                    <a:pt x="2471104" y="721302"/>
                  </a:lnTo>
                  <a:lnTo>
                    <a:pt x="0" y="721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91" t="-240835" r="-2270" b="-1635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5031" y="4262448"/>
            <a:ext cx="3880746" cy="4838396"/>
            <a:chOff x="0" y="0"/>
            <a:chExt cx="1022089" cy="1274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03627" y="4262448"/>
            <a:ext cx="3880746" cy="4838396"/>
            <a:chOff x="0" y="0"/>
            <a:chExt cx="1022089" cy="1274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2098" y="4262448"/>
            <a:ext cx="3880746" cy="4838396"/>
            <a:chOff x="0" y="0"/>
            <a:chExt cx="1022089" cy="1274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2714385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7442980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171451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2475031" y="2527660"/>
            <a:ext cx="134101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3754441" y="2734245"/>
            <a:ext cx="10851315" cy="26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5"/>
              </a:lnSpc>
            </a:pPr>
            <a:r>
              <a:rPr lang="en-US" sz="1400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Section 1 — Setting the stage for our AI project journey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1238" y="1452363"/>
            <a:ext cx="15745523" cy="8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8"/>
              </a:lnSpc>
            </a:pPr>
            <a:r>
              <a:rPr lang="en-US" b="true" sz="5223" spc="5">
                <a:solidFill>
                  <a:srgbClr val="F0F4F1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Introduction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2508" y="187206"/>
            <a:ext cx="378842" cy="84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  <a:spcBef>
                <a:spcPct val="0"/>
              </a:spcBef>
            </a:pPr>
            <a:r>
              <a:rPr lang="en-US" b="true" sz="4963" spc="4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5031" y="4262448"/>
            <a:ext cx="3880746" cy="4838396"/>
            <a:chOff x="0" y="0"/>
            <a:chExt cx="1022089" cy="1274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03627" y="4262448"/>
            <a:ext cx="3880746" cy="4838396"/>
            <a:chOff x="0" y="0"/>
            <a:chExt cx="1022089" cy="1274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2098" y="4262448"/>
            <a:ext cx="3880746" cy="4838396"/>
            <a:chOff x="0" y="0"/>
            <a:chExt cx="1022089" cy="1274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2714385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7442980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171451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923238" y="6435995"/>
            <a:ext cx="2984332" cy="175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4"/>
              </a:lnSpc>
            </a:pPr>
            <a:r>
              <a:rPr lang="en-US" sz="1815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Define high-level objectives, business value, and success criteria for each AI-driven capability.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51834" y="6435995"/>
            <a:ext cx="2984332" cy="175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4"/>
              </a:lnSpc>
            </a:pPr>
            <a:r>
              <a:rPr lang="en-US" sz="1815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Break down each EPIC into actionable user stories with clear acceptance criteria and sprint assignments.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0305" y="6435995"/>
            <a:ext cx="2984332" cy="175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4"/>
              </a:lnSpc>
            </a:pPr>
            <a:r>
              <a:rPr lang="en-US" sz="1815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Outline key project outputs including trained models, APIs, dashboards, and integration milestones.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70141" y="4937179"/>
            <a:ext cx="2890526" cy="37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</a:pPr>
            <a:r>
              <a:rPr lang="en-US" b="true" sz="2230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EPIC Goals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00614" y="4937179"/>
            <a:ext cx="2686771" cy="37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</a:pPr>
            <a:r>
              <a:rPr lang="en-US" b="true" sz="2230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29085" y="4937179"/>
            <a:ext cx="2686771" cy="37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</a:pPr>
            <a:r>
              <a:rPr lang="en-US" b="true" sz="2230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Deliverables</a:t>
            </a:r>
          </a:p>
        </p:txBody>
      </p:sp>
      <p:sp>
        <p:nvSpPr>
          <p:cNvPr name="AutoShape 24" id="24"/>
          <p:cNvSpPr/>
          <p:nvPr/>
        </p:nvSpPr>
        <p:spPr>
          <a:xfrm>
            <a:off x="2475031" y="2527660"/>
            <a:ext cx="134101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3754441" y="2734245"/>
            <a:ext cx="1085131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3"/>
              </a:lnSpc>
            </a:pPr>
            <a:r>
              <a:rPr lang="en-US" sz="1399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full scope of the AI project through structured EPIC stories and defined deliverables.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1238" y="1452363"/>
            <a:ext cx="15745523" cy="8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8"/>
              </a:lnSpc>
            </a:pPr>
            <a:r>
              <a:rPr lang="en-US" b="true" sz="5223" spc="5">
                <a:solidFill>
                  <a:srgbClr val="F0F4F1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Project Scope (EPIC Story)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2508" y="187206"/>
            <a:ext cx="378842" cy="84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  <a:spcBef>
                <a:spcPct val="0"/>
              </a:spcBef>
            </a:pPr>
            <a:r>
              <a:rPr lang="en-US" b="true" sz="4963" spc="4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5031" y="4262448"/>
            <a:ext cx="3880746" cy="4838396"/>
            <a:chOff x="0" y="0"/>
            <a:chExt cx="1022089" cy="1274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03627" y="4262448"/>
            <a:ext cx="3880746" cy="4838396"/>
            <a:chOff x="0" y="0"/>
            <a:chExt cx="1022089" cy="1274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2098" y="4262448"/>
            <a:ext cx="3880746" cy="4838396"/>
            <a:chOff x="0" y="0"/>
            <a:chExt cx="1022089" cy="1274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2714385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7442980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171451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923238" y="6435995"/>
            <a:ext cx="2984332" cy="176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3"/>
              </a:lnSpc>
            </a:pPr>
            <a:r>
              <a:rPr lang="en-US" sz="1777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Centralized data ingestion, storage, and preprocessing pipelines ensuring clean, structured input for all AI models.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51834" y="6435995"/>
            <a:ext cx="2984332" cy="211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3"/>
              </a:lnSpc>
            </a:pPr>
            <a:r>
              <a:rPr lang="en-US" sz="1777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Core model training, evaluation, and inference infrastructure built for performance, scalability, and continuous improvement.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0305" y="6435995"/>
            <a:ext cx="2984332" cy="176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3"/>
              </a:lnSpc>
            </a:pPr>
            <a:r>
              <a:rPr lang="en-US" sz="1777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Secure RESTful APIs and microservices connecting AI outputs to downstream systems, dashboards, and external platforms.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70141" y="4937179"/>
            <a:ext cx="2890526" cy="37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Layer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00614" y="4937179"/>
            <a:ext cx="2686771" cy="37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/ ML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29085" y="4937179"/>
            <a:ext cx="2686771" cy="75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 &amp; APIs</a:t>
            </a:r>
          </a:p>
        </p:txBody>
      </p:sp>
      <p:sp>
        <p:nvSpPr>
          <p:cNvPr name="AutoShape 24" id="24"/>
          <p:cNvSpPr/>
          <p:nvPr/>
        </p:nvSpPr>
        <p:spPr>
          <a:xfrm>
            <a:off x="2475031" y="2527660"/>
            <a:ext cx="134101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3754441" y="2734245"/>
            <a:ext cx="10851315" cy="26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6"/>
              </a:lnSpc>
            </a:pPr>
            <a:r>
              <a:rPr lang="en-US" sz="1369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Designing a robust, scalable, and intelligent infrastructure to power AI-driven capabilities across the full project lifecycle.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1238" y="1452363"/>
            <a:ext cx="15745523" cy="8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8"/>
              </a:lnSpc>
            </a:pPr>
            <a:r>
              <a:rPr lang="en-US" b="true" sz="5223" spc="5">
                <a:solidFill>
                  <a:srgbClr val="F0F4F1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System and Technical Architecture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2508" y="187206"/>
            <a:ext cx="378842" cy="84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  <a:spcBef>
                <a:spcPct val="0"/>
              </a:spcBef>
            </a:pPr>
            <a:r>
              <a:rPr lang="en-US" b="true" sz="4963" spc="4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5031" y="4262448"/>
            <a:ext cx="3880746" cy="4838396"/>
            <a:chOff x="0" y="0"/>
            <a:chExt cx="1022089" cy="1274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03627" y="4262448"/>
            <a:ext cx="3880746" cy="4838396"/>
            <a:chOff x="0" y="0"/>
            <a:chExt cx="1022089" cy="1274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2098" y="4262448"/>
            <a:ext cx="3880746" cy="4838396"/>
            <a:chOff x="0" y="0"/>
            <a:chExt cx="1022089" cy="1274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2714385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7442980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171451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651834" y="6435995"/>
            <a:ext cx="2984332" cy="33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6"/>
              </a:lnSpc>
            </a:pPr>
            <a:r>
              <a:rPr lang="en-US" sz="1816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AutoShape 19" id="19"/>
          <p:cNvSpPr/>
          <p:nvPr/>
        </p:nvSpPr>
        <p:spPr>
          <a:xfrm>
            <a:off x="2475031" y="2527660"/>
            <a:ext cx="134101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754441" y="2734245"/>
            <a:ext cx="10851315" cy="26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5"/>
              </a:lnSpc>
            </a:pPr>
            <a:r>
              <a:rPr lang="en-US" sz="1400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Project SPRINT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1238" y="1452363"/>
            <a:ext cx="15745523" cy="8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8"/>
              </a:lnSpc>
            </a:pPr>
            <a:r>
              <a:rPr lang="en-US" b="true" sz="5223" spc="5">
                <a:solidFill>
                  <a:srgbClr val="F0F4F1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Model Development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2508" y="187206"/>
            <a:ext cx="378842" cy="84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  <a:spcBef>
                <a:spcPct val="0"/>
              </a:spcBef>
            </a:pPr>
            <a:r>
              <a:rPr lang="en-US" b="true" sz="4963" spc="4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  <a:r>
                <a:rPr lang="en-US" b="true" sz="1761" spc="1">
                  <a:solidFill>
                    <a:srgbClr val="FFFFFF">
                      <a:alpha val="22745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5031" y="4262448"/>
            <a:ext cx="3880746" cy="4838396"/>
            <a:chOff x="0" y="0"/>
            <a:chExt cx="1022089" cy="1274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03627" y="4262448"/>
            <a:ext cx="3880746" cy="4838396"/>
            <a:chOff x="0" y="0"/>
            <a:chExt cx="1022089" cy="1274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2098" y="4262448"/>
            <a:ext cx="3880746" cy="4838396"/>
            <a:chOff x="0" y="0"/>
            <a:chExt cx="1022089" cy="1274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089" cy="1274310"/>
            </a:xfrm>
            <a:custGeom>
              <a:avLst/>
              <a:gdLst/>
              <a:ahLst/>
              <a:cxnLst/>
              <a:rect r="r" b="b" t="t" l="l"/>
              <a:pathLst>
                <a:path h="1274310" w="1022089">
                  <a:moveTo>
                    <a:pt x="27929" y="0"/>
                  </a:moveTo>
                  <a:lnTo>
                    <a:pt x="994160" y="0"/>
                  </a:lnTo>
                  <a:cubicBezTo>
                    <a:pt x="1001567" y="0"/>
                    <a:pt x="1008671" y="2943"/>
                    <a:pt x="1013909" y="8180"/>
                  </a:cubicBezTo>
                  <a:cubicBezTo>
                    <a:pt x="1019147" y="13418"/>
                    <a:pt x="1022089" y="20522"/>
                    <a:pt x="1022089" y="27929"/>
                  </a:cubicBezTo>
                  <a:lnTo>
                    <a:pt x="1022089" y="1246381"/>
                  </a:lnTo>
                  <a:cubicBezTo>
                    <a:pt x="1022089" y="1253788"/>
                    <a:pt x="1019147" y="1260892"/>
                    <a:pt x="1013909" y="1266130"/>
                  </a:cubicBezTo>
                  <a:cubicBezTo>
                    <a:pt x="1008671" y="1271368"/>
                    <a:pt x="1001567" y="1274310"/>
                    <a:pt x="994160" y="1274310"/>
                  </a:cubicBezTo>
                  <a:lnTo>
                    <a:pt x="27929" y="1274310"/>
                  </a:lnTo>
                  <a:cubicBezTo>
                    <a:pt x="12504" y="1274310"/>
                    <a:pt x="0" y="1261806"/>
                    <a:pt x="0" y="1246381"/>
                  </a:cubicBezTo>
                  <a:lnTo>
                    <a:pt x="0" y="27929"/>
                  </a:lnTo>
                  <a:cubicBezTo>
                    <a:pt x="0" y="20522"/>
                    <a:pt x="2943" y="13418"/>
                    <a:pt x="8180" y="8180"/>
                  </a:cubicBezTo>
                  <a:cubicBezTo>
                    <a:pt x="13418" y="2943"/>
                    <a:pt x="20522" y="0"/>
                    <a:pt x="27929" y="0"/>
                  </a:cubicBezTo>
                  <a:close/>
                </a:path>
              </a:pathLst>
            </a:custGeom>
            <a:ln w="19050" cap="sq">
              <a:solidFill>
                <a:srgbClr val="F7F3F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2089" cy="132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2714385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7442980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171451" y="6041768"/>
            <a:ext cx="34020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923238" y="6445520"/>
            <a:ext cx="2984332" cy="161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7"/>
              </a:lnSpc>
            </a:pPr>
            <a:r>
              <a:rPr lang="en-US" sz="1672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Model accuracy, data quality issues, and integration complexity addressed through iterative testing and validation.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51834" y="6445520"/>
            <a:ext cx="2984332" cy="129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7"/>
              </a:lnSpc>
            </a:pPr>
            <a:r>
              <a:rPr lang="en-US" sz="1672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Proactive risk identification with contingency plans, stakeholder alignment, and sprint-based checkpoints.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0305" y="6445520"/>
            <a:ext cx="2984332" cy="161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7"/>
              </a:lnSpc>
            </a:pPr>
            <a:r>
              <a:rPr lang="en-US" sz="1672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Agile methodology and continuous feedback loops to adapt to evolving requirements and constraints.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70141" y="4937179"/>
            <a:ext cx="2890526" cy="75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</a:t>
            </a:r>
          </a:p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00614" y="4937179"/>
            <a:ext cx="2686771" cy="75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</a:t>
            </a:r>
          </a:p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Mitigation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29085" y="4937179"/>
            <a:ext cx="2686771" cy="75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Adaptive</a:t>
            </a:r>
          </a:p>
          <a:p>
            <a:pPr algn="ctr" marL="0" indent="0" lvl="0">
              <a:lnSpc>
                <a:spcPts val="3120"/>
              </a:lnSpc>
            </a:pPr>
            <a:r>
              <a:rPr lang="en-US" b="true" sz="2228" spc="2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Strategies</a:t>
            </a:r>
          </a:p>
        </p:txBody>
      </p:sp>
      <p:sp>
        <p:nvSpPr>
          <p:cNvPr name="AutoShape 24" id="24"/>
          <p:cNvSpPr/>
          <p:nvPr/>
        </p:nvSpPr>
        <p:spPr>
          <a:xfrm>
            <a:off x="2475031" y="2527660"/>
            <a:ext cx="134101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3754441" y="2743770"/>
            <a:ext cx="10851315" cy="23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6"/>
              </a:lnSpc>
            </a:pPr>
            <a:r>
              <a:rPr lang="en-US" sz="1289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Identifying key obstacles and strategic responses to ensure project success.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1238" y="1452363"/>
            <a:ext cx="15745523" cy="80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8"/>
              </a:lnSpc>
            </a:pPr>
            <a:r>
              <a:rPr lang="en-US" b="true" sz="5223" spc="5">
                <a:solidFill>
                  <a:srgbClr val="F0F4F1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Challenges and Mitigation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2508" y="187206"/>
            <a:ext cx="378842" cy="84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  <a:spcBef>
                <a:spcPct val="0"/>
              </a:spcBef>
            </a:pPr>
            <a:r>
              <a:rPr lang="en-US" b="true" sz="4963" spc="4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5">
                <a:alpha val="2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3562587" y="5387208"/>
            <a:ext cx="383175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935284" y="5412121"/>
            <a:ext cx="383175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438933" y="2802727"/>
            <a:ext cx="134101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520958" y="7482899"/>
            <a:ext cx="383175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935284" y="7507812"/>
            <a:ext cx="383175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705600" y="4967022"/>
            <a:ext cx="1102769" cy="110276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8191" y="4991935"/>
            <a:ext cx="1102769" cy="110276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63971" y="7062713"/>
            <a:ext cx="1102769" cy="110276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18191" y="7087626"/>
            <a:ext cx="1102769" cy="110276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9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718343" y="3009312"/>
            <a:ext cx="10851315" cy="52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3"/>
              </a:lnSpc>
            </a:pPr>
            <a:r>
              <a:rPr lang="en-US" sz="1330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A comprehensive overview of the current AI project status, highlighting key achievements, ongoing sprint activities, risk posture, and planned next steps toward delivery.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09592" y="899302"/>
            <a:ext cx="12668817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2"/>
              </a:lnSpc>
            </a:pPr>
            <a:r>
              <a:rPr lang="en-US" b="true" sz="5227" spc="5">
                <a:solidFill>
                  <a:srgbClr val="F0F4F1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Project Status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62587" y="5541808"/>
            <a:ext cx="3831758" cy="95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06"/>
              </a:lnSpc>
            </a:pPr>
            <a:r>
              <a:rPr lang="en-US" sz="1200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Core model architecture finalized, data pipeline established, initial training runs completed, and stakeholder sign-off on EPIC scope achieved on schedule.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35284" y="5566721"/>
            <a:ext cx="3831758" cy="94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6"/>
              </a:lnSpc>
            </a:pPr>
            <a:r>
              <a:rPr lang="en-US" sz="1200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Current sprint is 75% complete. Feature engineering and model validation tasks are in progress, with deployment prep beginning next cycle.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88975" y="7637498"/>
            <a:ext cx="4363741" cy="70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06"/>
              </a:lnSpc>
            </a:pPr>
            <a:r>
              <a:rPr lang="en-US" sz="1200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Overall risk status is LOW. Key risks around data quality have been mitigated. One open risk on integration timeline is being actively monitored.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35284" y="7662411"/>
            <a:ext cx="4363741" cy="70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6"/>
              </a:lnSpc>
            </a:pPr>
            <a:r>
              <a:rPr lang="en-US" sz="1200" spc="1">
                <a:solidFill>
                  <a:srgbClr val="D7E5D8"/>
                </a:solidFill>
                <a:latin typeface="Montserrat"/>
                <a:ea typeface="Montserrat"/>
                <a:cs typeface="Montserrat"/>
                <a:sym typeface="Montserrat"/>
              </a:rPr>
              <a:t>Finalize model evaluation, complete UAT with stakeholders, prepare deployment infrastructure, and schedule final project review.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02515" y="4717411"/>
            <a:ext cx="1791831" cy="50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62"/>
              </a:lnSpc>
            </a:pPr>
            <a:r>
              <a:rPr lang="en-US" b="true" sz="1473" spc="1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Milestones Achieved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35284" y="4742324"/>
            <a:ext cx="1506573" cy="50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2"/>
              </a:lnSpc>
            </a:pPr>
            <a:r>
              <a:rPr lang="en-US" b="true" sz="1473" spc="1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Progress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60885" y="6813101"/>
            <a:ext cx="1791831" cy="24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62"/>
              </a:lnSpc>
            </a:pPr>
            <a:r>
              <a:rPr lang="en-US" b="true" sz="1473" spc="1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Status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35284" y="6838014"/>
            <a:ext cx="1762474" cy="24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2"/>
              </a:lnSpc>
            </a:pPr>
            <a:r>
              <a:rPr lang="en-US" b="true" sz="1473" spc="1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Steps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47230" y="5182047"/>
            <a:ext cx="1019510" cy="59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60"/>
              </a:lnSpc>
            </a:pPr>
            <a:r>
              <a:rPr lang="en-US" b="true" sz="3543" spc="3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59820" y="5206960"/>
            <a:ext cx="1019510" cy="59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60"/>
              </a:lnSpc>
            </a:pPr>
            <a:r>
              <a:rPr lang="en-US" b="true" sz="3543" spc="3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05600" y="7277738"/>
            <a:ext cx="1019510" cy="59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60"/>
              </a:lnSpc>
            </a:pPr>
            <a:r>
              <a:rPr lang="en-US" b="true" sz="3543" spc="3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59820" y="7302651"/>
            <a:ext cx="1019510" cy="59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60"/>
              </a:lnSpc>
            </a:pPr>
            <a:r>
              <a:rPr lang="en-US" b="true" sz="3543" spc="3">
                <a:solidFill>
                  <a:srgbClr val="D7E5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2508" y="187206"/>
            <a:ext cx="378842" cy="84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  <a:spcBef>
                <a:spcPct val="0"/>
              </a:spcBef>
            </a:pPr>
            <a:r>
              <a:rPr lang="en-US" b="true" sz="4963" spc="4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14643" y="4881309"/>
            <a:ext cx="1045871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468810" y="3483875"/>
            <a:ext cx="13350380" cy="110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4"/>
              </a:lnSpc>
            </a:pPr>
            <a:r>
              <a:rPr lang="en-US" sz="7041" spc="7">
                <a:solidFill>
                  <a:srgbClr val="F0F4F1"/>
                </a:solidFill>
                <a:latin typeface="Pattanakarn"/>
                <a:ea typeface="Pattanakarn"/>
                <a:cs typeface="Pattanakarn"/>
                <a:sym typeface="Pattanakarn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97285" y="5148009"/>
            <a:ext cx="9093430" cy="62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5"/>
              </a:lnSpc>
            </a:pPr>
            <a:r>
              <a:rPr lang="en-US" sz="3913" spc="3">
                <a:solidFill>
                  <a:srgbClr val="F0F4F1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DAHOy0hMLFM</dc:identifier>
  <dcterms:modified xsi:type="dcterms:W3CDTF">2011-08-01T06:04:30Z</dcterms:modified>
  <cp:revision>1</cp:revision>
  <dc:title>Copy of Professional AI Project Overview</dc:title>
</cp:coreProperties>
</file>