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Weighting</c:v>
                </c:pt>
              </c:strCache>
            </c:strRef>
          </c:tx>
          <c:spPr>
            <a:solidFill>
              <a:schemeClr val="accent1"/>
            </a:solidFill>
            <a:ln w="9525" cap="flat">
              <a:solidFill>
                <a:srgbClr val="F9F9F9"/>
              </a:solidFill>
              <a:prstDash val="solid"/>
              <a:round/>
            </a:ln>
            <a:effectLst/>
          </c:spPr>
          <c:dPt>
            <c:idx val="0"/>
            <c:bubble3D val="0"/>
            <c:spPr>
              <a:solidFill>
                <a:srgbClr val="388E3C"/>
              </a:solidFill>
              <a:effectLst/>
            </c:spPr>
            <c:extLst>
              <c:ext xmlns:c16="http://schemas.microsoft.com/office/drawing/2014/chart" uri="{C3380CC4-5D6E-409C-BE32-E72D297353CC}">
                <c16:uniqueId val="{00000001-0E5A-4CB1-A65E-07BC822861E0}"/>
              </c:ext>
            </c:extLst>
          </c:dPt>
          <c:dPt>
            <c:idx val="1"/>
            <c:bubble3D val="0"/>
            <c:spPr>
              <a:solidFill>
                <a:srgbClr val="7B1FA2"/>
              </a:solidFill>
              <a:effectLst/>
            </c:spPr>
            <c:extLst>
              <c:ext xmlns:c16="http://schemas.microsoft.com/office/drawing/2014/chart" uri="{C3380CC4-5D6E-409C-BE32-E72D297353CC}">
                <c16:uniqueId val="{00000003-0E5A-4CB1-A65E-07BC822861E0}"/>
              </c:ext>
            </c:extLst>
          </c:dPt>
          <c:cat>
            <c:strRef>
              <c:f>Sheet1!$A$2:$A$3</c:f>
              <c:strCache>
                <c:ptCount val="2"/>
                <c:pt idx="0">
                  <c:v>Academic SPM</c:v>
                </c:pt>
                <c:pt idx="1">
                  <c:v>Co-Curricular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0E5A-4CB1-A65E-07BC822861E0}"/>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7B1FA2"/>
              </a:solidFill>
              <a:effectLst/>
            </c:spPr>
            <c:extLst>
              <c:ext xmlns:c16="http://schemas.microsoft.com/office/drawing/2014/chart" uri="{C3380CC4-5D6E-409C-BE32-E72D297353CC}">
                <c16:uniqueId val="{00000001-9138-4120-9959-6045215BD09D}"/>
              </c:ext>
            </c:extLst>
          </c:dPt>
          <c:dPt>
            <c:idx val="1"/>
            <c:bubble3D val="0"/>
            <c:spPr>
              <a:solidFill>
                <a:srgbClr val="EEEEEE"/>
              </a:solidFill>
              <a:effectLst/>
            </c:spPr>
            <c:extLst>
              <c:ext xmlns:c16="http://schemas.microsoft.com/office/drawing/2014/chart" uri="{C3380CC4-5D6E-409C-BE32-E72D297353CC}">
                <c16:uniqueId val="{00000003-9138-4120-9959-6045215BD09D}"/>
              </c:ext>
            </c:extLst>
          </c:dPt>
          <c:cat>
            <c:strRef>
              <c:f>Sheet1!$A$2:$A$3</c:f>
              <c:strCache>
                <c:ptCount val="2"/>
                <c:pt idx="0">
                  <c:v>Complete</c:v>
                </c:pt>
                <c:pt idx="1">
                  <c:v>In Progress</c:v>
                </c:pt>
              </c:strCache>
            </c:strRef>
          </c:cat>
          <c:val>
            <c:numRef>
              <c:f>Sheet1!$B$2:$B$3</c:f>
              <c:numCache>
                <c:formatCode>General</c:formatCode>
                <c:ptCount val="2"/>
                <c:pt idx="0">
                  <c:v>40</c:v>
                </c:pt>
                <c:pt idx="1">
                  <c:v>60</c:v>
                </c:pt>
              </c:numCache>
            </c:numRef>
          </c:val>
          <c:extLst>
            <c:ext xmlns:c16="http://schemas.microsoft.com/office/drawing/2014/chart" uri="{C3380CC4-5D6E-409C-BE32-E72D297353CC}">
              <c16:uniqueId val="{00000004-9138-4120-9959-6045215BD09D}"/>
            </c:ext>
          </c:extLst>
        </c:ser>
        <c:dLbls>
          <c:showLegendKey val="0"/>
          <c:showVal val="0"/>
          <c:showCatName val="0"/>
          <c:showSerName val="0"/>
          <c:showPercent val="0"/>
          <c:showBubbleSize val="0"/>
          <c:showLeaderLines val="0"/>
        </c:dLbls>
        <c:firstSliceAng val="0"/>
        <c:holeSize val="60"/>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6321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88E3C"/>
        </a:solidFill>
        <a:effectLst/>
      </p:bgPr>
    </p:bg>
    <p:spTree>
      <p:nvGrpSpPr>
        <p:cNvPr id="1" name=""/>
        <p:cNvGrpSpPr/>
        <p:nvPr/>
      </p:nvGrpSpPr>
      <p:grpSpPr>
        <a:xfrm>
          <a:off x="0" y="0"/>
          <a:ext cx="0" cy="0"/>
          <a:chOff x="0" y="0"/>
          <a:chExt cx="0" cy="0"/>
        </a:xfrm>
      </p:grpSpPr>
      <p:sp>
        <p:nvSpPr>
          <p:cNvPr id="2" name="Shape 0"/>
          <p:cNvSpPr/>
          <p:nvPr/>
        </p:nvSpPr>
        <p:spPr>
          <a:xfrm>
            <a:off x="3200400" y="0"/>
            <a:ext cx="5943600" cy="5143500"/>
          </a:xfrm>
          <a:prstGeom prst="rect">
            <a:avLst/>
          </a:prstGeom>
          <a:solidFill>
            <a:srgbClr val="1976D2">
              <a:alpha val="48000"/>
            </a:srgbClr>
          </a:solidFill>
          <a:ln/>
        </p:spPr>
        <p:txBody>
          <a:bodyPr/>
          <a:lstStyle/>
          <a:p>
            <a:endParaRPr lang="en-MY"/>
          </a:p>
        </p:txBody>
      </p:sp>
      <p:sp>
        <p:nvSpPr>
          <p:cNvPr id="3" name="Shape 1"/>
          <p:cNvSpPr/>
          <p:nvPr/>
        </p:nvSpPr>
        <p:spPr>
          <a:xfrm>
            <a:off x="-1828800" y="-1828800"/>
            <a:ext cx="5029200" cy="5029200"/>
          </a:xfrm>
          <a:prstGeom prst="ellipse">
            <a:avLst/>
          </a:prstGeom>
          <a:solidFill>
            <a:srgbClr val="FFFFFF">
              <a:alpha val="7000"/>
            </a:srgbClr>
          </a:solidFill>
          <a:ln/>
        </p:spPr>
        <p:txBody>
          <a:bodyPr/>
          <a:lstStyle/>
          <a:p>
            <a:endParaRPr lang="en-MY"/>
          </a:p>
        </p:txBody>
      </p:sp>
      <p:sp>
        <p:nvSpPr>
          <p:cNvPr id="4" name="Shape 2"/>
          <p:cNvSpPr/>
          <p:nvPr/>
        </p:nvSpPr>
        <p:spPr>
          <a:xfrm>
            <a:off x="6400800" y="2743200"/>
            <a:ext cx="3840480" cy="3840480"/>
          </a:xfrm>
          <a:prstGeom prst="ellipse">
            <a:avLst/>
          </a:prstGeom>
          <a:solidFill>
            <a:srgbClr val="FFFFFF">
              <a:alpha val="7000"/>
            </a:srgbClr>
          </a:solidFill>
          <a:ln/>
        </p:spPr>
        <p:txBody>
          <a:bodyPr/>
          <a:lstStyle/>
          <a:p>
            <a:endParaRPr lang="en-MY"/>
          </a:p>
        </p:txBody>
      </p:sp>
      <p:sp>
        <p:nvSpPr>
          <p:cNvPr id="5" name="Text 3"/>
          <p:cNvSpPr/>
          <p:nvPr/>
        </p:nvSpPr>
        <p:spPr>
          <a:xfrm>
            <a:off x="914400" y="1008888"/>
            <a:ext cx="7315200" cy="256032"/>
          </a:xfrm>
          <a:prstGeom prst="rect">
            <a:avLst/>
          </a:prstGeom>
          <a:noFill/>
          <a:ln/>
        </p:spPr>
        <p:txBody>
          <a:bodyPr wrap="square" lIns="0" tIns="0" rIns="0" bIns="0" rtlCol="0" anchor="ctr"/>
          <a:lstStyle/>
          <a:p>
            <a:pPr marL="0" indent="0" algn="ctr">
              <a:buNone/>
            </a:pPr>
            <a:r>
              <a:rPr lang="en-US" sz="900" kern="0" spc="300" dirty="0">
                <a:solidFill>
                  <a:srgbClr val="FFFFFF">
                    <a:alpha val="64000"/>
                  </a:srgbClr>
                </a:solidFill>
                <a:latin typeface="Arial" pitchFamily="34" charset="0"/>
                <a:ea typeface="Arial" pitchFamily="34" charset="-122"/>
                <a:cs typeface="Arial" pitchFamily="34" charset="-120"/>
              </a:rPr>
              <a:t>INDIVIDUAL PROJECT  ·  INFORMATION SYSTEMS</a:t>
            </a:r>
            <a:endParaRPr lang="en-US" sz="900" dirty="0"/>
          </a:p>
        </p:txBody>
      </p:sp>
      <p:sp>
        <p:nvSpPr>
          <p:cNvPr id="6" name="Text 4"/>
          <p:cNvSpPr/>
          <p:nvPr/>
        </p:nvSpPr>
        <p:spPr>
          <a:xfrm>
            <a:off x="457200" y="1319784"/>
            <a:ext cx="8229600" cy="658368"/>
          </a:xfrm>
          <a:prstGeom prst="rect">
            <a:avLst/>
          </a:prstGeom>
          <a:noFill/>
          <a:ln/>
        </p:spPr>
        <p:txBody>
          <a:bodyPr wrap="square" lIns="0" tIns="0" rIns="0" bIns="0" rtlCol="0" anchor="ctr"/>
          <a:lstStyle/>
          <a:p>
            <a:pPr marL="0" indent="0" algn="ctr">
              <a:buNone/>
            </a:pPr>
            <a:r>
              <a:rPr lang="en-US" sz="4400" b="1" kern="0" spc="-100" dirty="0">
                <a:solidFill>
                  <a:srgbClr val="F7C948"/>
                </a:solidFill>
                <a:latin typeface="Arial" pitchFamily="34" charset="0"/>
                <a:ea typeface="Arial" pitchFamily="34" charset="-122"/>
                <a:cs typeface="Arial" pitchFamily="34" charset="-120"/>
              </a:rPr>
              <a:t>AI-Powered</a:t>
            </a:r>
            <a:endParaRPr lang="en-US" sz="4400" dirty="0"/>
          </a:p>
        </p:txBody>
      </p:sp>
      <p:sp>
        <p:nvSpPr>
          <p:cNvPr id="7" name="Text 5"/>
          <p:cNvSpPr/>
          <p:nvPr/>
        </p:nvSpPr>
        <p:spPr>
          <a:xfrm>
            <a:off x="457200" y="1959864"/>
            <a:ext cx="8229600" cy="658368"/>
          </a:xfrm>
          <a:prstGeom prst="rect">
            <a:avLst/>
          </a:prstGeom>
          <a:noFill/>
          <a:ln/>
        </p:spPr>
        <p:txBody>
          <a:bodyPr wrap="square" lIns="0" tIns="0" rIns="0" bIns="0" rtlCol="0" anchor="ctr"/>
          <a:lstStyle/>
          <a:p>
            <a:pPr marL="0" indent="0" algn="ctr">
              <a:buNone/>
            </a:pPr>
            <a:r>
              <a:rPr lang="en-US" sz="3600" b="1" kern="0" spc="-100" dirty="0">
                <a:solidFill>
                  <a:srgbClr val="FFFFFF"/>
                </a:solidFill>
                <a:latin typeface="Arial" pitchFamily="34" charset="0"/>
                <a:ea typeface="Arial" pitchFamily="34" charset="-122"/>
                <a:cs typeface="Arial" pitchFamily="34" charset="-120"/>
              </a:rPr>
              <a:t>Scholarship Matching System</a:t>
            </a:r>
            <a:endParaRPr lang="en-US" sz="3600" dirty="0"/>
          </a:p>
        </p:txBody>
      </p:sp>
      <p:sp>
        <p:nvSpPr>
          <p:cNvPr id="8" name="Text 6"/>
          <p:cNvSpPr/>
          <p:nvPr/>
        </p:nvSpPr>
        <p:spPr>
          <a:xfrm>
            <a:off x="914400" y="2691384"/>
            <a:ext cx="7315200" cy="329184"/>
          </a:xfrm>
          <a:prstGeom prst="rect">
            <a:avLst/>
          </a:prstGeom>
          <a:noFill/>
          <a:ln/>
        </p:spPr>
        <p:txBody>
          <a:bodyPr wrap="square" lIns="0" tIns="0" rIns="0" bIns="0" rtlCol="0" anchor="ctr"/>
          <a:lstStyle/>
          <a:p>
            <a:pPr marL="0" indent="0" algn="ctr">
              <a:buNone/>
            </a:pPr>
            <a:r>
              <a:rPr lang="en-US" sz="1200" dirty="0">
                <a:solidFill>
                  <a:srgbClr val="FFFFFF">
                    <a:alpha val="78000"/>
                  </a:srgbClr>
                </a:solidFill>
                <a:latin typeface="Arial" pitchFamily="34" charset="0"/>
                <a:ea typeface="Arial" pitchFamily="34" charset="-122"/>
                <a:cs typeface="Arial" pitchFamily="34" charset="-120"/>
              </a:rPr>
              <a:t>Helping post-SPM students find the right scholarship, course &amp; higher institution (IPT)</a:t>
            </a:r>
            <a:endParaRPr lang="en-US" sz="1200" dirty="0"/>
          </a:p>
        </p:txBody>
      </p:sp>
      <p:sp>
        <p:nvSpPr>
          <p:cNvPr id="9" name="Shape 7"/>
          <p:cNvSpPr/>
          <p:nvPr/>
        </p:nvSpPr>
        <p:spPr>
          <a:xfrm>
            <a:off x="1143000" y="3148584"/>
            <a:ext cx="6858000" cy="1115568"/>
          </a:xfrm>
          <a:prstGeom prst="roundRect">
            <a:avLst>
              <a:gd name="adj" fmla="val 8197"/>
            </a:avLst>
          </a:prstGeom>
          <a:solidFill>
            <a:srgbClr val="FFFFFF">
              <a:alpha val="14000"/>
            </a:srgbClr>
          </a:solidFill>
          <a:ln w="12700">
            <a:solidFill>
              <a:srgbClr val="FFFFFF">
                <a:alpha val="30000"/>
              </a:srgbClr>
            </a:solidFill>
            <a:prstDash val="solid"/>
          </a:ln>
        </p:spPr>
        <p:txBody>
          <a:bodyPr/>
          <a:lstStyle/>
          <a:p>
            <a:endParaRPr lang="en-MY"/>
          </a:p>
        </p:txBody>
      </p:sp>
      <p:sp>
        <p:nvSpPr>
          <p:cNvPr id="10" name="Shape 8"/>
          <p:cNvSpPr/>
          <p:nvPr/>
        </p:nvSpPr>
        <p:spPr>
          <a:xfrm>
            <a:off x="2857500" y="3212592"/>
            <a:ext cx="10973" cy="987552"/>
          </a:xfrm>
          <a:prstGeom prst="rect">
            <a:avLst/>
          </a:prstGeom>
          <a:solidFill>
            <a:srgbClr val="FFFFFF">
              <a:alpha val="28000"/>
            </a:srgbClr>
          </a:solidFill>
          <a:ln/>
        </p:spPr>
        <p:txBody>
          <a:bodyPr/>
          <a:lstStyle/>
          <a:p>
            <a:endParaRPr lang="en-MY"/>
          </a:p>
        </p:txBody>
      </p:sp>
      <p:sp>
        <p:nvSpPr>
          <p:cNvPr id="11" name="Shape 9"/>
          <p:cNvSpPr/>
          <p:nvPr/>
        </p:nvSpPr>
        <p:spPr>
          <a:xfrm>
            <a:off x="4572000" y="3212592"/>
            <a:ext cx="10973" cy="987552"/>
          </a:xfrm>
          <a:prstGeom prst="rect">
            <a:avLst/>
          </a:prstGeom>
          <a:solidFill>
            <a:srgbClr val="FFFFFF">
              <a:alpha val="28000"/>
            </a:srgbClr>
          </a:solidFill>
          <a:ln/>
        </p:spPr>
        <p:txBody>
          <a:bodyPr/>
          <a:lstStyle/>
          <a:p>
            <a:endParaRPr lang="en-MY"/>
          </a:p>
        </p:txBody>
      </p:sp>
      <p:sp>
        <p:nvSpPr>
          <p:cNvPr id="12" name="Shape 10"/>
          <p:cNvSpPr/>
          <p:nvPr/>
        </p:nvSpPr>
        <p:spPr>
          <a:xfrm>
            <a:off x="6286500" y="3212592"/>
            <a:ext cx="10973" cy="987552"/>
          </a:xfrm>
          <a:prstGeom prst="rect">
            <a:avLst/>
          </a:prstGeom>
          <a:solidFill>
            <a:srgbClr val="FFFFFF">
              <a:alpha val="28000"/>
            </a:srgbClr>
          </a:solidFill>
          <a:ln/>
        </p:spPr>
        <p:txBody>
          <a:bodyPr/>
          <a:lstStyle/>
          <a:p>
            <a:endParaRPr lang="en-MY"/>
          </a:p>
        </p:txBody>
      </p:sp>
      <p:sp>
        <p:nvSpPr>
          <p:cNvPr id="13" name="Text 11"/>
          <p:cNvSpPr/>
          <p:nvPr/>
        </p:nvSpPr>
        <p:spPr>
          <a:xfrm>
            <a:off x="1143000" y="3212592"/>
            <a:ext cx="1714500" cy="621792"/>
          </a:xfrm>
          <a:prstGeom prst="rect">
            <a:avLst/>
          </a:prstGeom>
          <a:noFill/>
          <a:ln/>
        </p:spPr>
        <p:txBody>
          <a:bodyPr wrap="square" lIns="0" tIns="0" rIns="0" bIns="0" rtlCol="0" anchor="b"/>
          <a:lstStyle/>
          <a:p>
            <a:pPr marL="0" indent="0" algn="ctr">
              <a:buNone/>
            </a:pPr>
            <a:r>
              <a:rPr lang="en-US" sz="3200" b="1" dirty="0">
                <a:solidFill>
                  <a:srgbClr val="F7C948"/>
                </a:solidFill>
                <a:latin typeface="Arial" pitchFamily="34" charset="0"/>
                <a:ea typeface="Arial" pitchFamily="34" charset="-122"/>
                <a:cs typeface="Arial" pitchFamily="34" charset="-120"/>
              </a:rPr>
              <a:t>23</a:t>
            </a:r>
            <a:endParaRPr lang="en-US" sz="3200" dirty="0"/>
          </a:p>
        </p:txBody>
      </p:sp>
      <p:sp>
        <p:nvSpPr>
          <p:cNvPr id="14" name="Text 12"/>
          <p:cNvSpPr/>
          <p:nvPr/>
        </p:nvSpPr>
        <p:spPr>
          <a:xfrm>
            <a:off x="1143000" y="3834384"/>
            <a:ext cx="1714500" cy="292608"/>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SCHOLARSHIPS</a:t>
            </a:r>
            <a:endParaRPr lang="en-US" sz="850" dirty="0"/>
          </a:p>
        </p:txBody>
      </p:sp>
      <p:sp>
        <p:nvSpPr>
          <p:cNvPr id="15" name="Text 13"/>
          <p:cNvSpPr/>
          <p:nvPr/>
        </p:nvSpPr>
        <p:spPr>
          <a:xfrm>
            <a:off x="2857500" y="3212592"/>
            <a:ext cx="1714500" cy="621792"/>
          </a:xfrm>
          <a:prstGeom prst="rect">
            <a:avLst/>
          </a:prstGeom>
          <a:noFill/>
          <a:ln/>
        </p:spPr>
        <p:txBody>
          <a:bodyPr wrap="square" lIns="0" tIns="0" rIns="0" bIns="0" rtlCol="0" anchor="b"/>
          <a:lstStyle/>
          <a:p>
            <a:pPr marL="0" indent="0" algn="ctr">
              <a:buNone/>
            </a:pPr>
            <a:r>
              <a:rPr lang="en-US" sz="3200" b="1" dirty="0">
                <a:solidFill>
                  <a:srgbClr val="F7C948"/>
                </a:solidFill>
                <a:latin typeface="Arial" pitchFamily="34" charset="0"/>
                <a:ea typeface="Arial" pitchFamily="34" charset="-122"/>
                <a:cs typeface="Arial" pitchFamily="34" charset="-120"/>
              </a:rPr>
              <a:t>30</a:t>
            </a:r>
            <a:endParaRPr lang="en-US" sz="3200" dirty="0"/>
          </a:p>
        </p:txBody>
      </p:sp>
      <p:sp>
        <p:nvSpPr>
          <p:cNvPr id="16" name="Text 14"/>
          <p:cNvSpPr/>
          <p:nvPr/>
        </p:nvSpPr>
        <p:spPr>
          <a:xfrm>
            <a:off x="2857500" y="3834384"/>
            <a:ext cx="1714500" cy="292608"/>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INSTITUTIONS</a:t>
            </a:r>
            <a:endParaRPr lang="en-US" sz="850" dirty="0"/>
          </a:p>
        </p:txBody>
      </p:sp>
      <p:sp>
        <p:nvSpPr>
          <p:cNvPr id="17" name="Text 15"/>
          <p:cNvSpPr/>
          <p:nvPr/>
        </p:nvSpPr>
        <p:spPr>
          <a:xfrm>
            <a:off x="4572000" y="3212592"/>
            <a:ext cx="1714500" cy="621792"/>
          </a:xfrm>
          <a:prstGeom prst="rect">
            <a:avLst/>
          </a:prstGeom>
          <a:noFill/>
          <a:ln/>
        </p:spPr>
        <p:txBody>
          <a:bodyPr wrap="square" lIns="0" tIns="0" rIns="0" bIns="0" rtlCol="0" anchor="b"/>
          <a:lstStyle/>
          <a:p>
            <a:pPr marL="0" indent="0" algn="ctr">
              <a:buNone/>
            </a:pPr>
            <a:r>
              <a:rPr lang="en-US" sz="3200" b="1" dirty="0">
                <a:solidFill>
                  <a:srgbClr val="F7C948"/>
                </a:solidFill>
                <a:latin typeface="Arial" pitchFamily="34" charset="0"/>
                <a:ea typeface="Arial" pitchFamily="34" charset="-122"/>
                <a:cs typeface="Arial" pitchFamily="34" charset="-120"/>
              </a:rPr>
              <a:t>1</a:t>
            </a:r>
            <a:endParaRPr lang="en-US" sz="3200" dirty="0"/>
          </a:p>
        </p:txBody>
      </p:sp>
      <p:sp>
        <p:nvSpPr>
          <p:cNvPr id="18" name="Text 16"/>
          <p:cNvSpPr/>
          <p:nvPr/>
        </p:nvSpPr>
        <p:spPr>
          <a:xfrm>
            <a:off x="4572000" y="3834384"/>
            <a:ext cx="1714500" cy="292608"/>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PLATFORM</a:t>
            </a:r>
            <a:endParaRPr lang="en-US" sz="850" dirty="0"/>
          </a:p>
        </p:txBody>
      </p:sp>
      <p:sp>
        <p:nvSpPr>
          <p:cNvPr id="19" name="Text 17"/>
          <p:cNvSpPr/>
          <p:nvPr/>
        </p:nvSpPr>
        <p:spPr>
          <a:xfrm>
            <a:off x="6286500" y="3212592"/>
            <a:ext cx="1714500" cy="621792"/>
          </a:xfrm>
          <a:prstGeom prst="rect">
            <a:avLst/>
          </a:prstGeom>
          <a:noFill/>
          <a:ln/>
        </p:spPr>
        <p:txBody>
          <a:bodyPr wrap="square" lIns="0" tIns="0" rIns="0" bIns="0" rtlCol="0" anchor="b"/>
          <a:lstStyle/>
          <a:p>
            <a:pPr marL="0" indent="0" algn="ctr">
              <a:buNone/>
            </a:pPr>
            <a:r>
              <a:rPr lang="en-US" sz="3200" b="1" dirty="0">
                <a:solidFill>
                  <a:srgbClr val="F7C948"/>
                </a:solidFill>
                <a:latin typeface="Arial" pitchFamily="34" charset="0"/>
                <a:ea typeface="Arial" pitchFamily="34" charset="-122"/>
                <a:cs typeface="Arial" pitchFamily="34" charset="-120"/>
              </a:rPr>
              <a:t>100%</a:t>
            </a:r>
            <a:endParaRPr lang="en-US" sz="3200" dirty="0"/>
          </a:p>
        </p:txBody>
      </p:sp>
      <p:sp>
        <p:nvSpPr>
          <p:cNvPr id="20" name="Text 18"/>
          <p:cNvSpPr/>
          <p:nvPr/>
        </p:nvSpPr>
        <p:spPr>
          <a:xfrm>
            <a:off x="6286500" y="3834384"/>
            <a:ext cx="1714500" cy="292608"/>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FREE</a:t>
            </a:r>
            <a:endParaRPr lang="en-US" sz="850" dirty="0"/>
          </a:p>
        </p:txBody>
      </p:sp>
      <p:sp>
        <p:nvSpPr>
          <p:cNvPr id="21" name="Shape 19"/>
          <p:cNvSpPr/>
          <p:nvPr/>
        </p:nvSpPr>
        <p:spPr>
          <a:xfrm>
            <a:off x="8430768" y="4828032"/>
            <a:ext cx="137160" cy="137160"/>
          </a:xfrm>
          <a:prstGeom prst="ellipse">
            <a:avLst/>
          </a:prstGeom>
          <a:solidFill>
            <a:srgbClr val="4FC3F7"/>
          </a:solidFill>
          <a:ln/>
        </p:spPr>
        <p:txBody>
          <a:bodyPr/>
          <a:lstStyle/>
          <a:p>
            <a:endParaRPr lang="en-MY"/>
          </a:p>
        </p:txBody>
      </p:sp>
      <p:sp>
        <p:nvSpPr>
          <p:cNvPr id="22" name="Shape 20"/>
          <p:cNvSpPr/>
          <p:nvPr/>
        </p:nvSpPr>
        <p:spPr>
          <a:xfrm>
            <a:off x="8613648" y="4828032"/>
            <a:ext cx="137160" cy="137160"/>
          </a:xfrm>
          <a:prstGeom prst="ellipse">
            <a:avLst/>
          </a:prstGeom>
          <a:solidFill>
            <a:srgbClr val="F7C948"/>
          </a:solidFill>
          <a:ln/>
        </p:spPr>
        <p:txBody>
          <a:bodyPr/>
          <a:lstStyle/>
          <a:p>
            <a:endParaRPr lang="en-MY"/>
          </a:p>
        </p:txBody>
      </p:sp>
      <p:pic>
        <p:nvPicPr>
          <p:cNvPr id="29" name="Picture 28">
            <a:extLst>
              <a:ext uri="{FF2B5EF4-FFF2-40B4-BE49-F238E27FC236}">
                <a16:creationId xmlns:a16="http://schemas.microsoft.com/office/drawing/2014/main" id="{E287E389-51B8-C308-FDF8-77BF37AAAE70}"/>
              </a:ext>
            </a:extLst>
          </p:cNvPr>
          <p:cNvPicPr>
            <a:picLocks noChangeAspect="1"/>
          </p:cNvPicPr>
          <p:nvPr/>
        </p:nvPicPr>
        <p:blipFill>
          <a:blip r:embed="rId3"/>
          <a:stretch>
            <a:fillRect/>
          </a:stretch>
        </p:blipFill>
        <p:spPr>
          <a:xfrm>
            <a:off x="3200400" y="129540"/>
            <a:ext cx="2302990" cy="661468"/>
          </a:xfrm>
          <a:prstGeom prst="rect">
            <a:avLst/>
          </a:prstGeom>
        </p:spPr>
      </p:pic>
      <p:pic>
        <p:nvPicPr>
          <p:cNvPr id="31" name="Picture 30">
            <a:extLst>
              <a:ext uri="{FF2B5EF4-FFF2-40B4-BE49-F238E27FC236}">
                <a16:creationId xmlns:a16="http://schemas.microsoft.com/office/drawing/2014/main" id="{BA200D96-6A10-7552-E8AA-58DF7311E47E}"/>
              </a:ext>
            </a:extLst>
          </p:cNvPr>
          <p:cNvPicPr>
            <a:picLocks noChangeAspect="1"/>
          </p:cNvPicPr>
          <p:nvPr/>
        </p:nvPicPr>
        <p:blipFill>
          <a:blip r:embed="rId4"/>
          <a:stretch>
            <a:fillRect/>
          </a:stretch>
        </p:blipFill>
        <p:spPr>
          <a:xfrm>
            <a:off x="1434236" y="3913632"/>
            <a:ext cx="6297473" cy="9791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Where It All Started</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02 / 10</a:t>
            </a:r>
            <a:endParaRPr lang="en-US" sz="900" dirty="0"/>
          </a:p>
        </p:txBody>
      </p:sp>
      <p:sp>
        <p:nvSpPr>
          <p:cNvPr id="6" name="Shape 4"/>
          <p:cNvSpPr/>
          <p:nvPr/>
        </p:nvSpPr>
        <p:spPr>
          <a:xfrm>
            <a:off x="118872" y="512064"/>
            <a:ext cx="5138928" cy="2084832"/>
          </a:xfrm>
          <a:prstGeom prst="roundRect">
            <a:avLst>
              <a:gd name="adj" fmla="val 3509"/>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Shape 5"/>
          <p:cNvSpPr/>
          <p:nvPr/>
        </p:nvSpPr>
        <p:spPr>
          <a:xfrm>
            <a:off x="118872" y="512064"/>
            <a:ext cx="5138928" cy="64008"/>
          </a:xfrm>
          <a:prstGeom prst="roundRect">
            <a:avLst>
              <a:gd name="adj" fmla="val 85714"/>
            </a:avLst>
          </a:prstGeom>
          <a:solidFill>
            <a:srgbClr val="FF8F00"/>
          </a:solidFill>
          <a:ln/>
        </p:spPr>
        <p:txBody>
          <a:bodyPr/>
          <a:lstStyle/>
          <a:p>
            <a:endParaRPr lang="en-MY"/>
          </a:p>
        </p:txBody>
      </p:sp>
      <p:sp>
        <p:nvSpPr>
          <p:cNvPr id="8" name="Shape 6"/>
          <p:cNvSpPr/>
          <p:nvPr/>
        </p:nvSpPr>
        <p:spPr>
          <a:xfrm>
            <a:off x="201168" y="658368"/>
            <a:ext cx="749808" cy="749808"/>
          </a:xfrm>
          <a:prstGeom prst="roundRect">
            <a:avLst>
              <a:gd name="adj" fmla="val 9756"/>
            </a:avLst>
          </a:prstGeom>
          <a:solidFill>
            <a:srgbClr val="FFF8E1"/>
          </a:solidFill>
          <a:ln/>
        </p:spPr>
        <p:txBody>
          <a:bodyPr/>
          <a:lstStyle/>
          <a:p>
            <a:endParaRPr lang="en-MY"/>
          </a:p>
        </p:txBody>
      </p:sp>
      <p:sp>
        <p:nvSpPr>
          <p:cNvPr id="9" name="Text 7"/>
          <p:cNvSpPr/>
          <p:nvPr/>
        </p:nvSpPr>
        <p:spPr>
          <a:xfrm>
            <a:off x="201168" y="658368"/>
            <a:ext cx="749808" cy="749808"/>
          </a:xfrm>
          <a:prstGeom prst="rect">
            <a:avLst/>
          </a:prstGeom>
          <a:noFill/>
          <a:ln/>
        </p:spPr>
        <p:txBody>
          <a:bodyPr wrap="square" lIns="0" tIns="0" rIns="0" bIns="0" rtlCol="0" anchor="ctr"/>
          <a:lstStyle/>
          <a:p>
            <a:pPr marL="0" indent="0" algn="ctr">
              <a:buNone/>
            </a:pPr>
            <a:r>
              <a:rPr lang="en-US" sz="3200" b="1" dirty="0">
                <a:solidFill>
                  <a:srgbClr val="FF8F00"/>
                </a:solidFill>
                <a:latin typeface="Arial" pitchFamily="34" charset="0"/>
                <a:ea typeface="Arial" pitchFamily="34" charset="-122"/>
                <a:cs typeface="Arial" pitchFamily="34" charset="-120"/>
              </a:rPr>
              <a:t>?</a:t>
            </a:r>
            <a:endParaRPr lang="en-US" sz="3200" dirty="0"/>
          </a:p>
        </p:txBody>
      </p:sp>
      <p:sp>
        <p:nvSpPr>
          <p:cNvPr id="10" name="Text 8"/>
          <p:cNvSpPr/>
          <p:nvPr/>
        </p:nvSpPr>
        <p:spPr>
          <a:xfrm>
            <a:off x="1042416" y="621792"/>
            <a:ext cx="3986784" cy="27432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The Real Problem</a:t>
            </a:r>
            <a:endParaRPr lang="en-US" sz="1350" dirty="0"/>
          </a:p>
        </p:txBody>
      </p:sp>
      <p:sp>
        <p:nvSpPr>
          <p:cNvPr id="11" name="Text 9"/>
          <p:cNvSpPr/>
          <p:nvPr/>
        </p:nvSpPr>
        <p:spPr>
          <a:xfrm>
            <a:off x="1042416" y="932688"/>
            <a:ext cx="3986784" cy="658368"/>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After SPM results were released, the school counsellor had to manually call each student one by one to collect information on their further education plans, every single student, phone call by phone call. There was no system.</a:t>
            </a:r>
            <a:endParaRPr lang="en-US" sz="1050" dirty="0"/>
          </a:p>
        </p:txBody>
      </p:sp>
      <p:sp>
        <p:nvSpPr>
          <p:cNvPr id="12" name="Shape 10"/>
          <p:cNvSpPr/>
          <p:nvPr/>
        </p:nvSpPr>
        <p:spPr>
          <a:xfrm>
            <a:off x="237744" y="2304288"/>
            <a:ext cx="1389888" cy="201168"/>
          </a:xfrm>
          <a:prstGeom prst="roundRect">
            <a:avLst>
              <a:gd name="adj" fmla="val 50000"/>
            </a:avLst>
          </a:prstGeom>
          <a:solidFill>
            <a:srgbClr val="FFF8E1"/>
          </a:solidFill>
          <a:ln/>
        </p:spPr>
        <p:txBody>
          <a:bodyPr/>
          <a:lstStyle/>
          <a:p>
            <a:endParaRPr lang="en-MY"/>
          </a:p>
        </p:txBody>
      </p:sp>
      <p:sp>
        <p:nvSpPr>
          <p:cNvPr id="13" name="Text 11"/>
          <p:cNvSpPr/>
          <p:nvPr/>
        </p:nvSpPr>
        <p:spPr>
          <a:xfrm>
            <a:off x="237744" y="2304288"/>
            <a:ext cx="1389888" cy="201168"/>
          </a:xfrm>
          <a:prstGeom prst="rect">
            <a:avLst/>
          </a:prstGeom>
          <a:noFill/>
          <a:ln/>
        </p:spPr>
        <p:txBody>
          <a:bodyPr wrap="square" lIns="0" tIns="0" rIns="0" bIns="0" rtlCol="0" anchor="ctr"/>
          <a:lstStyle/>
          <a:p>
            <a:pPr marL="0" indent="0" algn="ctr">
              <a:buNone/>
            </a:pPr>
            <a:r>
              <a:rPr lang="en-US" sz="850" b="1" dirty="0">
                <a:solidFill>
                  <a:srgbClr val="FF8F00"/>
                </a:solidFill>
                <a:latin typeface="Arial" pitchFamily="34" charset="0"/>
                <a:ea typeface="Arial" pitchFamily="34" charset="-122"/>
                <a:cs typeface="Arial" pitchFamily="34" charset="-120"/>
              </a:rPr>
              <a:t>Manual Process</a:t>
            </a:r>
            <a:endParaRPr lang="en-US" sz="850" dirty="0"/>
          </a:p>
        </p:txBody>
      </p:sp>
      <p:sp>
        <p:nvSpPr>
          <p:cNvPr id="14" name="Shape 12"/>
          <p:cNvSpPr/>
          <p:nvPr/>
        </p:nvSpPr>
        <p:spPr>
          <a:xfrm>
            <a:off x="1700784" y="2304288"/>
            <a:ext cx="1389888" cy="201168"/>
          </a:xfrm>
          <a:prstGeom prst="roundRect">
            <a:avLst>
              <a:gd name="adj" fmla="val 50000"/>
            </a:avLst>
          </a:prstGeom>
          <a:solidFill>
            <a:srgbClr val="FFEBEE"/>
          </a:solidFill>
          <a:ln/>
        </p:spPr>
        <p:txBody>
          <a:bodyPr/>
          <a:lstStyle/>
          <a:p>
            <a:endParaRPr lang="en-MY"/>
          </a:p>
        </p:txBody>
      </p:sp>
      <p:sp>
        <p:nvSpPr>
          <p:cNvPr id="15" name="Text 13"/>
          <p:cNvSpPr/>
          <p:nvPr/>
        </p:nvSpPr>
        <p:spPr>
          <a:xfrm>
            <a:off x="1700784" y="2304288"/>
            <a:ext cx="1389888" cy="201168"/>
          </a:xfrm>
          <a:prstGeom prst="rect">
            <a:avLst/>
          </a:prstGeom>
          <a:noFill/>
          <a:ln/>
        </p:spPr>
        <p:txBody>
          <a:bodyPr wrap="square" lIns="0" tIns="0" rIns="0" bIns="0" rtlCol="0" anchor="ctr"/>
          <a:lstStyle/>
          <a:p>
            <a:pPr marL="0" indent="0" algn="ctr">
              <a:buNone/>
            </a:pPr>
            <a:r>
              <a:rPr lang="en-US" sz="850" b="1" dirty="0">
                <a:solidFill>
                  <a:srgbClr val="E53935"/>
                </a:solidFill>
                <a:latin typeface="Arial" pitchFamily="34" charset="0"/>
                <a:ea typeface="Arial" pitchFamily="34" charset="-122"/>
                <a:cs typeface="Arial" pitchFamily="34" charset="-120"/>
              </a:rPr>
              <a:t>No System</a:t>
            </a:r>
            <a:endParaRPr lang="en-US" sz="850" dirty="0"/>
          </a:p>
        </p:txBody>
      </p:sp>
      <p:sp>
        <p:nvSpPr>
          <p:cNvPr id="16" name="Shape 14"/>
          <p:cNvSpPr/>
          <p:nvPr/>
        </p:nvSpPr>
        <p:spPr>
          <a:xfrm>
            <a:off x="3163824" y="2304288"/>
            <a:ext cx="1389888" cy="201168"/>
          </a:xfrm>
          <a:prstGeom prst="roundRect">
            <a:avLst>
              <a:gd name="adj" fmla="val 50000"/>
            </a:avLst>
          </a:prstGeom>
          <a:solidFill>
            <a:srgbClr val="F3E5F5"/>
          </a:solidFill>
          <a:ln/>
        </p:spPr>
        <p:txBody>
          <a:bodyPr/>
          <a:lstStyle/>
          <a:p>
            <a:endParaRPr lang="en-MY"/>
          </a:p>
        </p:txBody>
      </p:sp>
      <p:sp>
        <p:nvSpPr>
          <p:cNvPr id="17" name="Text 15"/>
          <p:cNvSpPr/>
          <p:nvPr/>
        </p:nvSpPr>
        <p:spPr>
          <a:xfrm>
            <a:off x="3163824" y="2304288"/>
            <a:ext cx="1389888" cy="201168"/>
          </a:xfrm>
          <a:prstGeom prst="rect">
            <a:avLst/>
          </a:prstGeom>
          <a:noFill/>
          <a:ln/>
        </p:spPr>
        <p:txBody>
          <a:bodyPr wrap="square" lIns="0" tIns="0" rIns="0" bIns="0" rtlCol="0" anchor="ctr"/>
          <a:lstStyle/>
          <a:p>
            <a:pPr marL="0" indent="0" algn="ctr">
              <a:buNone/>
            </a:pPr>
            <a:r>
              <a:rPr lang="en-US" sz="850" b="1" dirty="0">
                <a:solidFill>
                  <a:srgbClr val="7B1FA2"/>
                </a:solidFill>
                <a:latin typeface="Arial" pitchFamily="34" charset="0"/>
                <a:ea typeface="Arial" pitchFamily="34" charset="-122"/>
                <a:cs typeface="Arial" pitchFamily="34" charset="-120"/>
              </a:rPr>
              <a:t>Time Consuming</a:t>
            </a:r>
            <a:endParaRPr lang="en-US" sz="850" dirty="0"/>
          </a:p>
        </p:txBody>
      </p:sp>
      <p:sp>
        <p:nvSpPr>
          <p:cNvPr id="18" name="Shape 16"/>
          <p:cNvSpPr/>
          <p:nvPr/>
        </p:nvSpPr>
        <p:spPr>
          <a:xfrm>
            <a:off x="118872" y="2706624"/>
            <a:ext cx="5138928" cy="2350008"/>
          </a:xfrm>
          <a:prstGeom prst="roundRect">
            <a:avLst>
              <a:gd name="adj" fmla="val 3113"/>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19" name="Shape 17"/>
          <p:cNvSpPr/>
          <p:nvPr/>
        </p:nvSpPr>
        <p:spPr>
          <a:xfrm>
            <a:off x="118872" y="2706624"/>
            <a:ext cx="5138928" cy="64008"/>
          </a:xfrm>
          <a:prstGeom prst="roundRect">
            <a:avLst>
              <a:gd name="adj" fmla="val 85714"/>
            </a:avLst>
          </a:prstGeom>
          <a:solidFill>
            <a:srgbClr val="388E3C"/>
          </a:solidFill>
          <a:ln/>
        </p:spPr>
        <p:txBody>
          <a:bodyPr/>
          <a:lstStyle/>
          <a:p>
            <a:endParaRPr lang="en-MY"/>
          </a:p>
        </p:txBody>
      </p:sp>
      <p:sp>
        <p:nvSpPr>
          <p:cNvPr id="20" name="Text 18"/>
          <p:cNvSpPr/>
          <p:nvPr/>
        </p:nvSpPr>
        <p:spPr>
          <a:xfrm>
            <a:off x="237744" y="2779776"/>
            <a:ext cx="4882896" cy="292608"/>
          </a:xfrm>
          <a:prstGeom prst="rect">
            <a:avLst/>
          </a:prstGeom>
          <a:noFill/>
          <a:ln/>
        </p:spPr>
        <p:txBody>
          <a:bodyPr wrap="square" lIns="0" tIns="0" rIns="0" bIns="0" rtlCol="0" anchor="ctr"/>
          <a:lstStyle/>
          <a:p>
            <a:pPr marL="0" indent="0">
              <a:buNone/>
            </a:pPr>
            <a:r>
              <a:rPr lang="en-US" sz="1200" b="1" dirty="0">
                <a:solidFill>
                  <a:srgbClr val="0F2057"/>
                </a:solidFill>
                <a:latin typeface="Arial" pitchFamily="34" charset="0"/>
                <a:ea typeface="Arial" pitchFamily="34" charset="-122"/>
                <a:cs typeface="Arial" pitchFamily="34" charset="-120"/>
              </a:rPr>
              <a:t>3 Key Questions That Sparked This Project</a:t>
            </a:r>
            <a:endParaRPr lang="en-US" sz="1200" dirty="0"/>
          </a:p>
        </p:txBody>
      </p:sp>
      <p:sp>
        <p:nvSpPr>
          <p:cNvPr id="21" name="Shape 19"/>
          <p:cNvSpPr/>
          <p:nvPr/>
        </p:nvSpPr>
        <p:spPr>
          <a:xfrm>
            <a:off x="237744" y="3090672"/>
            <a:ext cx="4773168" cy="10973"/>
          </a:xfrm>
          <a:prstGeom prst="rect">
            <a:avLst/>
          </a:prstGeom>
          <a:solidFill>
            <a:srgbClr val="D4E9E2"/>
          </a:solidFill>
          <a:ln/>
        </p:spPr>
        <p:txBody>
          <a:bodyPr/>
          <a:lstStyle/>
          <a:p>
            <a:endParaRPr lang="en-MY"/>
          </a:p>
        </p:txBody>
      </p:sp>
      <p:sp>
        <p:nvSpPr>
          <p:cNvPr id="22" name="Shape 20"/>
          <p:cNvSpPr/>
          <p:nvPr/>
        </p:nvSpPr>
        <p:spPr>
          <a:xfrm>
            <a:off x="237744" y="3255264"/>
            <a:ext cx="292608" cy="292608"/>
          </a:xfrm>
          <a:prstGeom prst="ellipse">
            <a:avLst/>
          </a:prstGeom>
          <a:solidFill>
            <a:srgbClr val="E3F2FD"/>
          </a:solidFill>
          <a:ln/>
        </p:spPr>
        <p:txBody>
          <a:bodyPr/>
          <a:lstStyle/>
          <a:p>
            <a:endParaRPr lang="en-MY"/>
          </a:p>
        </p:txBody>
      </p:sp>
      <p:sp>
        <p:nvSpPr>
          <p:cNvPr id="23" name="Text 21"/>
          <p:cNvSpPr/>
          <p:nvPr/>
        </p:nvSpPr>
        <p:spPr>
          <a:xfrm>
            <a:off x="237744" y="3255264"/>
            <a:ext cx="292608" cy="292608"/>
          </a:xfrm>
          <a:prstGeom prst="rect">
            <a:avLst/>
          </a:prstGeom>
          <a:noFill/>
          <a:ln/>
        </p:spPr>
        <p:txBody>
          <a:bodyPr wrap="square" lIns="0" tIns="0" rIns="0" bIns="0" rtlCol="0" anchor="ctr"/>
          <a:lstStyle/>
          <a:p>
            <a:pPr marL="0" indent="0" algn="ctr">
              <a:buNone/>
            </a:pPr>
            <a:r>
              <a:rPr lang="en-US" sz="1100" b="1" dirty="0">
                <a:solidFill>
                  <a:srgbClr val="1976D2"/>
                </a:solidFill>
                <a:latin typeface="Arial" pitchFamily="34" charset="0"/>
                <a:ea typeface="Arial" pitchFamily="34" charset="-122"/>
                <a:cs typeface="Arial" pitchFamily="34" charset="-120"/>
              </a:rPr>
              <a:t>1</a:t>
            </a:r>
            <a:endParaRPr lang="en-US" sz="1100" dirty="0"/>
          </a:p>
        </p:txBody>
      </p:sp>
      <p:sp>
        <p:nvSpPr>
          <p:cNvPr id="24" name="Text 22"/>
          <p:cNvSpPr/>
          <p:nvPr/>
        </p:nvSpPr>
        <p:spPr>
          <a:xfrm>
            <a:off x="603504" y="3200400"/>
            <a:ext cx="4407408" cy="201168"/>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Continuing studies?</a:t>
            </a:r>
            <a:endParaRPr lang="en-US" sz="1100" dirty="0"/>
          </a:p>
        </p:txBody>
      </p:sp>
      <p:sp>
        <p:nvSpPr>
          <p:cNvPr id="25" name="Text 23"/>
          <p:cNvSpPr/>
          <p:nvPr/>
        </p:nvSpPr>
        <p:spPr>
          <a:xfrm>
            <a:off x="603504" y="3401568"/>
            <a:ext cx="4407408" cy="201168"/>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Did the student pursue higher education after SPM?</a:t>
            </a:r>
            <a:endParaRPr lang="en-US" sz="1000" dirty="0"/>
          </a:p>
        </p:txBody>
      </p:sp>
      <p:sp>
        <p:nvSpPr>
          <p:cNvPr id="26" name="Shape 24"/>
          <p:cNvSpPr/>
          <p:nvPr/>
        </p:nvSpPr>
        <p:spPr>
          <a:xfrm>
            <a:off x="237744" y="3822192"/>
            <a:ext cx="292608" cy="292608"/>
          </a:xfrm>
          <a:prstGeom prst="ellipse">
            <a:avLst/>
          </a:prstGeom>
          <a:solidFill>
            <a:srgbClr val="E8F5E9"/>
          </a:solidFill>
          <a:ln/>
        </p:spPr>
        <p:txBody>
          <a:bodyPr/>
          <a:lstStyle/>
          <a:p>
            <a:endParaRPr lang="en-MY"/>
          </a:p>
        </p:txBody>
      </p:sp>
      <p:sp>
        <p:nvSpPr>
          <p:cNvPr id="27" name="Text 25"/>
          <p:cNvSpPr/>
          <p:nvPr/>
        </p:nvSpPr>
        <p:spPr>
          <a:xfrm>
            <a:off x="237744" y="3822192"/>
            <a:ext cx="292608" cy="292608"/>
          </a:xfrm>
          <a:prstGeom prst="rect">
            <a:avLst/>
          </a:prstGeom>
          <a:noFill/>
          <a:ln/>
        </p:spPr>
        <p:txBody>
          <a:bodyPr wrap="square" lIns="0" tIns="0" rIns="0" bIns="0" rtlCol="0" anchor="ctr"/>
          <a:lstStyle/>
          <a:p>
            <a:pPr marL="0" indent="0" algn="ctr">
              <a:buNone/>
            </a:pPr>
            <a:r>
              <a:rPr lang="en-US" sz="1100" b="1" dirty="0">
                <a:solidFill>
                  <a:srgbClr val="388E3C"/>
                </a:solidFill>
                <a:latin typeface="Arial" pitchFamily="34" charset="0"/>
                <a:ea typeface="Arial" pitchFamily="34" charset="-122"/>
                <a:cs typeface="Arial" pitchFamily="34" charset="-120"/>
              </a:rPr>
              <a:t>2</a:t>
            </a:r>
            <a:endParaRPr lang="en-US" sz="1100" dirty="0"/>
          </a:p>
        </p:txBody>
      </p:sp>
      <p:sp>
        <p:nvSpPr>
          <p:cNvPr id="28" name="Text 26"/>
          <p:cNvSpPr/>
          <p:nvPr/>
        </p:nvSpPr>
        <p:spPr>
          <a:xfrm>
            <a:off x="603504" y="3767328"/>
            <a:ext cx="4407408" cy="201168"/>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Which institution (IPT)?</a:t>
            </a:r>
            <a:endParaRPr lang="en-US" sz="1100" dirty="0"/>
          </a:p>
        </p:txBody>
      </p:sp>
      <p:sp>
        <p:nvSpPr>
          <p:cNvPr id="29" name="Text 27"/>
          <p:cNvSpPr/>
          <p:nvPr/>
        </p:nvSpPr>
        <p:spPr>
          <a:xfrm>
            <a:off x="603504" y="3968496"/>
            <a:ext cx="4407408" cy="201168"/>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Where did they </a:t>
            </a:r>
            <a:r>
              <a:rPr lang="en-US" sz="1000" dirty="0" err="1">
                <a:solidFill>
                  <a:srgbClr val="82868B"/>
                </a:solidFill>
                <a:latin typeface="Arial" pitchFamily="34" charset="0"/>
                <a:ea typeface="Arial" pitchFamily="34" charset="-122"/>
                <a:cs typeface="Arial" pitchFamily="34" charset="-120"/>
              </a:rPr>
              <a:t>enrol</a:t>
            </a:r>
            <a:r>
              <a:rPr lang="en-US" sz="1000" dirty="0">
                <a:solidFill>
                  <a:srgbClr val="82868B"/>
                </a:solidFill>
                <a:latin typeface="Arial" pitchFamily="34" charset="0"/>
                <a:ea typeface="Arial" pitchFamily="34" charset="-122"/>
                <a:cs typeface="Arial" pitchFamily="34" charset="-120"/>
              </a:rPr>
              <a:t> public uni, private, polytechnic, or others?</a:t>
            </a:r>
            <a:endParaRPr lang="en-US" sz="1000" dirty="0"/>
          </a:p>
        </p:txBody>
      </p:sp>
      <p:sp>
        <p:nvSpPr>
          <p:cNvPr id="30" name="Shape 28"/>
          <p:cNvSpPr/>
          <p:nvPr/>
        </p:nvSpPr>
        <p:spPr>
          <a:xfrm>
            <a:off x="237744" y="4389120"/>
            <a:ext cx="292608" cy="292608"/>
          </a:xfrm>
          <a:prstGeom prst="ellipse">
            <a:avLst/>
          </a:prstGeom>
          <a:solidFill>
            <a:srgbClr val="F3E5F5"/>
          </a:solidFill>
          <a:ln/>
        </p:spPr>
        <p:txBody>
          <a:bodyPr/>
          <a:lstStyle/>
          <a:p>
            <a:endParaRPr lang="en-MY"/>
          </a:p>
        </p:txBody>
      </p:sp>
      <p:sp>
        <p:nvSpPr>
          <p:cNvPr id="31" name="Text 29"/>
          <p:cNvSpPr/>
          <p:nvPr/>
        </p:nvSpPr>
        <p:spPr>
          <a:xfrm>
            <a:off x="237744" y="4389120"/>
            <a:ext cx="292608" cy="292608"/>
          </a:xfrm>
          <a:prstGeom prst="rect">
            <a:avLst/>
          </a:prstGeom>
          <a:noFill/>
          <a:ln/>
        </p:spPr>
        <p:txBody>
          <a:bodyPr wrap="square" lIns="0" tIns="0" rIns="0" bIns="0" rtlCol="0" anchor="ctr"/>
          <a:lstStyle/>
          <a:p>
            <a:pPr marL="0" indent="0" algn="ctr">
              <a:buNone/>
            </a:pPr>
            <a:r>
              <a:rPr lang="en-US" sz="1100" b="1" dirty="0">
                <a:solidFill>
                  <a:srgbClr val="7B1FA2"/>
                </a:solidFill>
                <a:latin typeface="Arial" pitchFamily="34" charset="0"/>
                <a:ea typeface="Arial" pitchFamily="34" charset="-122"/>
                <a:cs typeface="Arial" pitchFamily="34" charset="-120"/>
              </a:rPr>
              <a:t>3</a:t>
            </a:r>
            <a:endParaRPr lang="en-US" sz="1100" dirty="0"/>
          </a:p>
        </p:txBody>
      </p:sp>
      <p:sp>
        <p:nvSpPr>
          <p:cNvPr id="32" name="Text 30"/>
          <p:cNvSpPr/>
          <p:nvPr/>
        </p:nvSpPr>
        <p:spPr>
          <a:xfrm>
            <a:off x="603504" y="4334256"/>
            <a:ext cx="4407408" cy="201168"/>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Scholarship or loan?</a:t>
            </a:r>
            <a:endParaRPr lang="en-US" sz="1100" dirty="0"/>
          </a:p>
        </p:txBody>
      </p:sp>
      <p:sp>
        <p:nvSpPr>
          <p:cNvPr id="33" name="Text 31"/>
          <p:cNvSpPr/>
          <p:nvPr/>
        </p:nvSpPr>
        <p:spPr>
          <a:xfrm>
            <a:off x="603504" y="4535424"/>
            <a:ext cx="4407408" cy="201168"/>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Are B40 students receiving the financial support they need?</a:t>
            </a:r>
            <a:endParaRPr lang="en-US" sz="1000" dirty="0"/>
          </a:p>
        </p:txBody>
      </p:sp>
      <p:sp>
        <p:nvSpPr>
          <p:cNvPr id="34" name="Shape 32"/>
          <p:cNvSpPr/>
          <p:nvPr/>
        </p:nvSpPr>
        <p:spPr>
          <a:xfrm>
            <a:off x="5376672" y="512064"/>
            <a:ext cx="3648456" cy="4544568"/>
          </a:xfrm>
          <a:prstGeom prst="roundRect">
            <a:avLst>
              <a:gd name="adj" fmla="val 2005"/>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35" name="Shape 33"/>
          <p:cNvSpPr/>
          <p:nvPr/>
        </p:nvSpPr>
        <p:spPr>
          <a:xfrm>
            <a:off x="5376672" y="512064"/>
            <a:ext cx="3648456" cy="64008"/>
          </a:xfrm>
          <a:prstGeom prst="roundRect">
            <a:avLst>
              <a:gd name="adj" fmla="val 85714"/>
            </a:avLst>
          </a:prstGeom>
          <a:solidFill>
            <a:srgbClr val="1976D2"/>
          </a:solidFill>
          <a:ln/>
        </p:spPr>
        <p:txBody>
          <a:bodyPr/>
          <a:lstStyle/>
          <a:p>
            <a:endParaRPr lang="en-MY"/>
          </a:p>
        </p:txBody>
      </p:sp>
      <p:sp>
        <p:nvSpPr>
          <p:cNvPr id="36" name="Text 34"/>
          <p:cNvSpPr/>
          <p:nvPr/>
        </p:nvSpPr>
        <p:spPr>
          <a:xfrm>
            <a:off x="5376672" y="585216"/>
            <a:ext cx="3648456" cy="237744"/>
          </a:xfrm>
          <a:prstGeom prst="rect">
            <a:avLst/>
          </a:prstGeom>
          <a:noFill/>
          <a:ln/>
        </p:spPr>
        <p:txBody>
          <a:bodyPr wrap="square" lIns="0" tIns="0" rIns="0" bIns="0" rtlCol="0" anchor="ctr"/>
          <a:lstStyle/>
          <a:p>
            <a:pPr marL="0" indent="0" algn="ctr">
              <a:buNone/>
            </a:pPr>
            <a:r>
              <a:rPr lang="en-US" sz="1100" b="1" dirty="0">
                <a:solidFill>
                  <a:srgbClr val="0F2057"/>
                </a:solidFill>
                <a:latin typeface="Arial" pitchFamily="34" charset="0"/>
                <a:ea typeface="Arial" pitchFamily="34" charset="-122"/>
                <a:cs typeface="Arial" pitchFamily="34" charset="-120"/>
              </a:rPr>
              <a:t>Real Evidence</a:t>
            </a:r>
            <a:endParaRPr lang="en-US" sz="1100" dirty="0"/>
          </a:p>
        </p:txBody>
      </p:sp>
      <p:sp>
        <p:nvSpPr>
          <p:cNvPr id="37" name="Text 35"/>
          <p:cNvSpPr/>
          <p:nvPr/>
        </p:nvSpPr>
        <p:spPr>
          <a:xfrm>
            <a:off x="5468112" y="859536"/>
            <a:ext cx="3465576" cy="402336"/>
          </a:xfrm>
          <a:prstGeom prst="rect">
            <a:avLst/>
          </a:prstGeom>
          <a:noFill/>
          <a:ln/>
        </p:spPr>
        <p:txBody>
          <a:bodyPr wrap="square" lIns="0" tIns="0" rIns="0" bIns="0" rtlCol="0" anchor="ctr"/>
          <a:lstStyle/>
          <a:p>
            <a:pPr marL="0" indent="0" algn="ctr">
              <a:buNone/>
            </a:pPr>
            <a:r>
              <a:rPr lang="en-US" sz="1000" dirty="0">
                <a:solidFill>
                  <a:srgbClr val="82868B"/>
                </a:solidFill>
                <a:latin typeface="Arial" pitchFamily="34" charset="0"/>
                <a:ea typeface="Arial" pitchFamily="34" charset="-122"/>
                <a:cs typeface="Arial" pitchFamily="34" charset="-120"/>
              </a:rPr>
              <a:t>Actual data collected by the counsellor manually, via phone calls to every student after SPM</a:t>
            </a:r>
            <a:endParaRPr lang="en-US" sz="1000" dirty="0"/>
          </a:p>
        </p:txBody>
      </p:sp>
      <p:pic>
        <p:nvPicPr>
          <p:cNvPr id="38" name="Image 0" descr="preencoded.png"/>
          <p:cNvPicPr>
            <a:picLocks noChangeAspect="1"/>
          </p:cNvPicPr>
          <p:nvPr/>
        </p:nvPicPr>
        <p:blipFill>
          <a:blip r:embed="rId3"/>
          <a:stretch>
            <a:fillRect/>
          </a:stretch>
        </p:blipFill>
        <p:spPr>
          <a:xfrm>
            <a:off x="5468112" y="1316736"/>
            <a:ext cx="3401568" cy="2194560"/>
          </a:xfrm>
          <a:prstGeom prst="rect">
            <a:avLst/>
          </a:prstGeom>
        </p:spPr>
      </p:pic>
      <p:sp>
        <p:nvSpPr>
          <p:cNvPr id="39" name="Shape 36"/>
          <p:cNvSpPr/>
          <p:nvPr/>
        </p:nvSpPr>
        <p:spPr>
          <a:xfrm>
            <a:off x="5468112" y="3657600"/>
            <a:ext cx="3401568" cy="1207008"/>
          </a:xfrm>
          <a:prstGeom prst="roundRect">
            <a:avLst>
              <a:gd name="adj" fmla="val 6061"/>
            </a:avLst>
          </a:prstGeom>
          <a:solidFill>
            <a:srgbClr val="E8F5E9"/>
          </a:solidFill>
          <a:ln w="15240">
            <a:solidFill>
              <a:srgbClr val="388E3C"/>
            </a:solidFill>
            <a:prstDash val="solid"/>
          </a:ln>
        </p:spPr>
        <p:txBody>
          <a:bodyPr/>
          <a:lstStyle/>
          <a:p>
            <a:endParaRPr lang="en-MY"/>
          </a:p>
        </p:txBody>
      </p:sp>
      <p:sp>
        <p:nvSpPr>
          <p:cNvPr id="40" name="Text 37"/>
          <p:cNvSpPr/>
          <p:nvPr/>
        </p:nvSpPr>
        <p:spPr>
          <a:xfrm>
            <a:off x="5577840" y="3730752"/>
            <a:ext cx="3182112" cy="237744"/>
          </a:xfrm>
          <a:prstGeom prst="rect">
            <a:avLst/>
          </a:prstGeom>
          <a:noFill/>
          <a:ln/>
        </p:spPr>
        <p:txBody>
          <a:bodyPr wrap="square" lIns="0" tIns="0" rIns="0" bIns="0" rtlCol="0" anchor="ctr"/>
          <a:lstStyle/>
          <a:p>
            <a:pPr marL="0" indent="0">
              <a:buNone/>
            </a:pPr>
            <a:r>
              <a:rPr lang="en-US" sz="1050" b="1" dirty="0">
                <a:solidFill>
                  <a:srgbClr val="388E3C"/>
                </a:solidFill>
                <a:latin typeface="Arial" pitchFamily="34" charset="0"/>
                <a:ea typeface="Arial" pitchFamily="34" charset="-122"/>
                <a:cs typeface="Arial" pitchFamily="34" charset="-120"/>
              </a:rPr>
              <a:t>Key Insight</a:t>
            </a:r>
            <a:endParaRPr lang="en-US" sz="1050" dirty="0"/>
          </a:p>
        </p:txBody>
      </p:sp>
      <p:sp>
        <p:nvSpPr>
          <p:cNvPr id="41" name="Text 38"/>
          <p:cNvSpPr/>
          <p:nvPr/>
        </p:nvSpPr>
        <p:spPr>
          <a:xfrm>
            <a:off x="5577840" y="3968496"/>
            <a:ext cx="3182112" cy="80467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Many students in this data are from B40 families. The counsellor had no way to know which scholarships they qualified for this sparked the idea for an AI-powered matching system.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The Problem, Solution &amp; Impact</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03 / 10</a:t>
            </a:r>
            <a:endParaRPr lang="en-US" sz="900" dirty="0"/>
          </a:p>
        </p:txBody>
      </p:sp>
      <p:sp>
        <p:nvSpPr>
          <p:cNvPr id="6" name="Shape 4"/>
          <p:cNvSpPr/>
          <p:nvPr/>
        </p:nvSpPr>
        <p:spPr>
          <a:xfrm>
            <a:off x="2971800" y="2706624"/>
            <a:ext cx="109728" cy="109728"/>
          </a:xfrm>
          <a:prstGeom prst="ellipse">
            <a:avLst/>
          </a:prstGeom>
          <a:solidFill>
            <a:srgbClr val="D4E9E2"/>
          </a:solidFill>
          <a:ln/>
        </p:spPr>
        <p:txBody>
          <a:bodyPr/>
          <a:lstStyle/>
          <a:p>
            <a:endParaRPr lang="en-MY"/>
          </a:p>
        </p:txBody>
      </p:sp>
      <p:sp>
        <p:nvSpPr>
          <p:cNvPr id="7" name="Text 5"/>
          <p:cNvSpPr/>
          <p:nvPr/>
        </p:nvSpPr>
        <p:spPr>
          <a:xfrm>
            <a:off x="2962656" y="2697480"/>
            <a:ext cx="128016" cy="128016"/>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&gt;</a:t>
            </a:r>
            <a:endParaRPr lang="en-US" sz="900" dirty="0"/>
          </a:p>
        </p:txBody>
      </p:sp>
      <p:sp>
        <p:nvSpPr>
          <p:cNvPr id="8" name="Shape 6"/>
          <p:cNvSpPr/>
          <p:nvPr/>
        </p:nvSpPr>
        <p:spPr>
          <a:xfrm>
            <a:off x="5961888" y="2706624"/>
            <a:ext cx="109728" cy="109728"/>
          </a:xfrm>
          <a:prstGeom prst="ellipse">
            <a:avLst/>
          </a:prstGeom>
          <a:solidFill>
            <a:srgbClr val="D4E9E2"/>
          </a:solidFill>
          <a:ln/>
        </p:spPr>
        <p:txBody>
          <a:bodyPr/>
          <a:lstStyle/>
          <a:p>
            <a:endParaRPr lang="en-MY"/>
          </a:p>
        </p:txBody>
      </p:sp>
      <p:sp>
        <p:nvSpPr>
          <p:cNvPr id="9" name="Text 7"/>
          <p:cNvSpPr/>
          <p:nvPr/>
        </p:nvSpPr>
        <p:spPr>
          <a:xfrm>
            <a:off x="5952744" y="2697480"/>
            <a:ext cx="128016" cy="128016"/>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&gt;</a:t>
            </a:r>
            <a:endParaRPr lang="en-US" sz="900" dirty="0"/>
          </a:p>
        </p:txBody>
      </p:sp>
      <p:sp>
        <p:nvSpPr>
          <p:cNvPr id="10" name="Shape 8"/>
          <p:cNvSpPr/>
          <p:nvPr/>
        </p:nvSpPr>
        <p:spPr>
          <a:xfrm>
            <a:off x="118872"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11" name="Shape 9"/>
          <p:cNvSpPr/>
          <p:nvPr/>
        </p:nvSpPr>
        <p:spPr>
          <a:xfrm>
            <a:off x="118872" y="512064"/>
            <a:ext cx="2944368" cy="603504"/>
          </a:xfrm>
          <a:prstGeom prst="roundRect">
            <a:avLst>
              <a:gd name="adj" fmla="val 12121"/>
            </a:avLst>
          </a:prstGeom>
          <a:solidFill>
            <a:srgbClr val="E53935"/>
          </a:solidFill>
          <a:ln/>
        </p:spPr>
        <p:txBody>
          <a:bodyPr/>
          <a:lstStyle/>
          <a:p>
            <a:endParaRPr lang="en-MY"/>
          </a:p>
        </p:txBody>
      </p:sp>
      <p:sp>
        <p:nvSpPr>
          <p:cNvPr id="12" name="Shape 10"/>
          <p:cNvSpPr/>
          <p:nvPr/>
        </p:nvSpPr>
        <p:spPr>
          <a:xfrm>
            <a:off x="118872" y="932688"/>
            <a:ext cx="2944368" cy="182880"/>
          </a:xfrm>
          <a:prstGeom prst="rect">
            <a:avLst/>
          </a:prstGeom>
          <a:solidFill>
            <a:srgbClr val="E53935"/>
          </a:solidFill>
          <a:ln/>
        </p:spPr>
        <p:txBody>
          <a:bodyPr/>
          <a:lstStyle/>
          <a:p>
            <a:endParaRPr lang="en-MY"/>
          </a:p>
        </p:txBody>
      </p:sp>
      <p:sp>
        <p:nvSpPr>
          <p:cNvPr id="13" name="Shape 11"/>
          <p:cNvSpPr/>
          <p:nvPr/>
        </p:nvSpPr>
        <p:spPr>
          <a:xfrm>
            <a:off x="228600" y="630936"/>
            <a:ext cx="347472" cy="347472"/>
          </a:xfrm>
          <a:prstGeom prst="ellipse">
            <a:avLst/>
          </a:prstGeom>
          <a:solidFill>
            <a:srgbClr val="FFFFFF">
              <a:alpha val="26000"/>
            </a:srgbClr>
          </a:solidFill>
          <a:ln/>
        </p:spPr>
        <p:txBody>
          <a:bodyPr/>
          <a:lstStyle/>
          <a:p>
            <a:endParaRPr lang="en-MY"/>
          </a:p>
        </p:txBody>
      </p:sp>
      <p:sp>
        <p:nvSpPr>
          <p:cNvPr id="14" name="Text 12"/>
          <p:cNvSpPr/>
          <p:nvPr/>
        </p:nvSpPr>
        <p:spPr>
          <a:xfrm>
            <a:off x="649224" y="585216"/>
            <a:ext cx="2322576" cy="27432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Challenges</a:t>
            </a:r>
            <a:endParaRPr lang="en-US" sz="1500" dirty="0"/>
          </a:p>
        </p:txBody>
      </p:sp>
      <p:sp>
        <p:nvSpPr>
          <p:cNvPr id="15" name="Text 13"/>
          <p:cNvSpPr/>
          <p:nvPr/>
        </p:nvSpPr>
        <p:spPr>
          <a:xfrm>
            <a:off x="649224" y="859536"/>
            <a:ext cx="2322576" cy="182880"/>
          </a:xfrm>
          <a:prstGeom prst="rect">
            <a:avLst/>
          </a:prstGeom>
          <a:noFill/>
          <a:ln/>
        </p:spPr>
        <p:txBody>
          <a:bodyPr wrap="square" lIns="0" tIns="0" rIns="0" bIns="0" rtlCol="0" anchor="ctr"/>
          <a:lstStyle/>
          <a:p>
            <a:pPr marL="0" indent="0">
              <a:buNone/>
            </a:pPr>
            <a:r>
              <a:rPr lang="en-US" sz="800" kern="0" spc="100" dirty="0">
                <a:solidFill>
                  <a:srgbClr val="FFFFFF">
                    <a:alpha val="64000"/>
                  </a:srgbClr>
                </a:solidFill>
                <a:latin typeface="Arial" pitchFamily="34" charset="0"/>
                <a:ea typeface="Arial" pitchFamily="34" charset="-122"/>
                <a:cs typeface="Arial" pitchFamily="34" charset="-120"/>
              </a:rPr>
              <a:t>THE CHALLENGE</a:t>
            </a:r>
            <a:endParaRPr lang="en-US" sz="800" dirty="0"/>
          </a:p>
        </p:txBody>
      </p:sp>
      <p:sp>
        <p:nvSpPr>
          <p:cNvPr id="16" name="Shape 14"/>
          <p:cNvSpPr/>
          <p:nvPr/>
        </p:nvSpPr>
        <p:spPr>
          <a:xfrm>
            <a:off x="237744" y="1225296"/>
            <a:ext cx="2706624" cy="1170432"/>
          </a:xfrm>
          <a:prstGeom prst="roundRect">
            <a:avLst>
              <a:gd name="adj" fmla="val 4688"/>
            </a:avLst>
          </a:prstGeom>
          <a:solidFill>
            <a:srgbClr val="FFEBEE"/>
          </a:solidFill>
          <a:ln/>
        </p:spPr>
        <p:txBody>
          <a:bodyPr/>
          <a:lstStyle/>
          <a:p>
            <a:endParaRPr lang="en-MY"/>
          </a:p>
        </p:txBody>
      </p:sp>
      <p:sp>
        <p:nvSpPr>
          <p:cNvPr id="17" name="Shape 15"/>
          <p:cNvSpPr/>
          <p:nvPr/>
        </p:nvSpPr>
        <p:spPr>
          <a:xfrm>
            <a:off x="237744" y="1225296"/>
            <a:ext cx="38405" cy="1170432"/>
          </a:xfrm>
          <a:prstGeom prst="rect">
            <a:avLst/>
          </a:prstGeom>
          <a:solidFill>
            <a:srgbClr val="E53935"/>
          </a:solidFill>
          <a:ln/>
        </p:spPr>
        <p:txBody>
          <a:bodyPr/>
          <a:lstStyle/>
          <a:p>
            <a:endParaRPr lang="en-MY"/>
          </a:p>
        </p:txBody>
      </p:sp>
      <p:sp>
        <p:nvSpPr>
          <p:cNvPr id="18" name="Text 16"/>
          <p:cNvSpPr/>
          <p:nvPr/>
        </p:nvSpPr>
        <p:spPr>
          <a:xfrm>
            <a:off x="329184" y="1271016"/>
            <a:ext cx="2578608" cy="192024"/>
          </a:xfrm>
          <a:prstGeom prst="rect">
            <a:avLst/>
          </a:prstGeom>
          <a:noFill/>
          <a:ln/>
        </p:spPr>
        <p:txBody>
          <a:bodyPr wrap="square" lIns="0" tIns="0" rIns="0" bIns="0" rtlCol="0" anchor="ctr"/>
          <a:lstStyle/>
          <a:p>
            <a:pPr marL="0" indent="0">
              <a:buNone/>
            </a:pPr>
            <a:r>
              <a:rPr lang="en-US" sz="1050" b="1" dirty="0">
                <a:solidFill>
                  <a:srgbClr val="E53935"/>
                </a:solidFill>
                <a:latin typeface="Arial" pitchFamily="34" charset="0"/>
                <a:ea typeface="Arial" pitchFamily="34" charset="-122"/>
                <a:cs typeface="Arial" pitchFamily="34" charset="-120"/>
              </a:rPr>
              <a:t>Scholarship Choices</a:t>
            </a:r>
            <a:endParaRPr lang="en-US" sz="1050" dirty="0"/>
          </a:p>
        </p:txBody>
      </p:sp>
      <p:sp>
        <p:nvSpPr>
          <p:cNvPr id="19" name="Text 17"/>
          <p:cNvSpPr/>
          <p:nvPr/>
        </p:nvSpPr>
        <p:spPr>
          <a:xfrm>
            <a:off x="329184" y="1453896"/>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Students do not know which scholarships they qualify for or how to apply correctly</a:t>
            </a:r>
            <a:endParaRPr lang="en-US" sz="1000" dirty="0"/>
          </a:p>
        </p:txBody>
      </p:sp>
      <p:sp>
        <p:nvSpPr>
          <p:cNvPr id="20" name="Shape 18"/>
          <p:cNvSpPr/>
          <p:nvPr/>
        </p:nvSpPr>
        <p:spPr>
          <a:xfrm>
            <a:off x="237744" y="2487168"/>
            <a:ext cx="2706624" cy="1170432"/>
          </a:xfrm>
          <a:prstGeom prst="roundRect">
            <a:avLst>
              <a:gd name="adj" fmla="val 4688"/>
            </a:avLst>
          </a:prstGeom>
          <a:solidFill>
            <a:srgbClr val="FFEBEE"/>
          </a:solidFill>
          <a:ln/>
        </p:spPr>
        <p:txBody>
          <a:bodyPr/>
          <a:lstStyle/>
          <a:p>
            <a:endParaRPr lang="en-MY"/>
          </a:p>
        </p:txBody>
      </p:sp>
      <p:sp>
        <p:nvSpPr>
          <p:cNvPr id="21" name="Shape 19"/>
          <p:cNvSpPr/>
          <p:nvPr/>
        </p:nvSpPr>
        <p:spPr>
          <a:xfrm>
            <a:off x="237744" y="2487168"/>
            <a:ext cx="38405" cy="1170432"/>
          </a:xfrm>
          <a:prstGeom prst="rect">
            <a:avLst/>
          </a:prstGeom>
          <a:solidFill>
            <a:srgbClr val="E53935"/>
          </a:solidFill>
          <a:ln/>
        </p:spPr>
        <p:txBody>
          <a:bodyPr/>
          <a:lstStyle/>
          <a:p>
            <a:endParaRPr lang="en-MY"/>
          </a:p>
        </p:txBody>
      </p:sp>
      <p:sp>
        <p:nvSpPr>
          <p:cNvPr id="22" name="Text 20"/>
          <p:cNvSpPr/>
          <p:nvPr/>
        </p:nvSpPr>
        <p:spPr>
          <a:xfrm>
            <a:off x="329184" y="2532888"/>
            <a:ext cx="2578608" cy="192024"/>
          </a:xfrm>
          <a:prstGeom prst="rect">
            <a:avLst/>
          </a:prstGeom>
          <a:noFill/>
          <a:ln/>
        </p:spPr>
        <p:txBody>
          <a:bodyPr wrap="square" lIns="0" tIns="0" rIns="0" bIns="0" rtlCol="0" anchor="ctr"/>
          <a:lstStyle/>
          <a:p>
            <a:pPr marL="0" indent="0">
              <a:buNone/>
            </a:pPr>
            <a:r>
              <a:rPr lang="en-US" sz="1050" b="1" dirty="0">
                <a:solidFill>
                  <a:srgbClr val="E53935"/>
                </a:solidFill>
                <a:latin typeface="Arial" pitchFamily="34" charset="0"/>
                <a:ea typeface="Arial" pitchFamily="34" charset="-122"/>
                <a:cs typeface="Arial" pitchFamily="34" charset="-120"/>
              </a:rPr>
              <a:t>Institution Selection</a:t>
            </a:r>
            <a:endParaRPr lang="en-US" sz="1050" dirty="0"/>
          </a:p>
        </p:txBody>
      </p:sp>
      <p:sp>
        <p:nvSpPr>
          <p:cNvPr id="23" name="Text 21"/>
          <p:cNvSpPr/>
          <p:nvPr/>
        </p:nvSpPr>
        <p:spPr>
          <a:xfrm>
            <a:off x="329184" y="2715768"/>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Confusion when choosing the right Higher Education Institution and course based on SPM results</a:t>
            </a:r>
            <a:endParaRPr lang="en-US" sz="1000" dirty="0"/>
          </a:p>
        </p:txBody>
      </p:sp>
      <p:sp>
        <p:nvSpPr>
          <p:cNvPr id="24" name="Shape 22"/>
          <p:cNvSpPr/>
          <p:nvPr/>
        </p:nvSpPr>
        <p:spPr>
          <a:xfrm>
            <a:off x="237744" y="3749040"/>
            <a:ext cx="2706624" cy="1170432"/>
          </a:xfrm>
          <a:prstGeom prst="roundRect">
            <a:avLst>
              <a:gd name="adj" fmla="val 4688"/>
            </a:avLst>
          </a:prstGeom>
          <a:solidFill>
            <a:srgbClr val="FFEBEE"/>
          </a:solidFill>
          <a:ln/>
        </p:spPr>
        <p:txBody>
          <a:bodyPr/>
          <a:lstStyle/>
          <a:p>
            <a:endParaRPr lang="en-MY"/>
          </a:p>
        </p:txBody>
      </p:sp>
      <p:sp>
        <p:nvSpPr>
          <p:cNvPr id="25" name="Shape 23"/>
          <p:cNvSpPr/>
          <p:nvPr/>
        </p:nvSpPr>
        <p:spPr>
          <a:xfrm>
            <a:off x="237744" y="3749040"/>
            <a:ext cx="38405" cy="1170432"/>
          </a:xfrm>
          <a:prstGeom prst="rect">
            <a:avLst/>
          </a:prstGeom>
          <a:solidFill>
            <a:srgbClr val="E53935"/>
          </a:solidFill>
          <a:ln/>
        </p:spPr>
        <p:txBody>
          <a:bodyPr/>
          <a:lstStyle/>
          <a:p>
            <a:endParaRPr lang="en-MY"/>
          </a:p>
        </p:txBody>
      </p:sp>
      <p:sp>
        <p:nvSpPr>
          <p:cNvPr id="26" name="Text 24"/>
          <p:cNvSpPr/>
          <p:nvPr/>
        </p:nvSpPr>
        <p:spPr>
          <a:xfrm>
            <a:off x="329184" y="3794760"/>
            <a:ext cx="2578608" cy="192024"/>
          </a:xfrm>
          <a:prstGeom prst="rect">
            <a:avLst/>
          </a:prstGeom>
          <a:noFill/>
          <a:ln/>
        </p:spPr>
        <p:txBody>
          <a:bodyPr wrap="square" lIns="0" tIns="0" rIns="0" bIns="0" rtlCol="0" anchor="ctr"/>
          <a:lstStyle/>
          <a:p>
            <a:pPr marL="0" indent="0">
              <a:buNone/>
            </a:pPr>
            <a:r>
              <a:rPr lang="en-US" sz="1050" b="1" dirty="0">
                <a:solidFill>
                  <a:srgbClr val="E53935"/>
                </a:solidFill>
                <a:latin typeface="Arial" pitchFamily="34" charset="0"/>
                <a:ea typeface="Arial" pitchFamily="34" charset="-122"/>
                <a:cs typeface="Arial" pitchFamily="34" charset="-120"/>
              </a:rPr>
              <a:t>Parents in the Dark</a:t>
            </a:r>
            <a:endParaRPr lang="en-US" sz="1050" dirty="0"/>
          </a:p>
        </p:txBody>
      </p:sp>
      <p:sp>
        <p:nvSpPr>
          <p:cNvPr id="27" name="Text 25"/>
          <p:cNvSpPr/>
          <p:nvPr/>
        </p:nvSpPr>
        <p:spPr>
          <a:xfrm>
            <a:off x="329184" y="3977640"/>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No complete information to help their children make the best academic decision</a:t>
            </a:r>
            <a:endParaRPr lang="en-US" sz="1000" dirty="0"/>
          </a:p>
        </p:txBody>
      </p:sp>
      <p:sp>
        <p:nvSpPr>
          <p:cNvPr id="28" name="Shape 26"/>
          <p:cNvSpPr/>
          <p:nvPr/>
        </p:nvSpPr>
        <p:spPr>
          <a:xfrm>
            <a:off x="3099816"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29" name="Shape 27"/>
          <p:cNvSpPr/>
          <p:nvPr/>
        </p:nvSpPr>
        <p:spPr>
          <a:xfrm>
            <a:off x="3099816" y="512064"/>
            <a:ext cx="2944368" cy="603504"/>
          </a:xfrm>
          <a:prstGeom prst="roundRect">
            <a:avLst>
              <a:gd name="adj" fmla="val 12121"/>
            </a:avLst>
          </a:prstGeom>
          <a:solidFill>
            <a:srgbClr val="388E3C"/>
          </a:solidFill>
          <a:ln/>
        </p:spPr>
        <p:txBody>
          <a:bodyPr/>
          <a:lstStyle/>
          <a:p>
            <a:endParaRPr lang="en-MY"/>
          </a:p>
        </p:txBody>
      </p:sp>
      <p:sp>
        <p:nvSpPr>
          <p:cNvPr id="30" name="Shape 28"/>
          <p:cNvSpPr/>
          <p:nvPr/>
        </p:nvSpPr>
        <p:spPr>
          <a:xfrm>
            <a:off x="3099816" y="932688"/>
            <a:ext cx="2944368" cy="182880"/>
          </a:xfrm>
          <a:prstGeom prst="rect">
            <a:avLst/>
          </a:prstGeom>
          <a:solidFill>
            <a:srgbClr val="388E3C"/>
          </a:solidFill>
          <a:ln/>
        </p:spPr>
        <p:txBody>
          <a:bodyPr/>
          <a:lstStyle/>
          <a:p>
            <a:endParaRPr lang="en-MY"/>
          </a:p>
        </p:txBody>
      </p:sp>
      <p:sp>
        <p:nvSpPr>
          <p:cNvPr id="31" name="Shape 29"/>
          <p:cNvSpPr/>
          <p:nvPr/>
        </p:nvSpPr>
        <p:spPr>
          <a:xfrm>
            <a:off x="3099816" y="512064"/>
            <a:ext cx="2944368" cy="603504"/>
          </a:xfrm>
          <a:prstGeom prst="roundRect">
            <a:avLst>
              <a:gd name="adj" fmla="val 12121"/>
            </a:avLst>
          </a:prstGeom>
          <a:solidFill>
            <a:srgbClr val="1976D2">
              <a:alpha val="50000"/>
            </a:srgbClr>
          </a:solidFill>
          <a:ln/>
        </p:spPr>
        <p:txBody>
          <a:bodyPr/>
          <a:lstStyle/>
          <a:p>
            <a:endParaRPr lang="en-MY"/>
          </a:p>
        </p:txBody>
      </p:sp>
      <p:sp>
        <p:nvSpPr>
          <p:cNvPr id="32" name="Shape 30"/>
          <p:cNvSpPr/>
          <p:nvPr/>
        </p:nvSpPr>
        <p:spPr>
          <a:xfrm>
            <a:off x="3099816" y="932688"/>
            <a:ext cx="2944368" cy="182880"/>
          </a:xfrm>
          <a:prstGeom prst="rect">
            <a:avLst/>
          </a:prstGeom>
          <a:solidFill>
            <a:srgbClr val="1976D2">
              <a:alpha val="50000"/>
            </a:srgbClr>
          </a:solidFill>
          <a:ln/>
        </p:spPr>
        <p:txBody>
          <a:bodyPr/>
          <a:lstStyle/>
          <a:p>
            <a:endParaRPr lang="en-MY"/>
          </a:p>
        </p:txBody>
      </p:sp>
      <p:sp>
        <p:nvSpPr>
          <p:cNvPr id="33" name="Shape 31"/>
          <p:cNvSpPr/>
          <p:nvPr/>
        </p:nvSpPr>
        <p:spPr>
          <a:xfrm>
            <a:off x="3209544" y="630936"/>
            <a:ext cx="347472" cy="347472"/>
          </a:xfrm>
          <a:prstGeom prst="ellipse">
            <a:avLst/>
          </a:prstGeom>
          <a:solidFill>
            <a:srgbClr val="FFFFFF">
              <a:alpha val="26000"/>
            </a:srgbClr>
          </a:solidFill>
          <a:ln/>
        </p:spPr>
        <p:txBody>
          <a:bodyPr/>
          <a:lstStyle/>
          <a:p>
            <a:endParaRPr lang="en-MY"/>
          </a:p>
        </p:txBody>
      </p:sp>
      <p:sp>
        <p:nvSpPr>
          <p:cNvPr id="34" name="Text 32"/>
          <p:cNvSpPr/>
          <p:nvPr/>
        </p:nvSpPr>
        <p:spPr>
          <a:xfrm>
            <a:off x="3630168" y="585216"/>
            <a:ext cx="2322576" cy="27432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DELIMa</a:t>
            </a:r>
            <a:endParaRPr lang="en-US" sz="1500" dirty="0"/>
          </a:p>
        </p:txBody>
      </p:sp>
      <p:sp>
        <p:nvSpPr>
          <p:cNvPr id="35" name="Text 33"/>
          <p:cNvSpPr/>
          <p:nvPr/>
        </p:nvSpPr>
        <p:spPr>
          <a:xfrm>
            <a:off x="3630168" y="859536"/>
            <a:ext cx="2322576" cy="182880"/>
          </a:xfrm>
          <a:prstGeom prst="rect">
            <a:avLst/>
          </a:prstGeom>
          <a:noFill/>
          <a:ln/>
        </p:spPr>
        <p:txBody>
          <a:bodyPr wrap="square" lIns="0" tIns="0" rIns="0" bIns="0" rtlCol="0" anchor="ctr"/>
          <a:lstStyle/>
          <a:p>
            <a:pPr marL="0" indent="0">
              <a:buNone/>
            </a:pPr>
            <a:r>
              <a:rPr lang="en-US" sz="800" kern="0" spc="100" dirty="0">
                <a:solidFill>
                  <a:srgbClr val="FFFFFF">
                    <a:alpha val="64000"/>
                  </a:srgbClr>
                </a:solidFill>
                <a:latin typeface="Arial" pitchFamily="34" charset="0"/>
                <a:ea typeface="Arial" pitchFamily="34" charset="-122"/>
                <a:cs typeface="Arial" pitchFamily="34" charset="-120"/>
              </a:rPr>
              <a:t>OUR SOLUTION</a:t>
            </a:r>
            <a:endParaRPr lang="en-US" sz="800" dirty="0"/>
          </a:p>
        </p:txBody>
      </p:sp>
      <p:sp>
        <p:nvSpPr>
          <p:cNvPr id="36" name="Shape 34"/>
          <p:cNvSpPr/>
          <p:nvPr/>
        </p:nvSpPr>
        <p:spPr>
          <a:xfrm>
            <a:off x="3218688" y="1225296"/>
            <a:ext cx="2706624" cy="1170432"/>
          </a:xfrm>
          <a:prstGeom prst="roundRect">
            <a:avLst>
              <a:gd name="adj" fmla="val 4688"/>
            </a:avLst>
          </a:prstGeom>
          <a:solidFill>
            <a:srgbClr val="E3F2FD"/>
          </a:solidFill>
          <a:ln/>
        </p:spPr>
        <p:txBody>
          <a:bodyPr/>
          <a:lstStyle/>
          <a:p>
            <a:endParaRPr lang="en-MY"/>
          </a:p>
        </p:txBody>
      </p:sp>
      <p:sp>
        <p:nvSpPr>
          <p:cNvPr id="37" name="Shape 35"/>
          <p:cNvSpPr/>
          <p:nvPr/>
        </p:nvSpPr>
        <p:spPr>
          <a:xfrm>
            <a:off x="3218688" y="1225296"/>
            <a:ext cx="38405" cy="1170432"/>
          </a:xfrm>
          <a:prstGeom prst="rect">
            <a:avLst/>
          </a:prstGeom>
          <a:solidFill>
            <a:srgbClr val="1976D2"/>
          </a:solidFill>
          <a:ln/>
        </p:spPr>
        <p:txBody>
          <a:bodyPr/>
          <a:lstStyle/>
          <a:p>
            <a:endParaRPr lang="en-MY"/>
          </a:p>
        </p:txBody>
      </p:sp>
      <p:sp>
        <p:nvSpPr>
          <p:cNvPr id="38" name="Text 36"/>
          <p:cNvSpPr/>
          <p:nvPr/>
        </p:nvSpPr>
        <p:spPr>
          <a:xfrm>
            <a:off x="3310128" y="1271016"/>
            <a:ext cx="2578608" cy="192024"/>
          </a:xfrm>
          <a:prstGeom prst="rect">
            <a:avLst/>
          </a:prstGeom>
          <a:noFill/>
          <a:ln/>
        </p:spPr>
        <p:txBody>
          <a:bodyPr wrap="square" lIns="0" tIns="0" rIns="0" bIns="0" rtlCol="0" anchor="ctr"/>
          <a:lstStyle/>
          <a:p>
            <a:pPr marL="0" indent="0">
              <a:buNone/>
            </a:pPr>
            <a:r>
              <a:rPr lang="en-US" sz="1050" b="1" dirty="0">
                <a:solidFill>
                  <a:srgbClr val="1976D2"/>
                </a:solidFill>
                <a:latin typeface="Arial" pitchFamily="34" charset="0"/>
                <a:ea typeface="Arial" pitchFamily="34" charset="-122"/>
                <a:cs typeface="Arial" pitchFamily="34" charset="-120"/>
              </a:rPr>
              <a:t>Smart Analysis</a:t>
            </a:r>
            <a:endParaRPr lang="en-US" sz="1050" dirty="0"/>
          </a:p>
        </p:txBody>
      </p:sp>
      <p:sp>
        <p:nvSpPr>
          <p:cNvPr id="39" name="Text 37"/>
          <p:cNvSpPr/>
          <p:nvPr/>
        </p:nvSpPr>
        <p:spPr>
          <a:xfrm>
            <a:off x="3310128" y="1453896"/>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The system automatically and thoroughly analyses each student profile</a:t>
            </a:r>
            <a:endParaRPr lang="en-US" sz="1000" dirty="0"/>
          </a:p>
        </p:txBody>
      </p:sp>
      <p:sp>
        <p:nvSpPr>
          <p:cNvPr id="40" name="Shape 38"/>
          <p:cNvSpPr/>
          <p:nvPr/>
        </p:nvSpPr>
        <p:spPr>
          <a:xfrm>
            <a:off x="3218688" y="2487168"/>
            <a:ext cx="2706624" cy="1170432"/>
          </a:xfrm>
          <a:prstGeom prst="roundRect">
            <a:avLst>
              <a:gd name="adj" fmla="val 4688"/>
            </a:avLst>
          </a:prstGeom>
          <a:solidFill>
            <a:srgbClr val="E8F5E9"/>
          </a:solidFill>
          <a:ln/>
        </p:spPr>
        <p:txBody>
          <a:bodyPr/>
          <a:lstStyle/>
          <a:p>
            <a:endParaRPr lang="en-MY"/>
          </a:p>
        </p:txBody>
      </p:sp>
      <p:sp>
        <p:nvSpPr>
          <p:cNvPr id="41" name="Shape 39"/>
          <p:cNvSpPr/>
          <p:nvPr/>
        </p:nvSpPr>
        <p:spPr>
          <a:xfrm>
            <a:off x="3218688" y="2487168"/>
            <a:ext cx="38405" cy="1170432"/>
          </a:xfrm>
          <a:prstGeom prst="rect">
            <a:avLst/>
          </a:prstGeom>
          <a:solidFill>
            <a:srgbClr val="388E3C"/>
          </a:solidFill>
          <a:ln/>
        </p:spPr>
        <p:txBody>
          <a:bodyPr/>
          <a:lstStyle/>
          <a:p>
            <a:endParaRPr lang="en-MY"/>
          </a:p>
        </p:txBody>
      </p:sp>
      <p:sp>
        <p:nvSpPr>
          <p:cNvPr id="42" name="Text 40"/>
          <p:cNvSpPr/>
          <p:nvPr/>
        </p:nvSpPr>
        <p:spPr>
          <a:xfrm>
            <a:off x="3310128" y="2532888"/>
            <a:ext cx="2578608" cy="192024"/>
          </a:xfrm>
          <a:prstGeom prst="rect">
            <a:avLst/>
          </a:prstGeom>
          <a:noFill/>
          <a:ln/>
        </p:spPr>
        <p:txBody>
          <a:bodyPr wrap="square" lIns="0" tIns="0" rIns="0" bIns="0" rtlCol="0" anchor="ctr"/>
          <a:lstStyle/>
          <a:p>
            <a:pPr marL="0" indent="0">
              <a:buNone/>
            </a:pPr>
            <a:r>
              <a:rPr lang="en-US" sz="1050" b="1" dirty="0">
                <a:solidFill>
                  <a:srgbClr val="388E3C"/>
                </a:solidFill>
                <a:latin typeface="Arial" pitchFamily="34" charset="0"/>
                <a:ea typeface="Arial" pitchFamily="34" charset="-122"/>
                <a:cs typeface="Arial" pitchFamily="34" charset="-120"/>
              </a:rPr>
              <a:t>Precise Matching</a:t>
            </a:r>
            <a:endParaRPr lang="en-US" sz="1050" dirty="0"/>
          </a:p>
        </p:txBody>
      </p:sp>
      <p:sp>
        <p:nvSpPr>
          <p:cNvPr id="43" name="Text 41"/>
          <p:cNvSpPr/>
          <p:nvPr/>
        </p:nvSpPr>
        <p:spPr>
          <a:xfrm>
            <a:off x="3310128" y="2715768"/>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23 scholarships &amp; 30 institutions matched with a suitability score</a:t>
            </a:r>
            <a:endParaRPr lang="en-US" sz="1000" dirty="0"/>
          </a:p>
        </p:txBody>
      </p:sp>
      <p:sp>
        <p:nvSpPr>
          <p:cNvPr id="44" name="Shape 42"/>
          <p:cNvSpPr/>
          <p:nvPr/>
        </p:nvSpPr>
        <p:spPr>
          <a:xfrm>
            <a:off x="3218688" y="3749040"/>
            <a:ext cx="2706624" cy="1170432"/>
          </a:xfrm>
          <a:prstGeom prst="roundRect">
            <a:avLst>
              <a:gd name="adj" fmla="val 4688"/>
            </a:avLst>
          </a:prstGeom>
          <a:solidFill>
            <a:srgbClr val="E0F2F1"/>
          </a:solidFill>
          <a:ln/>
        </p:spPr>
        <p:txBody>
          <a:bodyPr/>
          <a:lstStyle/>
          <a:p>
            <a:endParaRPr lang="en-MY"/>
          </a:p>
        </p:txBody>
      </p:sp>
      <p:sp>
        <p:nvSpPr>
          <p:cNvPr id="45" name="Shape 43"/>
          <p:cNvSpPr/>
          <p:nvPr/>
        </p:nvSpPr>
        <p:spPr>
          <a:xfrm>
            <a:off x="3218688" y="3749040"/>
            <a:ext cx="38405" cy="1170432"/>
          </a:xfrm>
          <a:prstGeom prst="rect">
            <a:avLst/>
          </a:prstGeom>
          <a:solidFill>
            <a:srgbClr val="00897B"/>
          </a:solidFill>
          <a:ln/>
        </p:spPr>
        <p:txBody>
          <a:bodyPr/>
          <a:lstStyle/>
          <a:p>
            <a:endParaRPr lang="en-MY"/>
          </a:p>
        </p:txBody>
      </p:sp>
      <p:sp>
        <p:nvSpPr>
          <p:cNvPr id="46" name="Text 44"/>
          <p:cNvSpPr/>
          <p:nvPr/>
        </p:nvSpPr>
        <p:spPr>
          <a:xfrm>
            <a:off x="3310128" y="3794760"/>
            <a:ext cx="2578608" cy="192024"/>
          </a:xfrm>
          <a:prstGeom prst="rect">
            <a:avLst/>
          </a:prstGeom>
          <a:noFill/>
          <a:ln/>
        </p:spPr>
        <p:txBody>
          <a:bodyPr wrap="square" lIns="0" tIns="0" rIns="0" bIns="0" rtlCol="0" anchor="ctr"/>
          <a:lstStyle/>
          <a:p>
            <a:pPr marL="0" indent="0">
              <a:buNone/>
            </a:pPr>
            <a:r>
              <a:rPr lang="en-US" sz="1050" b="1" dirty="0">
                <a:solidFill>
                  <a:srgbClr val="00897B"/>
                </a:solidFill>
                <a:latin typeface="Arial" pitchFamily="34" charset="0"/>
                <a:ea typeface="Arial" pitchFamily="34" charset="-122"/>
                <a:cs typeface="Arial" pitchFamily="34" charset="-120"/>
              </a:rPr>
              <a:t>Personal Report</a:t>
            </a:r>
            <a:endParaRPr lang="en-US" sz="1050" dirty="0"/>
          </a:p>
        </p:txBody>
      </p:sp>
      <p:sp>
        <p:nvSpPr>
          <p:cNvPr id="47" name="Text 45"/>
          <p:cNvSpPr/>
          <p:nvPr/>
        </p:nvSpPr>
        <p:spPr>
          <a:xfrm>
            <a:off x="3310128" y="3977640"/>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A recommendation report is automatically generated for every student</a:t>
            </a:r>
            <a:endParaRPr lang="en-US" sz="1000" dirty="0"/>
          </a:p>
        </p:txBody>
      </p:sp>
      <p:sp>
        <p:nvSpPr>
          <p:cNvPr id="48" name="Shape 46"/>
          <p:cNvSpPr/>
          <p:nvPr/>
        </p:nvSpPr>
        <p:spPr>
          <a:xfrm>
            <a:off x="6080760"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49" name="Shape 47"/>
          <p:cNvSpPr/>
          <p:nvPr/>
        </p:nvSpPr>
        <p:spPr>
          <a:xfrm>
            <a:off x="6080760" y="512064"/>
            <a:ext cx="2944368" cy="603504"/>
          </a:xfrm>
          <a:prstGeom prst="roundRect">
            <a:avLst>
              <a:gd name="adj" fmla="val 12121"/>
            </a:avLst>
          </a:prstGeom>
          <a:solidFill>
            <a:srgbClr val="1976D2"/>
          </a:solidFill>
          <a:ln/>
        </p:spPr>
        <p:txBody>
          <a:bodyPr/>
          <a:lstStyle/>
          <a:p>
            <a:endParaRPr lang="en-MY"/>
          </a:p>
        </p:txBody>
      </p:sp>
      <p:sp>
        <p:nvSpPr>
          <p:cNvPr id="50" name="Shape 48"/>
          <p:cNvSpPr/>
          <p:nvPr/>
        </p:nvSpPr>
        <p:spPr>
          <a:xfrm>
            <a:off x="6080760" y="932688"/>
            <a:ext cx="2944368" cy="182880"/>
          </a:xfrm>
          <a:prstGeom prst="rect">
            <a:avLst/>
          </a:prstGeom>
          <a:solidFill>
            <a:srgbClr val="1976D2"/>
          </a:solidFill>
          <a:ln/>
        </p:spPr>
        <p:txBody>
          <a:bodyPr/>
          <a:lstStyle/>
          <a:p>
            <a:endParaRPr lang="en-MY"/>
          </a:p>
        </p:txBody>
      </p:sp>
      <p:sp>
        <p:nvSpPr>
          <p:cNvPr id="51" name="Shape 49"/>
          <p:cNvSpPr/>
          <p:nvPr/>
        </p:nvSpPr>
        <p:spPr>
          <a:xfrm>
            <a:off x="6190488" y="630936"/>
            <a:ext cx="347472" cy="347472"/>
          </a:xfrm>
          <a:prstGeom prst="ellipse">
            <a:avLst/>
          </a:prstGeom>
          <a:solidFill>
            <a:srgbClr val="FFFFFF">
              <a:alpha val="26000"/>
            </a:srgbClr>
          </a:solidFill>
          <a:ln/>
        </p:spPr>
        <p:txBody>
          <a:bodyPr/>
          <a:lstStyle/>
          <a:p>
            <a:endParaRPr lang="en-MY"/>
          </a:p>
        </p:txBody>
      </p:sp>
      <p:sp>
        <p:nvSpPr>
          <p:cNvPr id="52" name="Text 50"/>
          <p:cNvSpPr/>
          <p:nvPr/>
        </p:nvSpPr>
        <p:spPr>
          <a:xfrm>
            <a:off x="6611112" y="585216"/>
            <a:ext cx="2322576" cy="27432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Impact</a:t>
            </a:r>
            <a:endParaRPr lang="en-US" sz="1500" dirty="0"/>
          </a:p>
        </p:txBody>
      </p:sp>
      <p:sp>
        <p:nvSpPr>
          <p:cNvPr id="53" name="Text 51"/>
          <p:cNvSpPr/>
          <p:nvPr/>
        </p:nvSpPr>
        <p:spPr>
          <a:xfrm>
            <a:off x="6611112" y="859536"/>
            <a:ext cx="2322576" cy="182880"/>
          </a:xfrm>
          <a:prstGeom prst="rect">
            <a:avLst/>
          </a:prstGeom>
          <a:noFill/>
          <a:ln/>
        </p:spPr>
        <p:txBody>
          <a:bodyPr wrap="square" lIns="0" tIns="0" rIns="0" bIns="0" rtlCol="0" anchor="ctr"/>
          <a:lstStyle/>
          <a:p>
            <a:pPr marL="0" indent="0">
              <a:buNone/>
            </a:pPr>
            <a:r>
              <a:rPr lang="en-US" sz="800" kern="0" spc="100" dirty="0">
                <a:solidFill>
                  <a:srgbClr val="FFFFFF">
                    <a:alpha val="64000"/>
                  </a:srgbClr>
                </a:solidFill>
                <a:latin typeface="Arial" pitchFamily="34" charset="0"/>
                <a:ea typeface="Arial" pitchFamily="34" charset="-122"/>
                <a:cs typeface="Arial" pitchFamily="34" charset="-120"/>
              </a:rPr>
              <a:t>THE OUTCOME</a:t>
            </a:r>
            <a:endParaRPr lang="en-US" sz="800" dirty="0"/>
          </a:p>
        </p:txBody>
      </p:sp>
      <p:sp>
        <p:nvSpPr>
          <p:cNvPr id="54" name="Shape 52"/>
          <p:cNvSpPr/>
          <p:nvPr/>
        </p:nvSpPr>
        <p:spPr>
          <a:xfrm>
            <a:off x="6199632" y="1225296"/>
            <a:ext cx="2706624" cy="1170432"/>
          </a:xfrm>
          <a:prstGeom prst="roundRect">
            <a:avLst>
              <a:gd name="adj" fmla="val 4688"/>
            </a:avLst>
          </a:prstGeom>
          <a:solidFill>
            <a:srgbClr val="E3F2FD"/>
          </a:solidFill>
          <a:ln/>
        </p:spPr>
        <p:txBody>
          <a:bodyPr/>
          <a:lstStyle/>
          <a:p>
            <a:endParaRPr lang="en-MY"/>
          </a:p>
        </p:txBody>
      </p:sp>
      <p:sp>
        <p:nvSpPr>
          <p:cNvPr id="55" name="Shape 53"/>
          <p:cNvSpPr/>
          <p:nvPr/>
        </p:nvSpPr>
        <p:spPr>
          <a:xfrm>
            <a:off x="6199632" y="1225296"/>
            <a:ext cx="38405" cy="1170432"/>
          </a:xfrm>
          <a:prstGeom prst="rect">
            <a:avLst/>
          </a:prstGeom>
          <a:solidFill>
            <a:srgbClr val="1976D2"/>
          </a:solidFill>
          <a:ln/>
        </p:spPr>
        <p:txBody>
          <a:bodyPr/>
          <a:lstStyle/>
          <a:p>
            <a:endParaRPr lang="en-MY"/>
          </a:p>
        </p:txBody>
      </p:sp>
      <p:sp>
        <p:nvSpPr>
          <p:cNvPr id="56" name="Text 54"/>
          <p:cNvSpPr/>
          <p:nvPr/>
        </p:nvSpPr>
        <p:spPr>
          <a:xfrm>
            <a:off x="6291072" y="1271016"/>
            <a:ext cx="2578608" cy="192024"/>
          </a:xfrm>
          <a:prstGeom prst="rect">
            <a:avLst/>
          </a:prstGeom>
          <a:noFill/>
          <a:ln/>
        </p:spPr>
        <p:txBody>
          <a:bodyPr wrap="square" lIns="0" tIns="0" rIns="0" bIns="0" rtlCol="0" anchor="ctr"/>
          <a:lstStyle/>
          <a:p>
            <a:pPr marL="0" indent="0">
              <a:buNone/>
            </a:pPr>
            <a:r>
              <a:rPr lang="en-US" sz="1050" b="1" dirty="0">
                <a:solidFill>
                  <a:srgbClr val="1976D2"/>
                </a:solidFill>
                <a:latin typeface="Arial" pitchFamily="34" charset="0"/>
                <a:ea typeface="Arial" pitchFamily="34" charset="-122"/>
                <a:cs typeface="Arial" pitchFamily="34" charset="-120"/>
              </a:rPr>
              <a:t>Confident Students</a:t>
            </a:r>
            <a:endParaRPr lang="en-US" sz="1050" dirty="0"/>
          </a:p>
        </p:txBody>
      </p:sp>
      <p:sp>
        <p:nvSpPr>
          <p:cNvPr id="57" name="Text 55"/>
          <p:cNvSpPr/>
          <p:nvPr/>
        </p:nvSpPr>
        <p:spPr>
          <a:xfrm>
            <a:off x="6291072" y="1453896"/>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Making decisions based on data and their own personal profile</a:t>
            </a:r>
            <a:endParaRPr lang="en-US" sz="1000" dirty="0"/>
          </a:p>
        </p:txBody>
      </p:sp>
      <p:sp>
        <p:nvSpPr>
          <p:cNvPr id="58" name="Shape 56"/>
          <p:cNvSpPr/>
          <p:nvPr/>
        </p:nvSpPr>
        <p:spPr>
          <a:xfrm>
            <a:off x="6199632" y="2487168"/>
            <a:ext cx="2706624" cy="1170432"/>
          </a:xfrm>
          <a:prstGeom prst="roundRect">
            <a:avLst>
              <a:gd name="adj" fmla="val 4688"/>
            </a:avLst>
          </a:prstGeom>
          <a:solidFill>
            <a:srgbClr val="F3E5F5"/>
          </a:solidFill>
          <a:ln/>
        </p:spPr>
        <p:txBody>
          <a:bodyPr/>
          <a:lstStyle/>
          <a:p>
            <a:endParaRPr lang="en-MY"/>
          </a:p>
        </p:txBody>
      </p:sp>
      <p:sp>
        <p:nvSpPr>
          <p:cNvPr id="59" name="Shape 57"/>
          <p:cNvSpPr/>
          <p:nvPr/>
        </p:nvSpPr>
        <p:spPr>
          <a:xfrm>
            <a:off x="6199632" y="2487168"/>
            <a:ext cx="38405" cy="1170432"/>
          </a:xfrm>
          <a:prstGeom prst="rect">
            <a:avLst/>
          </a:prstGeom>
          <a:solidFill>
            <a:srgbClr val="7B1FA2"/>
          </a:solidFill>
          <a:ln/>
        </p:spPr>
        <p:txBody>
          <a:bodyPr/>
          <a:lstStyle/>
          <a:p>
            <a:endParaRPr lang="en-MY"/>
          </a:p>
        </p:txBody>
      </p:sp>
      <p:sp>
        <p:nvSpPr>
          <p:cNvPr id="60" name="Text 58"/>
          <p:cNvSpPr/>
          <p:nvPr/>
        </p:nvSpPr>
        <p:spPr>
          <a:xfrm>
            <a:off x="6291072" y="2532888"/>
            <a:ext cx="2578608" cy="192024"/>
          </a:xfrm>
          <a:prstGeom prst="rect">
            <a:avLst/>
          </a:prstGeom>
          <a:noFill/>
          <a:ln/>
        </p:spPr>
        <p:txBody>
          <a:bodyPr wrap="square" lIns="0" tIns="0" rIns="0" bIns="0" rtlCol="0" anchor="ctr"/>
          <a:lstStyle/>
          <a:p>
            <a:pPr marL="0" indent="0">
              <a:buNone/>
            </a:pPr>
            <a:r>
              <a:rPr lang="en-US" sz="1050" b="1" dirty="0">
                <a:solidFill>
                  <a:srgbClr val="7B1FA2"/>
                </a:solidFill>
                <a:latin typeface="Arial" pitchFamily="34" charset="0"/>
                <a:ea typeface="Arial" pitchFamily="34" charset="-122"/>
                <a:cs typeface="Arial" pitchFamily="34" charset="-120"/>
              </a:rPr>
              <a:t>Reassured Parents</a:t>
            </a:r>
            <a:endParaRPr lang="en-US" sz="1050" dirty="0"/>
          </a:p>
        </p:txBody>
      </p:sp>
      <p:sp>
        <p:nvSpPr>
          <p:cNvPr id="61" name="Text 59"/>
          <p:cNvSpPr/>
          <p:nvPr/>
        </p:nvSpPr>
        <p:spPr>
          <a:xfrm>
            <a:off x="6291072" y="2715768"/>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A clear picture of all available options for their child</a:t>
            </a:r>
            <a:endParaRPr lang="en-US" sz="1000" dirty="0"/>
          </a:p>
        </p:txBody>
      </p:sp>
      <p:sp>
        <p:nvSpPr>
          <p:cNvPr id="62" name="Shape 60"/>
          <p:cNvSpPr/>
          <p:nvPr/>
        </p:nvSpPr>
        <p:spPr>
          <a:xfrm>
            <a:off x="6199632" y="3749040"/>
            <a:ext cx="2706624" cy="1170432"/>
          </a:xfrm>
          <a:prstGeom prst="roundRect">
            <a:avLst>
              <a:gd name="adj" fmla="val 4688"/>
            </a:avLst>
          </a:prstGeom>
          <a:solidFill>
            <a:srgbClr val="E0F2F1"/>
          </a:solidFill>
          <a:ln/>
        </p:spPr>
        <p:txBody>
          <a:bodyPr/>
          <a:lstStyle/>
          <a:p>
            <a:endParaRPr lang="en-MY"/>
          </a:p>
        </p:txBody>
      </p:sp>
      <p:sp>
        <p:nvSpPr>
          <p:cNvPr id="63" name="Shape 61"/>
          <p:cNvSpPr/>
          <p:nvPr/>
        </p:nvSpPr>
        <p:spPr>
          <a:xfrm>
            <a:off x="6199632" y="3749040"/>
            <a:ext cx="38405" cy="1170432"/>
          </a:xfrm>
          <a:prstGeom prst="rect">
            <a:avLst/>
          </a:prstGeom>
          <a:solidFill>
            <a:srgbClr val="00897B"/>
          </a:solidFill>
          <a:ln/>
        </p:spPr>
        <p:txBody>
          <a:bodyPr/>
          <a:lstStyle/>
          <a:p>
            <a:endParaRPr lang="en-MY"/>
          </a:p>
        </p:txBody>
      </p:sp>
      <p:sp>
        <p:nvSpPr>
          <p:cNvPr id="64" name="Text 62"/>
          <p:cNvSpPr/>
          <p:nvPr/>
        </p:nvSpPr>
        <p:spPr>
          <a:xfrm>
            <a:off x="6291072" y="3794760"/>
            <a:ext cx="2578608" cy="192024"/>
          </a:xfrm>
          <a:prstGeom prst="rect">
            <a:avLst/>
          </a:prstGeom>
          <a:noFill/>
          <a:ln/>
        </p:spPr>
        <p:txBody>
          <a:bodyPr wrap="square" lIns="0" tIns="0" rIns="0" bIns="0" rtlCol="0" anchor="ctr"/>
          <a:lstStyle/>
          <a:p>
            <a:pPr marL="0" indent="0">
              <a:buNone/>
            </a:pPr>
            <a:r>
              <a:rPr lang="en-US" sz="1050" b="1" dirty="0">
                <a:solidFill>
                  <a:srgbClr val="00897B"/>
                </a:solidFill>
                <a:latin typeface="Arial" pitchFamily="34" charset="0"/>
                <a:ea typeface="Arial" pitchFamily="34" charset="-122"/>
                <a:cs typeface="Arial" pitchFamily="34" charset="-120"/>
              </a:rPr>
              <a:t>Empowered Educators</a:t>
            </a:r>
            <a:endParaRPr lang="en-US" sz="1050" dirty="0"/>
          </a:p>
        </p:txBody>
      </p:sp>
      <p:sp>
        <p:nvSpPr>
          <p:cNvPr id="65" name="Text 63"/>
          <p:cNvSpPr/>
          <p:nvPr/>
        </p:nvSpPr>
        <p:spPr>
          <a:xfrm>
            <a:off x="6291072" y="3977640"/>
            <a:ext cx="2578608" cy="896112"/>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An effective and accurate student guidance support tool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System Overview</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04 / 10</a:t>
            </a:r>
            <a:endParaRPr lang="en-US" sz="900" dirty="0"/>
          </a:p>
        </p:txBody>
      </p:sp>
      <p:sp>
        <p:nvSpPr>
          <p:cNvPr id="6" name="Shape 4"/>
          <p:cNvSpPr/>
          <p:nvPr/>
        </p:nvSpPr>
        <p:spPr>
          <a:xfrm>
            <a:off x="118872" y="512064"/>
            <a:ext cx="1956816" cy="4544568"/>
          </a:xfrm>
          <a:prstGeom prst="roundRect">
            <a:avLst>
              <a:gd name="adj" fmla="val 3738"/>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Shape 5"/>
          <p:cNvSpPr/>
          <p:nvPr/>
        </p:nvSpPr>
        <p:spPr>
          <a:xfrm>
            <a:off x="274320" y="658368"/>
            <a:ext cx="1645920" cy="1645920"/>
          </a:xfrm>
          <a:prstGeom prst="ellipse">
            <a:avLst/>
          </a:prstGeom>
          <a:solidFill>
            <a:srgbClr val="388E3C"/>
          </a:solidFill>
          <a:ln/>
        </p:spPr>
        <p:txBody>
          <a:bodyPr/>
          <a:lstStyle/>
          <a:p>
            <a:endParaRPr lang="en-MY"/>
          </a:p>
        </p:txBody>
      </p:sp>
      <p:sp>
        <p:nvSpPr>
          <p:cNvPr id="8" name="Shape 6"/>
          <p:cNvSpPr/>
          <p:nvPr/>
        </p:nvSpPr>
        <p:spPr>
          <a:xfrm>
            <a:off x="274320" y="658368"/>
            <a:ext cx="1645920" cy="1645920"/>
          </a:xfrm>
          <a:prstGeom prst="ellipse">
            <a:avLst/>
          </a:prstGeom>
          <a:solidFill>
            <a:srgbClr val="1976D2">
              <a:alpha val="50000"/>
            </a:srgbClr>
          </a:solidFill>
          <a:ln/>
        </p:spPr>
        <p:txBody>
          <a:bodyPr/>
          <a:lstStyle/>
          <a:p>
            <a:endParaRPr lang="en-MY"/>
          </a:p>
        </p:txBody>
      </p:sp>
      <p:sp>
        <p:nvSpPr>
          <p:cNvPr id="9" name="Text 7"/>
          <p:cNvSpPr/>
          <p:nvPr/>
        </p:nvSpPr>
        <p:spPr>
          <a:xfrm>
            <a:off x="274320" y="658368"/>
            <a:ext cx="1645920" cy="804672"/>
          </a:xfrm>
          <a:prstGeom prst="rect">
            <a:avLst/>
          </a:prstGeom>
          <a:noFill/>
          <a:ln/>
        </p:spPr>
        <p:txBody>
          <a:bodyPr wrap="square" lIns="0" tIns="0" rIns="0" bIns="0" rtlCol="0" anchor="b"/>
          <a:lstStyle/>
          <a:p>
            <a:pPr marL="0" indent="0" algn="ctr">
              <a:buNone/>
            </a:pPr>
            <a:r>
              <a:rPr lang="en-US" sz="1800" b="1" dirty="0">
                <a:solidFill>
                  <a:srgbClr val="FFFFFF"/>
                </a:solidFill>
                <a:latin typeface="Arial" pitchFamily="34" charset="0"/>
                <a:ea typeface="Arial" pitchFamily="34" charset="-122"/>
                <a:cs typeface="Arial" pitchFamily="34" charset="-120"/>
              </a:rPr>
              <a:t>DELIMa</a:t>
            </a:r>
            <a:endParaRPr lang="en-US" sz="1800" dirty="0"/>
          </a:p>
        </p:txBody>
      </p:sp>
      <p:sp>
        <p:nvSpPr>
          <p:cNvPr id="10" name="Text 8"/>
          <p:cNvSpPr/>
          <p:nvPr/>
        </p:nvSpPr>
        <p:spPr>
          <a:xfrm>
            <a:off x="274320" y="1463040"/>
            <a:ext cx="1645920" cy="347472"/>
          </a:xfrm>
          <a:prstGeom prst="rect">
            <a:avLst/>
          </a:prstGeom>
          <a:noFill/>
          <a:ln/>
        </p:spPr>
        <p:txBody>
          <a:bodyPr wrap="square" lIns="0" tIns="0" rIns="0" bIns="0" rtlCol="0" anchor="ctr"/>
          <a:lstStyle/>
          <a:p>
            <a:pPr marL="0" indent="0" algn="ctr">
              <a:buNone/>
            </a:pPr>
            <a:r>
              <a:rPr lang="en-US" sz="850" dirty="0">
                <a:solidFill>
                  <a:srgbClr val="FFFFFF">
                    <a:alpha val="76000"/>
                  </a:srgbClr>
                </a:solidFill>
                <a:latin typeface="Arial" pitchFamily="34" charset="0"/>
                <a:ea typeface="Arial" pitchFamily="34" charset="-122"/>
                <a:cs typeface="Arial" pitchFamily="34" charset="-120"/>
              </a:rPr>
              <a:t>Core Platform</a:t>
            </a:r>
            <a:endParaRPr lang="en-US" sz="850" dirty="0"/>
          </a:p>
        </p:txBody>
      </p:sp>
      <p:sp>
        <p:nvSpPr>
          <p:cNvPr id="11" name="Text 9"/>
          <p:cNvSpPr/>
          <p:nvPr/>
        </p:nvSpPr>
        <p:spPr>
          <a:xfrm>
            <a:off x="201168" y="2423160"/>
            <a:ext cx="1792224" cy="777240"/>
          </a:xfrm>
          <a:prstGeom prst="rect">
            <a:avLst/>
          </a:prstGeom>
          <a:noFill/>
          <a:ln/>
        </p:spPr>
        <p:txBody>
          <a:bodyPr wrap="square" lIns="0" tIns="0" rIns="0" bIns="0" rtlCol="0" anchor="ctr"/>
          <a:lstStyle/>
          <a:p>
            <a:pPr marL="0" indent="0" algn="ctr">
              <a:buNone/>
            </a:pPr>
            <a:r>
              <a:rPr lang="en-US" sz="1050" dirty="0">
                <a:solidFill>
                  <a:srgbClr val="82868B"/>
                </a:solidFill>
                <a:latin typeface="Arial" pitchFamily="34" charset="0"/>
                <a:ea typeface="Arial" pitchFamily="34" charset="-122"/>
                <a:cs typeface="Arial" pitchFamily="34" charset="-120"/>
              </a:rPr>
              <a:t>Malaysia Scholarship</a:t>
            </a:r>
            <a:endParaRPr lang="en-US" sz="1050" dirty="0"/>
          </a:p>
          <a:p>
            <a:pPr marL="0" indent="0" algn="ctr">
              <a:buNone/>
            </a:pPr>
            <a:r>
              <a:rPr lang="en-US" sz="1050" dirty="0">
                <a:solidFill>
                  <a:srgbClr val="82868B"/>
                </a:solidFill>
                <a:latin typeface="Arial" pitchFamily="34" charset="0"/>
                <a:ea typeface="Arial" pitchFamily="34" charset="-122"/>
                <a:cs typeface="Arial" pitchFamily="34" charset="-120"/>
              </a:rPr>
              <a:t>&amp; Higher Education Institution</a:t>
            </a:r>
            <a:endParaRPr lang="en-US" sz="1050" dirty="0"/>
          </a:p>
          <a:p>
            <a:pPr marL="0" indent="0" algn="ctr">
              <a:buNone/>
            </a:pPr>
            <a:r>
              <a:rPr lang="en-US" sz="1050" dirty="0">
                <a:solidFill>
                  <a:srgbClr val="82868B"/>
                </a:solidFill>
                <a:latin typeface="Arial" pitchFamily="34" charset="0"/>
                <a:ea typeface="Arial" pitchFamily="34" charset="-122"/>
                <a:cs typeface="Arial" pitchFamily="34" charset="-120"/>
              </a:rPr>
              <a:t>Matching System</a:t>
            </a:r>
            <a:endParaRPr lang="en-US" sz="1050" dirty="0"/>
          </a:p>
        </p:txBody>
      </p:sp>
      <p:sp>
        <p:nvSpPr>
          <p:cNvPr id="12" name="Shape 10"/>
          <p:cNvSpPr/>
          <p:nvPr/>
        </p:nvSpPr>
        <p:spPr>
          <a:xfrm>
            <a:off x="274320" y="3310128"/>
            <a:ext cx="1463040" cy="201168"/>
          </a:xfrm>
          <a:prstGeom prst="roundRect">
            <a:avLst>
              <a:gd name="adj" fmla="val 50000"/>
            </a:avLst>
          </a:prstGeom>
          <a:solidFill>
            <a:srgbClr val="E8F5E9"/>
          </a:solidFill>
          <a:ln/>
        </p:spPr>
        <p:txBody>
          <a:bodyPr/>
          <a:lstStyle/>
          <a:p>
            <a:endParaRPr lang="en-MY"/>
          </a:p>
        </p:txBody>
      </p:sp>
      <p:sp>
        <p:nvSpPr>
          <p:cNvPr id="13" name="Text 11"/>
          <p:cNvSpPr/>
          <p:nvPr/>
        </p:nvSpPr>
        <p:spPr>
          <a:xfrm>
            <a:off x="274320" y="3310128"/>
            <a:ext cx="1463040" cy="201168"/>
          </a:xfrm>
          <a:prstGeom prst="rect">
            <a:avLst/>
          </a:prstGeom>
          <a:noFill/>
          <a:ln/>
        </p:spPr>
        <p:txBody>
          <a:bodyPr wrap="square" lIns="0" tIns="0" rIns="0" bIns="0" rtlCol="0" anchor="ctr"/>
          <a:lstStyle/>
          <a:p>
            <a:pPr marL="0" indent="0" algn="ctr">
              <a:buNone/>
            </a:pPr>
            <a:r>
              <a:rPr lang="en-US" sz="850" b="1" dirty="0">
                <a:solidFill>
                  <a:srgbClr val="388E3C"/>
                </a:solidFill>
                <a:latin typeface="Arial" pitchFamily="34" charset="0"/>
                <a:ea typeface="Arial" pitchFamily="34" charset="-122"/>
                <a:cs typeface="Arial" pitchFamily="34" charset="-120"/>
              </a:rPr>
              <a:t>23 Scholarships</a:t>
            </a:r>
            <a:endParaRPr lang="en-US" sz="850" dirty="0"/>
          </a:p>
        </p:txBody>
      </p:sp>
      <p:sp>
        <p:nvSpPr>
          <p:cNvPr id="14" name="Shape 12"/>
          <p:cNvSpPr/>
          <p:nvPr/>
        </p:nvSpPr>
        <p:spPr>
          <a:xfrm>
            <a:off x="274320" y="3566160"/>
            <a:ext cx="1463040" cy="201168"/>
          </a:xfrm>
          <a:prstGeom prst="roundRect">
            <a:avLst>
              <a:gd name="adj" fmla="val 50000"/>
            </a:avLst>
          </a:prstGeom>
          <a:solidFill>
            <a:srgbClr val="E3F2FD"/>
          </a:solidFill>
          <a:ln/>
        </p:spPr>
        <p:txBody>
          <a:bodyPr/>
          <a:lstStyle/>
          <a:p>
            <a:endParaRPr lang="en-MY"/>
          </a:p>
        </p:txBody>
      </p:sp>
      <p:sp>
        <p:nvSpPr>
          <p:cNvPr id="15" name="Text 13"/>
          <p:cNvSpPr/>
          <p:nvPr/>
        </p:nvSpPr>
        <p:spPr>
          <a:xfrm>
            <a:off x="274320" y="3566160"/>
            <a:ext cx="1463040" cy="201168"/>
          </a:xfrm>
          <a:prstGeom prst="rect">
            <a:avLst/>
          </a:prstGeom>
          <a:noFill/>
          <a:ln/>
        </p:spPr>
        <p:txBody>
          <a:bodyPr wrap="square" lIns="0" tIns="0" rIns="0" bIns="0" rtlCol="0" anchor="ctr"/>
          <a:lstStyle/>
          <a:p>
            <a:pPr marL="0" indent="0" algn="ctr">
              <a:buNone/>
            </a:pPr>
            <a:r>
              <a:rPr lang="en-US" sz="850" b="1" dirty="0">
                <a:solidFill>
                  <a:srgbClr val="1976D2"/>
                </a:solidFill>
                <a:latin typeface="Arial" pitchFamily="34" charset="0"/>
                <a:ea typeface="Arial" pitchFamily="34" charset="-122"/>
                <a:cs typeface="Arial" pitchFamily="34" charset="-120"/>
              </a:rPr>
              <a:t>30 Higher Education Institution Institutions</a:t>
            </a:r>
            <a:endParaRPr lang="en-US" sz="850" dirty="0"/>
          </a:p>
        </p:txBody>
      </p:sp>
      <p:sp>
        <p:nvSpPr>
          <p:cNvPr id="16" name="Shape 14"/>
          <p:cNvSpPr/>
          <p:nvPr/>
        </p:nvSpPr>
        <p:spPr>
          <a:xfrm>
            <a:off x="274320" y="3822192"/>
            <a:ext cx="1463040" cy="201168"/>
          </a:xfrm>
          <a:prstGeom prst="roundRect">
            <a:avLst>
              <a:gd name="adj" fmla="val 50000"/>
            </a:avLst>
          </a:prstGeom>
          <a:solidFill>
            <a:srgbClr val="FFF8E1"/>
          </a:solidFill>
          <a:ln/>
        </p:spPr>
        <p:txBody>
          <a:bodyPr/>
          <a:lstStyle/>
          <a:p>
            <a:endParaRPr lang="en-MY"/>
          </a:p>
        </p:txBody>
      </p:sp>
      <p:sp>
        <p:nvSpPr>
          <p:cNvPr id="17" name="Text 15"/>
          <p:cNvSpPr/>
          <p:nvPr/>
        </p:nvSpPr>
        <p:spPr>
          <a:xfrm>
            <a:off x="274320" y="3822192"/>
            <a:ext cx="1463040" cy="201168"/>
          </a:xfrm>
          <a:prstGeom prst="rect">
            <a:avLst/>
          </a:prstGeom>
          <a:noFill/>
          <a:ln/>
        </p:spPr>
        <p:txBody>
          <a:bodyPr wrap="square" lIns="0" tIns="0" rIns="0" bIns="0" rtlCol="0" anchor="ctr"/>
          <a:lstStyle/>
          <a:p>
            <a:pPr marL="0" indent="0" algn="ctr">
              <a:buNone/>
            </a:pPr>
            <a:r>
              <a:rPr lang="en-US" sz="850" b="1" dirty="0">
                <a:solidFill>
                  <a:srgbClr val="FF8F00"/>
                </a:solidFill>
                <a:latin typeface="Arial" pitchFamily="34" charset="0"/>
                <a:ea typeface="Arial" pitchFamily="34" charset="-122"/>
                <a:cs typeface="Arial" pitchFamily="34" charset="-120"/>
              </a:rPr>
              <a:t>100% Free</a:t>
            </a:r>
            <a:endParaRPr lang="en-US" sz="850" dirty="0"/>
          </a:p>
        </p:txBody>
      </p:sp>
      <p:sp>
        <p:nvSpPr>
          <p:cNvPr id="18" name="Shape 16"/>
          <p:cNvSpPr/>
          <p:nvPr/>
        </p:nvSpPr>
        <p:spPr>
          <a:xfrm>
            <a:off x="274320" y="4078224"/>
            <a:ext cx="1463040" cy="201168"/>
          </a:xfrm>
          <a:prstGeom prst="roundRect">
            <a:avLst>
              <a:gd name="adj" fmla="val 50000"/>
            </a:avLst>
          </a:prstGeom>
          <a:solidFill>
            <a:srgbClr val="E0F2F1"/>
          </a:solidFill>
          <a:ln/>
        </p:spPr>
        <p:txBody>
          <a:bodyPr/>
          <a:lstStyle/>
          <a:p>
            <a:endParaRPr lang="en-MY"/>
          </a:p>
        </p:txBody>
      </p:sp>
      <p:sp>
        <p:nvSpPr>
          <p:cNvPr id="19" name="Text 17"/>
          <p:cNvSpPr/>
          <p:nvPr/>
        </p:nvSpPr>
        <p:spPr>
          <a:xfrm>
            <a:off x="274320" y="4078224"/>
            <a:ext cx="1463040" cy="201168"/>
          </a:xfrm>
          <a:prstGeom prst="rect">
            <a:avLst/>
          </a:prstGeom>
          <a:noFill/>
          <a:ln/>
        </p:spPr>
        <p:txBody>
          <a:bodyPr wrap="square" lIns="0" tIns="0" rIns="0" bIns="0" rtlCol="0" anchor="ctr"/>
          <a:lstStyle/>
          <a:p>
            <a:pPr marL="0" indent="0" algn="ctr">
              <a:buNone/>
            </a:pPr>
            <a:r>
              <a:rPr lang="en-US" sz="850" b="1" dirty="0">
                <a:solidFill>
                  <a:srgbClr val="00897B"/>
                </a:solidFill>
                <a:latin typeface="Arial" pitchFamily="34" charset="0"/>
                <a:ea typeface="Arial" pitchFamily="34" charset="-122"/>
                <a:cs typeface="Arial" pitchFamily="34" charset="-120"/>
              </a:rPr>
              <a:t>Node.js + PostgreSQL</a:t>
            </a:r>
            <a:endParaRPr lang="en-US" sz="850" dirty="0"/>
          </a:p>
        </p:txBody>
      </p:sp>
      <p:sp>
        <p:nvSpPr>
          <p:cNvPr id="20" name="Shape 18"/>
          <p:cNvSpPr/>
          <p:nvPr/>
        </p:nvSpPr>
        <p:spPr>
          <a:xfrm>
            <a:off x="2231136" y="1298448"/>
            <a:ext cx="29261" cy="2743200"/>
          </a:xfrm>
          <a:prstGeom prst="rect">
            <a:avLst/>
          </a:prstGeom>
          <a:solidFill>
            <a:srgbClr val="D4E9E2"/>
          </a:solidFill>
          <a:ln/>
        </p:spPr>
        <p:txBody>
          <a:bodyPr/>
          <a:lstStyle/>
          <a:p>
            <a:endParaRPr lang="en-MY"/>
          </a:p>
        </p:txBody>
      </p:sp>
      <p:sp>
        <p:nvSpPr>
          <p:cNvPr id="21" name="Shape 19"/>
          <p:cNvSpPr/>
          <p:nvPr/>
        </p:nvSpPr>
        <p:spPr>
          <a:xfrm>
            <a:off x="2075688" y="1344168"/>
            <a:ext cx="384048" cy="29261"/>
          </a:xfrm>
          <a:prstGeom prst="rect">
            <a:avLst/>
          </a:prstGeom>
          <a:solidFill>
            <a:srgbClr val="D4E9E2"/>
          </a:solidFill>
          <a:ln/>
        </p:spPr>
        <p:txBody>
          <a:bodyPr/>
          <a:lstStyle/>
          <a:p>
            <a:endParaRPr lang="en-MY"/>
          </a:p>
        </p:txBody>
      </p:sp>
      <p:sp>
        <p:nvSpPr>
          <p:cNvPr id="22" name="Shape 20"/>
          <p:cNvSpPr/>
          <p:nvPr/>
        </p:nvSpPr>
        <p:spPr>
          <a:xfrm>
            <a:off x="2075688" y="2670048"/>
            <a:ext cx="384048" cy="29261"/>
          </a:xfrm>
          <a:prstGeom prst="rect">
            <a:avLst/>
          </a:prstGeom>
          <a:solidFill>
            <a:srgbClr val="D4E9E2"/>
          </a:solidFill>
          <a:ln/>
        </p:spPr>
        <p:txBody>
          <a:bodyPr/>
          <a:lstStyle/>
          <a:p>
            <a:endParaRPr lang="en-MY"/>
          </a:p>
        </p:txBody>
      </p:sp>
      <p:sp>
        <p:nvSpPr>
          <p:cNvPr id="23" name="Shape 21"/>
          <p:cNvSpPr/>
          <p:nvPr/>
        </p:nvSpPr>
        <p:spPr>
          <a:xfrm>
            <a:off x="2075688" y="4005072"/>
            <a:ext cx="384048" cy="29261"/>
          </a:xfrm>
          <a:prstGeom prst="rect">
            <a:avLst/>
          </a:prstGeom>
          <a:solidFill>
            <a:srgbClr val="D4E9E2"/>
          </a:solidFill>
          <a:ln/>
        </p:spPr>
        <p:txBody>
          <a:bodyPr/>
          <a:lstStyle/>
          <a:p>
            <a:endParaRPr lang="en-MY"/>
          </a:p>
        </p:txBody>
      </p:sp>
      <p:sp>
        <p:nvSpPr>
          <p:cNvPr id="24" name="Shape 22"/>
          <p:cNvSpPr/>
          <p:nvPr/>
        </p:nvSpPr>
        <p:spPr>
          <a:xfrm>
            <a:off x="2368296" y="512064"/>
            <a:ext cx="6656832" cy="1243584"/>
          </a:xfrm>
          <a:prstGeom prst="roundRect">
            <a:avLst>
              <a:gd name="adj" fmla="val 5882"/>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25" name="Shape 23"/>
          <p:cNvSpPr/>
          <p:nvPr/>
        </p:nvSpPr>
        <p:spPr>
          <a:xfrm>
            <a:off x="2368296" y="512064"/>
            <a:ext cx="274320" cy="1243584"/>
          </a:xfrm>
          <a:prstGeom prst="roundRect">
            <a:avLst>
              <a:gd name="adj" fmla="val 20000"/>
            </a:avLst>
          </a:prstGeom>
          <a:solidFill>
            <a:srgbClr val="388E3C">
              <a:alpha val="22000"/>
            </a:srgbClr>
          </a:solidFill>
          <a:ln/>
        </p:spPr>
        <p:txBody>
          <a:bodyPr/>
          <a:lstStyle/>
          <a:p>
            <a:endParaRPr lang="en-MY"/>
          </a:p>
        </p:txBody>
      </p:sp>
      <p:sp>
        <p:nvSpPr>
          <p:cNvPr id="26" name="Shape 24"/>
          <p:cNvSpPr/>
          <p:nvPr/>
        </p:nvSpPr>
        <p:spPr>
          <a:xfrm>
            <a:off x="2368296" y="566928"/>
            <a:ext cx="274320" cy="1133856"/>
          </a:xfrm>
          <a:prstGeom prst="rect">
            <a:avLst/>
          </a:prstGeom>
          <a:solidFill>
            <a:srgbClr val="388E3C">
              <a:alpha val="22000"/>
            </a:srgbClr>
          </a:solidFill>
          <a:ln/>
        </p:spPr>
        <p:txBody>
          <a:bodyPr/>
          <a:lstStyle/>
          <a:p>
            <a:endParaRPr lang="en-MY"/>
          </a:p>
        </p:txBody>
      </p:sp>
      <p:sp>
        <p:nvSpPr>
          <p:cNvPr id="27" name="Shape 25"/>
          <p:cNvSpPr/>
          <p:nvPr/>
        </p:nvSpPr>
        <p:spPr>
          <a:xfrm>
            <a:off x="2432304" y="1069848"/>
            <a:ext cx="128016" cy="128016"/>
          </a:xfrm>
          <a:prstGeom prst="ellipse">
            <a:avLst/>
          </a:prstGeom>
          <a:solidFill>
            <a:srgbClr val="388E3C"/>
          </a:solidFill>
          <a:ln/>
        </p:spPr>
        <p:txBody>
          <a:bodyPr/>
          <a:lstStyle/>
          <a:p>
            <a:endParaRPr lang="en-MY"/>
          </a:p>
        </p:txBody>
      </p:sp>
      <p:sp>
        <p:nvSpPr>
          <p:cNvPr id="28" name="Text 26"/>
          <p:cNvSpPr/>
          <p:nvPr/>
        </p:nvSpPr>
        <p:spPr>
          <a:xfrm>
            <a:off x="2743200" y="603504"/>
            <a:ext cx="6172200" cy="27432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What We Built</a:t>
            </a:r>
            <a:endParaRPr lang="en-US" sz="1350" dirty="0"/>
          </a:p>
        </p:txBody>
      </p:sp>
      <p:sp>
        <p:nvSpPr>
          <p:cNvPr id="29" name="Text 27"/>
          <p:cNvSpPr/>
          <p:nvPr/>
        </p:nvSpPr>
        <p:spPr>
          <a:xfrm>
            <a:off x="2743200" y="896112"/>
            <a:ext cx="6172200" cy="548640"/>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A complete system covering student registration, profile analysis, scholarship eligibility checking, Higher Education Institution matching, and automatic personal report generation — all in one integrated platform.</a:t>
            </a:r>
            <a:endParaRPr lang="en-US" sz="1050" dirty="0"/>
          </a:p>
        </p:txBody>
      </p:sp>
      <p:sp>
        <p:nvSpPr>
          <p:cNvPr id="30" name="Shape 28"/>
          <p:cNvSpPr/>
          <p:nvPr/>
        </p:nvSpPr>
        <p:spPr>
          <a:xfrm>
            <a:off x="2743200" y="1481328"/>
            <a:ext cx="1691640" cy="201168"/>
          </a:xfrm>
          <a:prstGeom prst="roundRect">
            <a:avLst>
              <a:gd name="adj" fmla="val 50000"/>
            </a:avLst>
          </a:prstGeom>
          <a:solidFill>
            <a:srgbClr val="E8F5E9"/>
          </a:solidFill>
          <a:ln/>
        </p:spPr>
        <p:txBody>
          <a:bodyPr/>
          <a:lstStyle/>
          <a:p>
            <a:endParaRPr lang="en-MY"/>
          </a:p>
        </p:txBody>
      </p:sp>
      <p:sp>
        <p:nvSpPr>
          <p:cNvPr id="31" name="Text 29"/>
          <p:cNvSpPr/>
          <p:nvPr/>
        </p:nvSpPr>
        <p:spPr>
          <a:xfrm>
            <a:off x="2743200" y="1481328"/>
            <a:ext cx="1691640" cy="201168"/>
          </a:xfrm>
          <a:prstGeom prst="rect">
            <a:avLst/>
          </a:prstGeom>
          <a:noFill/>
          <a:ln/>
        </p:spPr>
        <p:txBody>
          <a:bodyPr wrap="square" lIns="0" tIns="0" rIns="0" bIns="0" rtlCol="0" anchor="ctr"/>
          <a:lstStyle/>
          <a:p>
            <a:pPr marL="0" indent="0" algn="ctr">
              <a:buNone/>
            </a:pPr>
            <a:r>
              <a:rPr lang="en-US" sz="850" b="1" dirty="0">
                <a:solidFill>
                  <a:srgbClr val="388E3C"/>
                </a:solidFill>
                <a:latin typeface="Arial" pitchFamily="34" charset="0"/>
                <a:ea typeface="Arial" pitchFamily="34" charset="-122"/>
                <a:cs typeface="Arial" pitchFamily="34" charset="-120"/>
              </a:rPr>
              <a:t>Full-stack Web App</a:t>
            </a:r>
            <a:endParaRPr lang="en-US" sz="850" dirty="0"/>
          </a:p>
        </p:txBody>
      </p:sp>
      <p:sp>
        <p:nvSpPr>
          <p:cNvPr id="32" name="Shape 30"/>
          <p:cNvSpPr/>
          <p:nvPr/>
        </p:nvSpPr>
        <p:spPr>
          <a:xfrm>
            <a:off x="4507992" y="1481328"/>
            <a:ext cx="1691640" cy="201168"/>
          </a:xfrm>
          <a:prstGeom prst="roundRect">
            <a:avLst>
              <a:gd name="adj" fmla="val 50000"/>
            </a:avLst>
          </a:prstGeom>
          <a:solidFill>
            <a:srgbClr val="E3F2FD"/>
          </a:solidFill>
          <a:ln/>
        </p:spPr>
        <p:txBody>
          <a:bodyPr/>
          <a:lstStyle/>
          <a:p>
            <a:endParaRPr lang="en-MY"/>
          </a:p>
        </p:txBody>
      </p:sp>
      <p:sp>
        <p:nvSpPr>
          <p:cNvPr id="33" name="Text 31"/>
          <p:cNvSpPr/>
          <p:nvPr/>
        </p:nvSpPr>
        <p:spPr>
          <a:xfrm>
            <a:off x="4507992" y="1481328"/>
            <a:ext cx="1691640" cy="201168"/>
          </a:xfrm>
          <a:prstGeom prst="rect">
            <a:avLst/>
          </a:prstGeom>
          <a:noFill/>
          <a:ln/>
        </p:spPr>
        <p:txBody>
          <a:bodyPr wrap="square" lIns="0" tIns="0" rIns="0" bIns="0" rtlCol="0" anchor="ctr"/>
          <a:lstStyle/>
          <a:p>
            <a:pPr marL="0" indent="0" algn="ctr">
              <a:buNone/>
            </a:pPr>
            <a:r>
              <a:rPr lang="en-US" sz="850" b="1" dirty="0">
                <a:solidFill>
                  <a:srgbClr val="1976D2"/>
                </a:solidFill>
                <a:latin typeface="Arial" pitchFamily="34" charset="0"/>
                <a:ea typeface="Arial" pitchFamily="34" charset="-122"/>
                <a:cs typeface="Arial" pitchFamily="34" charset="-120"/>
              </a:rPr>
              <a:t>Node.js + PostgreSQL</a:t>
            </a:r>
            <a:endParaRPr lang="en-US" sz="850" dirty="0"/>
          </a:p>
        </p:txBody>
      </p:sp>
      <p:sp>
        <p:nvSpPr>
          <p:cNvPr id="34" name="Shape 32"/>
          <p:cNvSpPr/>
          <p:nvPr/>
        </p:nvSpPr>
        <p:spPr>
          <a:xfrm>
            <a:off x="2368296" y="1837944"/>
            <a:ext cx="6656832" cy="1243584"/>
          </a:xfrm>
          <a:prstGeom prst="roundRect">
            <a:avLst>
              <a:gd name="adj" fmla="val 5882"/>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35" name="Shape 33"/>
          <p:cNvSpPr/>
          <p:nvPr/>
        </p:nvSpPr>
        <p:spPr>
          <a:xfrm>
            <a:off x="2368296" y="1837944"/>
            <a:ext cx="274320" cy="1243584"/>
          </a:xfrm>
          <a:prstGeom prst="roundRect">
            <a:avLst>
              <a:gd name="adj" fmla="val 20000"/>
            </a:avLst>
          </a:prstGeom>
          <a:solidFill>
            <a:srgbClr val="1976D2">
              <a:alpha val="22000"/>
            </a:srgbClr>
          </a:solidFill>
          <a:ln/>
        </p:spPr>
        <p:txBody>
          <a:bodyPr/>
          <a:lstStyle/>
          <a:p>
            <a:endParaRPr lang="en-MY"/>
          </a:p>
        </p:txBody>
      </p:sp>
      <p:sp>
        <p:nvSpPr>
          <p:cNvPr id="36" name="Shape 34"/>
          <p:cNvSpPr/>
          <p:nvPr/>
        </p:nvSpPr>
        <p:spPr>
          <a:xfrm>
            <a:off x="2368296" y="1892808"/>
            <a:ext cx="274320" cy="1133856"/>
          </a:xfrm>
          <a:prstGeom prst="rect">
            <a:avLst/>
          </a:prstGeom>
          <a:solidFill>
            <a:srgbClr val="1976D2">
              <a:alpha val="22000"/>
            </a:srgbClr>
          </a:solidFill>
          <a:ln/>
        </p:spPr>
        <p:txBody>
          <a:bodyPr/>
          <a:lstStyle/>
          <a:p>
            <a:endParaRPr lang="en-MY"/>
          </a:p>
        </p:txBody>
      </p:sp>
      <p:sp>
        <p:nvSpPr>
          <p:cNvPr id="37" name="Shape 35"/>
          <p:cNvSpPr/>
          <p:nvPr/>
        </p:nvSpPr>
        <p:spPr>
          <a:xfrm>
            <a:off x="2432304" y="2395728"/>
            <a:ext cx="128016" cy="128016"/>
          </a:xfrm>
          <a:prstGeom prst="ellipse">
            <a:avLst/>
          </a:prstGeom>
          <a:solidFill>
            <a:srgbClr val="1976D2"/>
          </a:solidFill>
          <a:ln/>
        </p:spPr>
        <p:txBody>
          <a:bodyPr/>
          <a:lstStyle/>
          <a:p>
            <a:endParaRPr lang="en-MY"/>
          </a:p>
        </p:txBody>
      </p:sp>
      <p:sp>
        <p:nvSpPr>
          <p:cNvPr id="38" name="Text 36"/>
          <p:cNvSpPr/>
          <p:nvPr/>
        </p:nvSpPr>
        <p:spPr>
          <a:xfrm>
            <a:off x="2743200" y="1929384"/>
            <a:ext cx="6172200" cy="27432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Who Uses It</a:t>
            </a:r>
            <a:endParaRPr lang="en-US" sz="1350" dirty="0"/>
          </a:p>
        </p:txBody>
      </p:sp>
      <p:sp>
        <p:nvSpPr>
          <p:cNvPr id="39" name="Text 37"/>
          <p:cNvSpPr/>
          <p:nvPr/>
        </p:nvSpPr>
        <p:spPr>
          <a:xfrm>
            <a:off x="2743200" y="2221992"/>
            <a:ext cx="6172200" cy="548640"/>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All students across Malaysia regardless of school type, income group, or academic background. The system is designed to be fair and accessible to every student.</a:t>
            </a:r>
            <a:endParaRPr lang="en-US" sz="1050" dirty="0"/>
          </a:p>
        </p:txBody>
      </p:sp>
      <p:sp>
        <p:nvSpPr>
          <p:cNvPr id="40" name="Shape 38"/>
          <p:cNvSpPr/>
          <p:nvPr/>
        </p:nvSpPr>
        <p:spPr>
          <a:xfrm>
            <a:off x="2743200" y="2807208"/>
            <a:ext cx="1691640" cy="201168"/>
          </a:xfrm>
          <a:prstGeom prst="roundRect">
            <a:avLst>
              <a:gd name="adj" fmla="val 50000"/>
            </a:avLst>
          </a:prstGeom>
          <a:solidFill>
            <a:srgbClr val="E3F2FD"/>
          </a:solidFill>
          <a:ln/>
        </p:spPr>
        <p:txBody>
          <a:bodyPr/>
          <a:lstStyle/>
          <a:p>
            <a:endParaRPr lang="en-MY"/>
          </a:p>
        </p:txBody>
      </p:sp>
      <p:sp>
        <p:nvSpPr>
          <p:cNvPr id="41" name="Text 39"/>
          <p:cNvSpPr/>
          <p:nvPr/>
        </p:nvSpPr>
        <p:spPr>
          <a:xfrm>
            <a:off x="2743200" y="2807208"/>
            <a:ext cx="1691640" cy="201168"/>
          </a:xfrm>
          <a:prstGeom prst="rect">
            <a:avLst/>
          </a:prstGeom>
          <a:noFill/>
          <a:ln/>
        </p:spPr>
        <p:txBody>
          <a:bodyPr wrap="square" lIns="0" tIns="0" rIns="0" bIns="0" rtlCol="0" anchor="ctr"/>
          <a:lstStyle/>
          <a:p>
            <a:pPr marL="0" indent="0" algn="ctr">
              <a:buNone/>
            </a:pPr>
            <a:r>
              <a:rPr lang="en-US" sz="850" b="1" dirty="0">
                <a:solidFill>
                  <a:srgbClr val="1976D2"/>
                </a:solidFill>
                <a:latin typeface="Arial" pitchFamily="34" charset="0"/>
                <a:ea typeface="Arial" pitchFamily="34" charset="-122"/>
                <a:cs typeface="Arial" pitchFamily="34" charset="-120"/>
              </a:rPr>
              <a:t>All SPM Students</a:t>
            </a:r>
            <a:endParaRPr lang="en-US" sz="850" dirty="0"/>
          </a:p>
        </p:txBody>
      </p:sp>
      <p:sp>
        <p:nvSpPr>
          <p:cNvPr id="42" name="Shape 40"/>
          <p:cNvSpPr/>
          <p:nvPr/>
        </p:nvSpPr>
        <p:spPr>
          <a:xfrm>
            <a:off x="4507992" y="2807208"/>
            <a:ext cx="1691640" cy="201168"/>
          </a:xfrm>
          <a:prstGeom prst="roundRect">
            <a:avLst>
              <a:gd name="adj" fmla="val 50000"/>
            </a:avLst>
          </a:prstGeom>
          <a:solidFill>
            <a:srgbClr val="F3E5F5"/>
          </a:solidFill>
          <a:ln/>
        </p:spPr>
        <p:txBody>
          <a:bodyPr/>
          <a:lstStyle/>
          <a:p>
            <a:endParaRPr lang="en-MY"/>
          </a:p>
        </p:txBody>
      </p:sp>
      <p:sp>
        <p:nvSpPr>
          <p:cNvPr id="43" name="Text 41"/>
          <p:cNvSpPr/>
          <p:nvPr/>
        </p:nvSpPr>
        <p:spPr>
          <a:xfrm>
            <a:off x="4507992" y="2807208"/>
            <a:ext cx="1691640" cy="201168"/>
          </a:xfrm>
          <a:prstGeom prst="rect">
            <a:avLst/>
          </a:prstGeom>
          <a:noFill/>
          <a:ln/>
        </p:spPr>
        <p:txBody>
          <a:bodyPr wrap="square" lIns="0" tIns="0" rIns="0" bIns="0" rtlCol="0" anchor="ctr"/>
          <a:lstStyle/>
          <a:p>
            <a:pPr marL="0" indent="0" algn="ctr">
              <a:buNone/>
            </a:pPr>
            <a:r>
              <a:rPr lang="en-US" sz="850" b="1" dirty="0">
                <a:solidFill>
                  <a:srgbClr val="7B1FA2"/>
                </a:solidFill>
                <a:latin typeface="Arial" pitchFamily="34" charset="0"/>
                <a:ea typeface="Arial" pitchFamily="34" charset="-122"/>
                <a:cs typeface="Arial" pitchFamily="34" charset="-120"/>
              </a:rPr>
              <a:t>B40 / M40 / T20</a:t>
            </a:r>
            <a:endParaRPr lang="en-US" sz="850" dirty="0"/>
          </a:p>
        </p:txBody>
      </p:sp>
      <p:sp>
        <p:nvSpPr>
          <p:cNvPr id="44" name="Shape 42"/>
          <p:cNvSpPr/>
          <p:nvPr/>
        </p:nvSpPr>
        <p:spPr>
          <a:xfrm>
            <a:off x="2368296" y="3172968"/>
            <a:ext cx="6656832" cy="1243584"/>
          </a:xfrm>
          <a:prstGeom prst="roundRect">
            <a:avLst>
              <a:gd name="adj" fmla="val 5882"/>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45" name="Shape 43"/>
          <p:cNvSpPr/>
          <p:nvPr/>
        </p:nvSpPr>
        <p:spPr>
          <a:xfrm>
            <a:off x="2368296" y="3172968"/>
            <a:ext cx="274320" cy="1243584"/>
          </a:xfrm>
          <a:prstGeom prst="roundRect">
            <a:avLst>
              <a:gd name="adj" fmla="val 20000"/>
            </a:avLst>
          </a:prstGeom>
          <a:solidFill>
            <a:srgbClr val="00897B">
              <a:alpha val="22000"/>
            </a:srgbClr>
          </a:solidFill>
          <a:ln/>
        </p:spPr>
        <p:txBody>
          <a:bodyPr/>
          <a:lstStyle/>
          <a:p>
            <a:endParaRPr lang="en-MY"/>
          </a:p>
        </p:txBody>
      </p:sp>
      <p:sp>
        <p:nvSpPr>
          <p:cNvPr id="46" name="Shape 44"/>
          <p:cNvSpPr/>
          <p:nvPr/>
        </p:nvSpPr>
        <p:spPr>
          <a:xfrm>
            <a:off x="2368296" y="3227832"/>
            <a:ext cx="274320" cy="1133856"/>
          </a:xfrm>
          <a:prstGeom prst="rect">
            <a:avLst/>
          </a:prstGeom>
          <a:solidFill>
            <a:srgbClr val="00897B">
              <a:alpha val="22000"/>
            </a:srgbClr>
          </a:solidFill>
          <a:ln/>
        </p:spPr>
        <p:txBody>
          <a:bodyPr/>
          <a:lstStyle/>
          <a:p>
            <a:endParaRPr lang="en-MY"/>
          </a:p>
        </p:txBody>
      </p:sp>
      <p:sp>
        <p:nvSpPr>
          <p:cNvPr id="47" name="Shape 45"/>
          <p:cNvSpPr/>
          <p:nvPr/>
        </p:nvSpPr>
        <p:spPr>
          <a:xfrm>
            <a:off x="2432304" y="3730752"/>
            <a:ext cx="128016" cy="128016"/>
          </a:xfrm>
          <a:prstGeom prst="ellipse">
            <a:avLst/>
          </a:prstGeom>
          <a:solidFill>
            <a:srgbClr val="00897B"/>
          </a:solidFill>
          <a:ln/>
        </p:spPr>
        <p:txBody>
          <a:bodyPr/>
          <a:lstStyle/>
          <a:p>
            <a:endParaRPr lang="en-MY"/>
          </a:p>
        </p:txBody>
      </p:sp>
      <p:sp>
        <p:nvSpPr>
          <p:cNvPr id="48" name="Text 46"/>
          <p:cNvSpPr/>
          <p:nvPr/>
        </p:nvSpPr>
        <p:spPr>
          <a:xfrm>
            <a:off x="2743200" y="3264408"/>
            <a:ext cx="6172200" cy="27432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System Content</a:t>
            </a:r>
            <a:endParaRPr lang="en-US" sz="1350" dirty="0"/>
          </a:p>
        </p:txBody>
      </p:sp>
      <p:sp>
        <p:nvSpPr>
          <p:cNvPr id="49" name="Text 47"/>
          <p:cNvSpPr/>
          <p:nvPr/>
        </p:nvSpPr>
        <p:spPr>
          <a:xfrm>
            <a:off x="2743200" y="3557016"/>
            <a:ext cx="6172200" cy="548640"/>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23 scholarships and 30 Higher Education Institution loaded with complete criteria. Student profiles cover SPM results, co-curricular score, preferred field, and family income for comprehensive data.</a:t>
            </a:r>
            <a:endParaRPr lang="en-US" sz="1050" dirty="0"/>
          </a:p>
        </p:txBody>
      </p:sp>
      <p:sp>
        <p:nvSpPr>
          <p:cNvPr id="50" name="Shape 48"/>
          <p:cNvSpPr/>
          <p:nvPr/>
        </p:nvSpPr>
        <p:spPr>
          <a:xfrm>
            <a:off x="2743200" y="4142232"/>
            <a:ext cx="1691640" cy="201168"/>
          </a:xfrm>
          <a:prstGeom prst="roundRect">
            <a:avLst>
              <a:gd name="adj" fmla="val 50000"/>
            </a:avLst>
          </a:prstGeom>
          <a:solidFill>
            <a:srgbClr val="E0F2F1"/>
          </a:solidFill>
          <a:ln/>
        </p:spPr>
        <p:txBody>
          <a:bodyPr/>
          <a:lstStyle/>
          <a:p>
            <a:endParaRPr lang="en-MY"/>
          </a:p>
        </p:txBody>
      </p:sp>
      <p:sp>
        <p:nvSpPr>
          <p:cNvPr id="51" name="Text 49"/>
          <p:cNvSpPr/>
          <p:nvPr/>
        </p:nvSpPr>
        <p:spPr>
          <a:xfrm>
            <a:off x="2743200" y="4142232"/>
            <a:ext cx="1691640" cy="201168"/>
          </a:xfrm>
          <a:prstGeom prst="rect">
            <a:avLst/>
          </a:prstGeom>
          <a:noFill/>
          <a:ln/>
        </p:spPr>
        <p:txBody>
          <a:bodyPr wrap="square" lIns="0" tIns="0" rIns="0" bIns="0" rtlCol="0" anchor="ctr"/>
          <a:lstStyle/>
          <a:p>
            <a:pPr marL="0" indent="0" algn="ctr">
              <a:buNone/>
            </a:pPr>
            <a:r>
              <a:rPr lang="en-US" sz="850" b="1" dirty="0">
                <a:solidFill>
                  <a:srgbClr val="00897B"/>
                </a:solidFill>
                <a:latin typeface="Arial" pitchFamily="34" charset="0"/>
                <a:ea typeface="Arial" pitchFamily="34" charset="-122"/>
                <a:cs typeface="Arial" pitchFamily="34" charset="-120"/>
              </a:rPr>
              <a:t>23 Full Scholarships</a:t>
            </a:r>
            <a:endParaRPr lang="en-US" sz="850" dirty="0"/>
          </a:p>
        </p:txBody>
      </p:sp>
      <p:sp>
        <p:nvSpPr>
          <p:cNvPr id="52" name="Shape 50"/>
          <p:cNvSpPr/>
          <p:nvPr/>
        </p:nvSpPr>
        <p:spPr>
          <a:xfrm>
            <a:off x="4507992" y="4142232"/>
            <a:ext cx="1691640" cy="201168"/>
          </a:xfrm>
          <a:prstGeom prst="roundRect">
            <a:avLst>
              <a:gd name="adj" fmla="val 50000"/>
            </a:avLst>
          </a:prstGeom>
          <a:solidFill>
            <a:srgbClr val="E8F5E9"/>
          </a:solidFill>
          <a:ln/>
        </p:spPr>
        <p:txBody>
          <a:bodyPr/>
          <a:lstStyle/>
          <a:p>
            <a:endParaRPr lang="en-MY"/>
          </a:p>
        </p:txBody>
      </p:sp>
      <p:sp>
        <p:nvSpPr>
          <p:cNvPr id="53" name="Text 51"/>
          <p:cNvSpPr/>
          <p:nvPr/>
        </p:nvSpPr>
        <p:spPr>
          <a:xfrm>
            <a:off x="4507992" y="4142232"/>
            <a:ext cx="1691640" cy="201168"/>
          </a:xfrm>
          <a:prstGeom prst="rect">
            <a:avLst/>
          </a:prstGeom>
          <a:noFill/>
          <a:ln/>
        </p:spPr>
        <p:txBody>
          <a:bodyPr wrap="square" lIns="0" tIns="0" rIns="0" bIns="0" rtlCol="0" anchor="ctr"/>
          <a:lstStyle/>
          <a:p>
            <a:pPr marL="0" indent="0" algn="ctr">
              <a:buNone/>
            </a:pPr>
            <a:r>
              <a:rPr lang="en-US" sz="850" b="1" dirty="0">
                <a:solidFill>
                  <a:srgbClr val="388E3C"/>
                </a:solidFill>
                <a:latin typeface="Arial" pitchFamily="34" charset="0"/>
                <a:ea typeface="Arial" pitchFamily="34" charset="-122"/>
                <a:cs typeface="Arial" pitchFamily="34" charset="-120"/>
              </a:rPr>
              <a:t>30 Higher Education Institution Institutions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Technology Stack</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05 / 10</a:t>
            </a:r>
            <a:endParaRPr lang="en-US" sz="900" dirty="0"/>
          </a:p>
        </p:txBody>
      </p:sp>
      <p:sp>
        <p:nvSpPr>
          <p:cNvPr id="6" name="Shape 4"/>
          <p:cNvSpPr/>
          <p:nvPr/>
        </p:nvSpPr>
        <p:spPr>
          <a:xfrm>
            <a:off x="118872" y="566928"/>
            <a:ext cx="2788920" cy="1261872"/>
          </a:xfrm>
          <a:prstGeom prst="roundRect">
            <a:avLst>
              <a:gd name="adj" fmla="val 579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Shape 5"/>
          <p:cNvSpPr/>
          <p:nvPr/>
        </p:nvSpPr>
        <p:spPr>
          <a:xfrm>
            <a:off x="118872" y="566928"/>
            <a:ext cx="2788920" cy="64008"/>
          </a:xfrm>
          <a:prstGeom prst="roundRect">
            <a:avLst>
              <a:gd name="adj" fmla="val 85714"/>
            </a:avLst>
          </a:prstGeom>
          <a:solidFill>
            <a:srgbClr val="1976D2"/>
          </a:solidFill>
          <a:ln/>
        </p:spPr>
        <p:txBody>
          <a:bodyPr/>
          <a:lstStyle/>
          <a:p>
            <a:endParaRPr lang="en-MY"/>
          </a:p>
        </p:txBody>
      </p:sp>
      <p:sp>
        <p:nvSpPr>
          <p:cNvPr id="8" name="Shape 6"/>
          <p:cNvSpPr/>
          <p:nvPr/>
        </p:nvSpPr>
        <p:spPr>
          <a:xfrm>
            <a:off x="228600" y="694944"/>
            <a:ext cx="841248" cy="182880"/>
          </a:xfrm>
          <a:prstGeom prst="roundRect">
            <a:avLst>
              <a:gd name="adj" fmla="val 50000"/>
            </a:avLst>
          </a:prstGeom>
          <a:solidFill>
            <a:srgbClr val="E3F2FD"/>
          </a:solidFill>
          <a:ln/>
        </p:spPr>
        <p:txBody>
          <a:bodyPr/>
          <a:lstStyle/>
          <a:p>
            <a:endParaRPr lang="en-MY"/>
          </a:p>
        </p:txBody>
      </p:sp>
      <p:sp>
        <p:nvSpPr>
          <p:cNvPr id="9" name="Text 7"/>
          <p:cNvSpPr/>
          <p:nvPr/>
        </p:nvSpPr>
        <p:spPr>
          <a:xfrm>
            <a:off x="228600" y="694944"/>
            <a:ext cx="841248" cy="182880"/>
          </a:xfrm>
          <a:prstGeom prst="rect">
            <a:avLst/>
          </a:prstGeom>
          <a:noFill/>
          <a:ln/>
        </p:spPr>
        <p:txBody>
          <a:bodyPr wrap="square" lIns="0" tIns="0" rIns="0" bIns="0" rtlCol="0" anchor="ctr"/>
          <a:lstStyle/>
          <a:p>
            <a:pPr marL="0" indent="0" algn="ctr">
              <a:buNone/>
            </a:pPr>
            <a:r>
              <a:rPr lang="en-US" sz="750" b="1" dirty="0">
                <a:solidFill>
                  <a:srgbClr val="1976D2"/>
                </a:solidFill>
                <a:latin typeface="Arial" pitchFamily="34" charset="0"/>
                <a:ea typeface="Arial" pitchFamily="34" charset="-122"/>
                <a:cs typeface="Arial" pitchFamily="34" charset="-120"/>
              </a:rPr>
              <a:t>FRONTEND</a:t>
            </a:r>
            <a:endParaRPr lang="en-US" sz="750" dirty="0"/>
          </a:p>
        </p:txBody>
      </p:sp>
      <p:sp>
        <p:nvSpPr>
          <p:cNvPr id="10" name="Text 8"/>
          <p:cNvSpPr/>
          <p:nvPr/>
        </p:nvSpPr>
        <p:spPr>
          <a:xfrm>
            <a:off x="1124712" y="658368"/>
            <a:ext cx="1673352" cy="256032"/>
          </a:xfrm>
          <a:prstGeom prst="rect">
            <a:avLst/>
          </a:prstGeom>
          <a:noFill/>
          <a:ln/>
        </p:spPr>
        <p:txBody>
          <a:bodyPr wrap="square" lIns="0" tIns="0" rIns="0" bIns="0" rtlCol="0" anchor="ctr"/>
          <a:lstStyle/>
          <a:p>
            <a:pPr marL="0" indent="0">
              <a:buNone/>
            </a:pPr>
            <a:r>
              <a:rPr lang="en-US" sz="1150" b="1" dirty="0">
                <a:solidFill>
                  <a:srgbClr val="0F2057"/>
                </a:solidFill>
                <a:latin typeface="Arial" pitchFamily="34" charset="0"/>
                <a:ea typeface="Arial" pitchFamily="34" charset="-122"/>
                <a:cs typeface="Arial" pitchFamily="34" charset="-120"/>
              </a:rPr>
              <a:t>HTML5 · CSS3 · JavaScript</a:t>
            </a:r>
            <a:endParaRPr lang="en-US" sz="1150" dirty="0"/>
          </a:p>
        </p:txBody>
      </p:sp>
      <p:sp>
        <p:nvSpPr>
          <p:cNvPr id="11" name="Text 9"/>
          <p:cNvSpPr/>
          <p:nvPr/>
        </p:nvSpPr>
        <p:spPr>
          <a:xfrm>
            <a:off x="228600" y="950976"/>
            <a:ext cx="2569464" cy="768096"/>
          </a:xfrm>
          <a:prstGeom prst="rect">
            <a:avLst/>
          </a:prstGeom>
          <a:noFill/>
          <a:ln/>
        </p:spPr>
        <p:txBody>
          <a:bodyPr wrap="square" lIns="0" tIns="0" rIns="0" bIns="0" rtlCol="0" anchor="ctr"/>
          <a:lstStyle/>
          <a:p>
            <a:pPr marL="0" indent="0">
              <a:buNone/>
            </a:pPr>
            <a:r>
              <a:rPr lang="en-US" sz="950" dirty="0">
                <a:solidFill>
                  <a:srgbClr val="4B4B4B"/>
                </a:solidFill>
                <a:latin typeface="Arial" pitchFamily="34" charset="0"/>
                <a:ea typeface="Arial" pitchFamily="34" charset="-122"/>
                <a:cs typeface="Arial" pitchFamily="34" charset="-120"/>
              </a:rPr>
              <a:t>Student portal, dashboard &amp; real-time bilingual UI : no framework, runs in any browser</a:t>
            </a:r>
            <a:endParaRPr lang="en-US" sz="950" dirty="0"/>
          </a:p>
        </p:txBody>
      </p:sp>
      <p:sp>
        <p:nvSpPr>
          <p:cNvPr id="12" name="Shape 10"/>
          <p:cNvSpPr/>
          <p:nvPr/>
        </p:nvSpPr>
        <p:spPr>
          <a:xfrm>
            <a:off x="3035808" y="566928"/>
            <a:ext cx="2788920" cy="1261872"/>
          </a:xfrm>
          <a:prstGeom prst="roundRect">
            <a:avLst>
              <a:gd name="adj" fmla="val 579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13" name="Shape 11"/>
          <p:cNvSpPr/>
          <p:nvPr/>
        </p:nvSpPr>
        <p:spPr>
          <a:xfrm>
            <a:off x="3035808" y="566928"/>
            <a:ext cx="2788920" cy="64008"/>
          </a:xfrm>
          <a:prstGeom prst="roundRect">
            <a:avLst>
              <a:gd name="adj" fmla="val 85714"/>
            </a:avLst>
          </a:prstGeom>
          <a:solidFill>
            <a:srgbClr val="388E3C"/>
          </a:solidFill>
          <a:ln/>
        </p:spPr>
        <p:txBody>
          <a:bodyPr/>
          <a:lstStyle/>
          <a:p>
            <a:endParaRPr lang="en-MY"/>
          </a:p>
        </p:txBody>
      </p:sp>
      <p:sp>
        <p:nvSpPr>
          <p:cNvPr id="14" name="Shape 12"/>
          <p:cNvSpPr/>
          <p:nvPr/>
        </p:nvSpPr>
        <p:spPr>
          <a:xfrm>
            <a:off x="3145536" y="694944"/>
            <a:ext cx="841248" cy="182880"/>
          </a:xfrm>
          <a:prstGeom prst="roundRect">
            <a:avLst>
              <a:gd name="adj" fmla="val 50000"/>
            </a:avLst>
          </a:prstGeom>
          <a:solidFill>
            <a:srgbClr val="E8F5E9"/>
          </a:solidFill>
          <a:ln/>
        </p:spPr>
        <p:txBody>
          <a:bodyPr/>
          <a:lstStyle/>
          <a:p>
            <a:endParaRPr lang="en-MY"/>
          </a:p>
        </p:txBody>
      </p:sp>
      <p:sp>
        <p:nvSpPr>
          <p:cNvPr id="15" name="Text 13"/>
          <p:cNvSpPr/>
          <p:nvPr/>
        </p:nvSpPr>
        <p:spPr>
          <a:xfrm>
            <a:off x="3145536" y="694944"/>
            <a:ext cx="841248" cy="182880"/>
          </a:xfrm>
          <a:prstGeom prst="rect">
            <a:avLst/>
          </a:prstGeom>
          <a:noFill/>
          <a:ln/>
        </p:spPr>
        <p:txBody>
          <a:bodyPr wrap="square" lIns="0" tIns="0" rIns="0" bIns="0" rtlCol="0" anchor="ctr"/>
          <a:lstStyle/>
          <a:p>
            <a:pPr marL="0" indent="0" algn="ctr">
              <a:buNone/>
            </a:pPr>
            <a:r>
              <a:rPr lang="en-US" sz="750" b="1" dirty="0">
                <a:solidFill>
                  <a:srgbClr val="388E3C"/>
                </a:solidFill>
                <a:latin typeface="Arial" pitchFamily="34" charset="0"/>
                <a:ea typeface="Arial" pitchFamily="34" charset="-122"/>
                <a:cs typeface="Arial" pitchFamily="34" charset="-120"/>
              </a:rPr>
              <a:t>BACKEND</a:t>
            </a:r>
            <a:endParaRPr lang="en-US" sz="750" dirty="0"/>
          </a:p>
        </p:txBody>
      </p:sp>
      <p:sp>
        <p:nvSpPr>
          <p:cNvPr id="16" name="Text 14"/>
          <p:cNvSpPr/>
          <p:nvPr/>
        </p:nvSpPr>
        <p:spPr>
          <a:xfrm>
            <a:off x="4041648" y="658368"/>
            <a:ext cx="1673352" cy="256032"/>
          </a:xfrm>
          <a:prstGeom prst="rect">
            <a:avLst/>
          </a:prstGeom>
          <a:noFill/>
          <a:ln/>
        </p:spPr>
        <p:txBody>
          <a:bodyPr wrap="square" lIns="0" tIns="0" rIns="0" bIns="0" rtlCol="0" anchor="ctr"/>
          <a:lstStyle/>
          <a:p>
            <a:pPr marL="0" indent="0">
              <a:buNone/>
            </a:pPr>
            <a:r>
              <a:rPr lang="en-US" sz="1150" b="1" dirty="0">
                <a:solidFill>
                  <a:srgbClr val="0F2057"/>
                </a:solidFill>
                <a:latin typeface="Arial" pitchFamily="34" charset="0"/>
                <a:ea typeface="Arial" pitchFamily="34" charset="-122"/>
                <a:cs typeface="Arial" pitchFamily="34" charset="-120"/>
              </a:rPr>
              <a:t>Node.js</a:t>
            </a:r>
            <a:endParaRPr lang="en-US" sz="1150" dirty="0"/>
          </a:p>
        </p:txBody>
      </p:sp>
      <p:sp>
        <p:nvSpPr>
          <p:cNvPr id="17" name="Text 15"/>
          <p:cNvSpPr/>
          <p:nvPr/>
        </p:nvSpPr>
        <p:spPr>
          <a:xfrm>
            <a:off x="3145536" y="950976"/>
            <a:ext cx="2569464" cy="768096"/>
          </a:xfrm>
          <a:prstGeom prst="rect">
            <a:avLst/>
          </a:prstGeom>
          <a:noFill/>
          <a:ln/>
        </p:spPr>
        <p:txBody>
          <a:bodyPr wrap="square" lIns="0" tIns="0" rIns="0" bIns="0" rtlCol="0" anchor="ctr"/>
          <a:lstStyle/>
          <a:p>
            <a:pPr marL="0" indent="0">
              <a:buNone/>
            </a:pPr>
            <a:r>
              <a:rPr lang="en-US" sz="950" dirty="0">
                <a:solidFill>
                  <a:srgbClr val="4B4B4B"/>
                </a:solidFill>
                <a:latin typeface="Arial" pitchFamily="34" charset="0"/>
                <a:ea typeface="Arial" pitchFamily="34" charset="-122"/>
                <a:cs typeface="Arial" pitchFamily="34" charset="-120"/>
              </a:rPr>
              <a:t>Lightweight HTTP server : handles all API routing and business logic without a framework</a:t>
            </a:r>
            <a:endParaRPr lang="en-US" sz="950" dirty="0"/>
          </a:p>
        </p:txBody>
      </p:sp>
      <p:sp>
        <p:nvSpPr>
          <p:cNvPr id="18" name="Shape 16"/>
          <p:cNvSpPr/>
          <p:nvPr/>
        </p:nvSpPr>
        <p:spPr>
          <a:xfrm>
            <a:off x="118872" y="1956816"/>
            <a:ext cx="2788920" cy="1261872"/>
          </a:xfrm>
          <a:prstGeom prst="roundRect">
            <a:avLst>
              <a:gd name="adj" fmla="val 579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19" name="Shape 17"/>
          <p:cNvSpPr/>
          <p:nvPr/>
        </p:nvSpPr>
        <p:spPr>
          <a:xfrm>
            <a:off x="118872" y="1956816"/>
            <a:ext cx="2788920" cy="64008"/>
          </a:xfrm>
          <a:prstGeom prst="roundRect">
            <a:avLst>
              <a:gd name="adj" fmla="val 85714"/>
            </a:avLst>
          </a:prstGeom>
          <a:solidFill>
            <a:srgbClr val="00897B"/>
          </a:solidFill>
          <a:ln/>
        </p:spPr>
        <p:txBody>
          <a:bodyPr/>
          <a:lstStyle/>
          <a:p>
            <a:endParaRPr lang="en-MY"/>
          </a:p>
        </p:txBody>
      </p:sp>
      <p:sp>
        <p:nvSpPr>
          <p:cNvPr id="20" name="Shape 18"/>
          <p:cNvSpPr/>
          <p:nvPr/>
        </p:nvSpPr>
        <p:spPr>
          <a:xfrm>
            <a:off x="228600" y="2084832"/>
            <a:ext cx="841248" cy="182880"/>
          </a:xfrm>
          <a:prstGeom prst="roundRect">
            <a:avLst>
              <a:gd name="adj" fmla="val 50000"/>
            </a:avLst>
          </a:prstGeom>
          <a:solidFill>
            <a:srgbClr val="E0F2F1"/>
          </a:solidFill>
          <a:ln/>
        </p:spPr>
        <p:txBody>
          <a:bodyPr/>
          <a:lstStyle/>
          <a:p>
            <a:endParaRPr lang="en-MY"/>
          </a:p>
        </p:txBody>
      </p:sp>
      <p:sp>
        <p:nvSpPr>
          <p:cNvPr id="21" name="Text 19"/>
          <p:cNvSpPr/>
          <p:nvPr/>
        </p:nvSpPr>
        <p:spPr>
          <a:xfrm>
            <a:off x="228600" y="2084832"/>
            <a:ext cx="841248" cy="182880"/>
          </a:xfrm>
          <a:prstGeom prst="rect">
            <a:avLst/>
          </a:prstGeom>
          <a:noFill/>
          <a:ln/>
        </p:spPr>
        <p:txBody>
          <a:bodyPr wrap="square" lIns="0" tIns="0" rIns="0" bIns="0" rtlCol="0" anchor="ctr"/>
          <a:lstStyle/>
          <a:p>
            <a:pPr marL="0" indent="0" algn="ctr">
              <a:buNone/>
            </a:pPr>
            <a:r>
              <a:rPr lang="en-US" sz="750" b="1" dirty="0">
                <a:solidFill>
                  <a:srgbClr val="00897B"/>
                </a:solidFill>
                <a:latin typeface="Arial" pitchFamily="34" charset="0"/>
                <a:ea typeface="Arial" pitchFamily="34" charset="-122"/>
                <a:cs typeface="Arial" pitchFamily="34" charset="-120"/>
              </a:rPr>
              <a:t>DATABASE</a:t>
            </a:r>
            <a:endParaRPr lang="en-US" sz="750" dirty="0"/>
          </a:p>
        </p:txBody>
      </p:sp>
      <p:sp>
        <p:nvSpPr>
          <p:cNvPr id="22" name="Text 20"/>
          <p:cNvSpPr/>
          <p:nvPr/>
        </p:nvSpPr>
        <p:spPr>
          <a:xfrm>
            <a:off x="1124712" y="2048256"/>
            <a:ext cx="1673352" cy="256032"/>
          </a:xfrm>
          <a:prstGeom prst="rect">
            <a:avLst/>
          </a:prstGeom>
          <a:noFill/>
          <a:ln/>
        </p:spPr>
        <p:txBody>
          <a:bodyPr wrap="square" lIns="0" tIns="0" rIns="0" bIns="0" rtlCol="0" anchor="ctr"/>
          <a:lstStyle/>
          <a:p>
            <a:pPr marL="0" indent="0">
              <a:buNone/>
            </a:pPr>
            <a:r>
              <a:rPr lang="en-US" sz="1150" b="1" dirty="0">
                <a:solidFill>
                  <a:srgbClr val="0F2057"/>
                </a:solidFill>
                <a:latin typeface="Arial" pitchFamily="34" charset="0"/>
                <a:ea typeface="Arial" pitchFamily="34" charset="-122"/>
                <a:cs typeface="Arial" pitchFamily="34" charset="-120"/>
              </a:rPr>
              <a:t>PostgreSQL</a:t>
            </a:r>
            <a:endParaRPr lang="en-US" sz="1150" dirty="0"/>
          </a:p>
        </p:txBody>
      </p:sp>
      <p:sp>
        <p:nvSpPr>
          <p:cNvPr id="23" name="Text 21"/>
          <p:cNvSpPr/>
          <p:nvPr/>
        </p:nvSpPr>
        <p:spPr>
          <a:xfrm>
            <a:off x="228600" y="2340864"/>
            <a:ext cx="2569464" cy="768096"/>
          </a:xfrm>
          <a:prstGeom prst="rect">
            <a:avLst/>
          </a:prstGeom>
          <a:noFill/>
          <a:ln/>
        </p:spPr>
        <p:txBody>
          <a:bodyPr wrap="square" lIns="0" tIns="0" rIns="0" bIns="0" rtlCol="0" anchor="ctr"/>
          <a:lstStyle/>
          <a:p>
            <a:pPr marL="0" indent="0">
              <a:buNone/>
            </a:pPr>
            <a:r>
              <a:rPr lang="en-US" sz="950" dirty="0">
                <a:solidFill>
                  <a:srgbClr val="4B4B4B"/>
                </a:solidFill>
                <a:latin typeface="Arial" pitchFamily="34" charset="0"/>
                <a:ea typeface="Arial" pitchFamily="34" charset="-122"/>
                <a:cs typeface="Arial" pitchFamily="34" charset="-120"/>
              </a:rPr>
              <a:t>Stores student profiles, SPM results, PAJSK scores, all scholarship &amp; Higher Education Institution data</a:t>
            </a:r>
            <a:endParaRPr lang="en-US" sz="950" dirty="0"/>
          </a:p>
        </p:txBody>
      </p:sp>
      <p:sp>
        <p:nvSpPr>
          <p:cNvPr id="24" name="Shape 22"/>
          <p:cNvSpPr/>
          <p:nvPr/>
        </p:nvSpPr>
        <p:spPr>
          <a:xfrm>
            <a:off x="3035808" y="1956816"/>
            <a:ext cx="2788920" cy="1261872"/>
          </a:xfrm>
          <a:prstGeom prst="roundRect">
            <a:avLst>
              <a:gd name="adj" fmla="val 579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25" name="Shape 23"/>
          <p:cNvSpPr/>
          <p:nvPr/>
        </p:nvSpPr>
        <p:spPr>
          <a:xfrm>
            <a:off x="3035808" y="1956816"/>
            <a:ext cx="2788920" cy="64008"/>
          </a:xfrm>
          <a:prstGeom prst="roundRect">
            <a:avLst>
              <a:gd name="adj" fmla="val 85714"/>
            </a:avLst>
          </a:prstGeom>
          <a:solidFill>
            <a:srgbClr val="7B1FA2"/>
          </a:solidFill>
          <a:ln/>
        </p:spPr>
        <p:txBody>
          <a:bodyPr/>
          <a:lstStyle/>
          <a:p>
            <a:endParaRPr lang="en-MY"/>
          </a:p>
        </p:txBody>
      </p:sp>
      <p:sp>
        <p:nvSpPr>
          <p:cNvPr id="26" name="Shape 24"/>
          <p:cNvSpPr/>
          <p:nvPr/>
        </p:nvSpPr>
        <p:spPr>
          <a:xfrm>
            <a:off x="3145536" y="2084832"/>
            <a:ext cx="841248" cy="182880"/>
          </a:xfrm>
          <a:prstGeom prst="roundRect">
            <a:avLst>
              <a:gd name="adj" fmla="val 50000"/>
            </a:avLst>
          </a:prstGeom>
          <a:solidFill>
            <a:srgbClr val="F3E5F5"/>
          </a:solidFill>
          <a:ln/>
        </p:spPr>
        <p:txBody>
          <a:bodyPr/>
          <a:lstStyle/>
          <a:p>
            <a:endParaRPr lang="en-MY"/>
          </a:p>
        </p:txBody>
      </p:sp>
      <p:sp>
        <p:nvSpPr>
          <p:cNvPr id="27" name="Text 25"/>
          <p:cNvSpPr/>
          <p:nvPr/>
        </p:nvSpPr>
        <p:spPr>
          <a:xfrm>
            <a:off x="3145536" y="2084832"/>
            <a:ext cx="841248" cy="182880"/>
          </a:xfrm>
          <a:prstGeom prst="rect">
            <a:avLst/>
          </a:prstGeom>
          <a:noFill/>
          <a:ln/>
        </p:spPr>
        <p:txBody>
          <a:bodyPr wrap="square" lIns="0" tIns="0" rIns="0" bIns="0" rtlCol="0" anchor="ctr"/>
          <a:lstStyle/>
          <a:p>
            <a:pPr marL="0" indent="0" algn="ctr">
              <a:buNone/>
            </a:pPr>
            <a:r>
              <a:rPr lang="en-US" sz="750" b="1" dirty="0">
                <a:solidFill>
                  <a:srgbClr val="7B1FA2"/>
                </a:solidFill>
                <a:latin typeface="Arial" pitchFamily="34" charset="0"/>
                <a:ea typeface="Arial" pitchFamily="34" charset="-122"/>
                <a:cs typeface="Arial" pitchFamily="34" charset="-120"/>
              </a:rPr>
              <a:t>AI ENGINE</a:t>
            </a:r>
            <a:endParaRPr lang="en-US" sz="750" dirty="0"/>
          </a:p>
        </p:txBody>
      </p:sp>
      <p:sp>
        <p:nvSpPr>
          <p:cNvPr id="28" name="Text 26"/>
          <p:cNvSpPr/>
          <p:nvPr/>
        </p:nvSpPr>
        <p:spPr>
          <a:xfrm>
            <a:off x="4041648" y="2048256"/>
            <a:ext cx="1673352" cy="256032"/>
          </a:xfrm>
          <a:prstGeom prst="rect">
            <a:avLst/>
          </a:prstGeom>
          <a:noFill/>
          <a:ln/>
        </p:spPr>
        <p:txBody>
          <a:bodyPr wrap="square" lIns="0" tIns="0" rIns="0" bIns="0" rtlCol="0" anchor="ctr"/>
          <a:lstStyle/>
          <a:p>
            <a:pPr marL="0" indent="0">
              <a:buNone/>
            </a:pPr>
            <a:r>
              <a:rPr lang="en-US" sz="1150" b="1" dirty="0">
                <a:solidFill>
                  <a:srgbClr val="0F2057"/>
                </a:solidFill>
                <a:latin typeface="Arial" pitchFamily="34" charset="0"/>
                <a:ea typeface="Arial" pitchFamily="34" charset="-122"/>
                <a:cs typeface="Arial" pitchFamily="34" charset="-120"/>
              </a:rPr>
              <a:t>Groq API  (LLaMA 3)</a:t>
            </a:r>
            <a:endParaRPr lang="en-US" sz="1150" dirty="0"/>
          </a:p>
        </p:txBody>
      </p:sp>
      <p:sp>
        <p:nvSpPr>
          <p:cNvPr id="29" name="Text 27"/>
          <p:cNvSpPr/>
          <p:nvPr/>
        </p:nvSpPr>
        <p:spPr>
          <a:xfrm>
            <a:off x="3145536" y="2340864"/>
            <a:ext cx="2569464" cy="768096"/>
          </a:xfrm>
          <a:prstGeom prst="rect">
            <a:avLst/>
          </a:prstGeom>
          <a:noFill/>
          <a:ln/>
        </p:spPr>
        <p:txBody>
          <a:bodyPr wrap="square" lIns="0" tIns="0" rIns="0" bIns="0" rtlCol="0" anchor="ctr"/>
          <a:lstStyle/>
          <a:p>
            <a:pPr marL="0" indent="0">
              <a:buNone/>
            </a:pPr>
            <a:r>
              <a:rPr lang="en-US" sz="950" dirty="0">
                <a:solidFill>
                  <a:srgbClr val="4B4B4B"/>
                </a:solidFill>
                <a:latin typeface="Arial" pitchFamily="34" charset="0"/>
                <a:ea typeface="Arial" pitchFamily="34" charset="-122"/>
                <a:cs typeface="Arial" pitchFamily="34" charset="-120"/>
              </a:rPr>
              <a:t>Generates personalised scholarship recommendation reports in Bahasa Melayu per student</a:t>
            </a:r>
            <a:endParaRPr lang="en-US" sz="950" dirty="0"/>
          </a:p>
        </p:txBody>
      </p:sp>
      <p:sp>
        <p:nvSpPr>
          <p:cNvPr id="30" name="Shape 28"/>
          <p:cNvSpPr/>
          <p:nvPr/>
        </p:nvSpPr>
        <p:spPr>
          <a:xfrm>
            <a:off x="118872" y="3346704"/>
            <a:ext cx="2788920" cy="1261872"/>
          </a:xfrm>
          <a:prstGeom prst="roundRect">
            <a:avLst>
              <a:gd name="adj" fmla="val 579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31" name="Shape 29"/>
          <p:cNvSpPr/>
          <p:nvPr/>
        </p:nvSpPr>
        <p:spPr>
          <a:xfrm>
            <a:off x="118872" y="3346704"/>
            <a:ext cx="2788920" cy="64008"/>
          </a:xfrm>
          <a:prstGeom prst="roundRect">
            <a:avLst>
              <a:gd name="adj" fmla="val 85714"/>
            </a:avLst>
          </a:prstGeom>
          <a:solidFill>
            <a:srgbClr val="FF8F00"/>
          </a:solidFill>
          <a:ln/>
        </p:spPr>
        <p:txBody>
          <a:bodyPr/>
          <a:lstStyle/>
          <a:p>
            <a:endParaRPr lang="en-MY"/>
          </a:p>
        </p:txBody>
      </p:sp>
      <p:sp>
        <p:nvSpPr>
          <p:cNvPr id="32" name="Shape 30"/>
          <p:cNvSpPr/>
          <p:nvPr/>
        </p:nvSpPr>
        <p:spPr>
          <a:xfrm>
            <a:off x="228600" y="3474720"/>
            <a:ext cx="841248" cy="182880"/>
          </a:xfrm>
          <a:prstGeom prst="roundRect">
            <a:avLst>
              <a:gd name="adj" fmla="val 50000"/>
            </a:avLst>
          </a:prstGeom>
          <a:solidFill>
            <a:srgbClr val="FFF8E1"/>
          </a:solidFill>
          <a:ln/>
        </p:spPr>
        <p:txBody>
          <a:bodyPr/>
          <a:lstStyle/>
          <a:p>
            <a:endParaRPr lang="en-MY"/>
          </a:p>
        </p:txBody>
      </p:sp>
      <p:sp>
        <p:nvSpPr>
          <p:cNvPr id="33" name="Text 31"/>
          <p:cNvSpPr/>
          <p:nvPr/>
        </p:nvSpPr>
        <p:spPr>
          <a:xfrm>
            <a:off x="228600" y="3474720"/>
            <a:ext cx="841248" cy="182880"/>
          </a:xfrm>
          <a:prstGeom prst="rect">
            <a:avLst/>
          </a:prstGeom>
          <a:noFill/>
          <a:ln/>
        </p:spPr>
        <p:txBody>
          <a:bodyPr wrap="square" lIns="0" tIns="0" rIns="0" bIns="0" rtlCol="0" anchor="ctr"/>
          <a:lstStyle/>
          <a:p>
            <a:pPr marL="0" indent="0" algn="ctr">
              <a:buNone/>
            </a:pPr>
            <a:r>
              <a:rPr lang="en-US" sz="750" b="1" dirty="0">
                <a:solidFill>
                  <a:srgbClr val="FF8F00"/>
                </a:solidFill>
                <a:latin typeface="Arial" pitchFamily="34" charset="0"/>
                <a:ea typeface="Arial" pitchFamily="34" charset="-122"/>
                <a:cs typeface="Arial" pitchFamily="34" charset="-120"/>
              </a:rPr>
              <a:t>AGENT SCRIPTS</a:t>
            </a:r>
            <a:endParaRPr lang="en-US" sz="750" dirty="0"/>
          </a:p>
        </p:txBody>
      </p:sp>
      <p:sp>
        <p:nvSpPr>
          <p:cNvPr id="34" name="Text 32"/>
          <p:cNvSpPr/>
          <p:nvPr/>
        </p:nvSpPr>
        <p:spPr>
          <a:xfrm>
            <a:off x="1124712" y="3438144"/>
            <a:ext cx="1673352" cy="256032"/>
          </a:xfrm>
          <a:prstGeom prst="rect">
            <a:avLst/>
          </a:prstGeom>
          <a:noFill/>
          <a:ln/>
        </p:spPr>
        <p:txBody>
          <a:bodyPr wrap="square" lIns="0" tIns="0" rIns="0" bIns="0" rtlCol="0" anchor="ctr"/>
          <a:lstStyle/>
          <a:p>
            <a:pPr marL="0" indent="0">
              <a:buNone/>
            </a:pPr>
            <a:r>
              <a:rPr lang="en-US" sz="1150" b="1" dirty="0">
                <a:solidFill>
                  <a:srgbClr val="0F2057"/>
                </a:solidFill>
                <a:latin typeface="Arial" pitchFamily="34" charset="0"/>
                <a:ea typeface="Arial" pitchFamily="34" charset="-122"/>
                <a:cs typeface="Arial" pitchFamily="34" charset="-120"/>
              </a:rPr>
              <a:t>Python</a:t>
            </a:r>
            <a:endParaRPr lang="en-US" sz="1150" dirty="0"/>
          </a:p>
        </p:txBody>
      </p:sp>
      <p:sp>
        <p:nvSpPr>
          <p:cNvPr id="35" name="Text 33"/>
          <p:cNvSpPr/>
          <p:nvPr/>
        </p:nvSpPr>
        <p:spPr>
          <a:xfrm>
            <a:off x="228600" y="3730752"/>
            <a:ext cx="2569464" cy="768096"/>
          </a:xfrm>
          <a:prstGeom prst="rect">
            <a:avLst/>
          </a:prstGeom>
          <a:noFill/>
          <a:ln/>
        </p:spPr>
        <p:txBody>
          <a:bodyPr wrap="square" lIns="0" tIns="0" rIns="0" bIns="0" rtlCol="0" anchor="ctr"/>
          <a:lstStyle/>
          <a:p>
            <a:pPr marL="0" indent="0">
              <a:buNone/>
            </a:pPr>
            <a:r>
              <a:rPr lang="en-US" sz="950" dirty="0">
                <a:solidFill>
                  <a:srgbClr val="4B4B4B"/>
                </a:solidFill>
                <a:latin typeface="Arial" pitchFamily="34" charset="0"/>
                <a:ea typeface="Arial" pitchFamily="34" charset="-122"/>
                <a:cs typeface="Arial" pitchFamily="34" charset="-120"/>
              </a:rPr>
              <a:t>Scholarship matching agent (agent2.py) and automated PDF report generator (agent3.py)</a:t>
            </a:r>
            <a:endParaRPr lang="en-US" sz="950" dirty="0"/>
          </a:p>
        </p:txBody>
      </p:sp>
      <p:sp>
        <p:nvSpPr>
          <p:cNvPr id="36" name="Shape 34"/>
          <p:cNvSpPr/>
          <p:nvPr/>
        </p:nvSpPr>
        <p:spPr>
          <a:xfrm>
            <a:off x="3035808" y="3346704"/>
            <a:ext cx="2788920" cy="1261872"/>
          </a:xfrm>
          <a:prstGeom prst="roundRect">
            <a:avLst>
              <a:gd name="adj" fmla="val 579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37" name="Shape 35"/>
          <p:cNvSpPr/>
          <p:nvPr/>
        </p:nvSpPr>
        <p:spPr>
          <a:xfrm>
            <a:off x="3035808" y="3346704"/>
            <a:ext cx="2788920" cy="64008"/>
          </a:xfrm>
          <a:prstGeom prst="roundRect">
            <a:avLst>
              <a:gd name="adj" fmla="val 85714"/>
            </a:avLst>
          </a:prstGeom>
          <a:solidFill>
            <a:srgbClr val="E53935"/>
          </a:solidFill>
          <a:ln/>
        </p:spPr>
        <p:txBody>
          <a:bodyPr/>
          <a:lstStyle/>
          <a:p>
            <a:endParaRPr lang="en-MY"/>
          </a:p>
        </p:txBody>
      </p:sp>
      <p:sp>
        <p:nvSpPr>
          <p:cNvPr id="38" name="Shape 36"/>
          <p:cNvSpPr/>
          <p:nvPr/>
        </p:nvSpPr>
        <p:spPr>
          <a:xfrm>
            <a:off x="3145536" y="3474720"/>
            <a:ext cx="841248" cy="182880"/>
          </a:xfrm>
          <a:prstGeom prst="roundRect">
            <a:avLst>
              <a:gd name="adj" fmla="val 50000"/>
            </a:avLst>
          </a:prstGeom>
          <a:solidFill>
            <a:srgbClr val="FFEBEE"/>
          </a:solidFill>
          <a:ln/>
        </p:spPr>
        <p:txBody>
          <a:bodyPr/>
          <a:lstStyle/>
          <a:p>
            <a:endParaRPr lang="en-MY"/>
          </a:p>
        </p:txBody>
      </p:sp>
      <p:sp>
        <p:nvSpPr>
          <p:cNvPr id="39" name="Text 37"/>
          <p:cNvSpPr/>
          <p:nvPr/>
        </p:nvSpPr>
        <p:spPr>
          <a:xfrm>
            <a:off x="3145536" y="3474720"/>
            <a:ext cx="841248" cy="182880"/>
          </a:xfrm>
          <a:prstGeom prst="rect">
            <a:avLst/>
          </a:prstGeom>
          <a:noFill/>
          <a:ln/>
        </p:spPr>
        <p:txBody>
          <a:bodyPr wrap="square" lIns="0" tIns="0" rIns="0" bIns="0" rtlCol="0" anchor="ctr"/>
          <a:lstStyle/>
          <a:p>
            <a:pPr marL="0" indent="0" algn="ctr">
              <a:buNone/>
            </a:pPr>
            <a:r>
              <a:rPr lang="en-US" sz="750" b="1" dirty="0">
                <a:solidFill>
                  <a:srgbClr val="E53935"/>
                </a:solidFill>
                <a:latin typeface="Arial" pitchFamily="34" charset="0"/>
                <a:ea typeface="Arial" pitchFamily="34" charset="-122"/>
                <a:cs typeface="Arial" pitchFamily="34" charset="-120"/>
              </a:rPr>
              <a:t>BILINGUAL</a:t>
            </a:r>
            <a:endParaRPr lang="en-US" sz="750" dirty="0"/>
          </a:p>
        </p:txBody>
      </p:sp>
      <p:sp>
        <p:nvSpPr>
          <p:cNvPr id="40" name="Text 38"/>
          <p:cNvSpPr/>
          <p:nvPr/>
        </p:nvSpPr>
        <p:spPr>
          <a:xfrm>
            <a:off x="4041648" y="3438144"/>
            <a:ext cx="1673352" cy="256032"/>
          </a:xfrm>
          <a:prstGeom prst="rect">
            <a:avLst/>
          </a:prstGeom>
          <a:noFill/>
          <a:ln/>
        </p:spPr>
        <p:txBody>
          <a:bodyPr wrap="square" lIns="0" tIns="0" rIns="0" bIns="0" rtlCol="0" anchor="ctr"/>
          <a:lstStyle/>
          <a:p>
            <a:pPr marL="0" indent="0">
              <a:buNone/>
            </a:pPr>
            <a:r>
              <a:rPr lang="en-US" sz="1150" b="1" dirty="0">
                <a:solidFill>
                  <a:srgbClr val="0F2057"/>
                </a:solidFill>
                <a:latin typeface="Arial" pitchFamily="34" charset="0"/>
                <a:ea typeface="Arial" pitchFamily="34" charset="-122"/>
                <a:cs typeface="Arial" pitchFamily="34" charset="-120"/>
              </a:rPr>
              <a:t>Custom JS Engine</a:t>
            </a:r>
            <a:endParaRPr lang="en-US" sz="1150" dirty="0"/>
          </a:p>
        </p:txBody>
      </p:sp>
      <p:sp>
        <p:nvSpPr>
          <p:cNvPr id="41" name="Text 39"/>
          <p:cNvSpPr/>
          <p:nvPr/>
        </p:nvSpPr>
        <p:spPr>
          <a:xfrm>
            <a:off x="3145536" y="3730752"/>
            <a:ext cx="2569464" cy="768096"/>
          </a:xfrm>
          <a:prstGeom prst="rect">
            <a:avLst/>
          </a:prstGeom>
          <a:noFill/>
          <a:ln/>
        </p:spPr>
        <p:txBody>
          <a:bodyPr wrap="square" lIns="0" tIns="0" rIns="0" bIns="0" rtlCol="0" anchor="ctr"/>
          <a:lstStyle/>
          <a:p>
            <a:pPr marL="0" indent="0">
              <a:buNone/>
            </a:pPr>
            <a:r>
              <a:rPr lang="en-US" sz="950" dirty="0">
                <a:solidFill>
                  <a:srgbClr val="4B4B4B"/>
                </a:solidFill>
                <a:latin typeface="Arial" pitchFamily="34" charset="0"/>
                <a:ea typeface="Arial" pitchFamily="34" charset="-122"/>
                <a:cs typeface="Arial" pitchFamily="34" charset="-120"/>
              </a:rPr>
              <a:t>Live BM ↔ EN switching via data-ms / data-en attributes with no page reload required</a:t>
            </a:r>
            <a:endParaRPr lang="en-US" sz="950" dirty="0"/>
          </a:p>
        </p:txBody>
      </p:sp>
      <p:sp>
        <p:nvSpPr>
          <p:cNvPr id="42" name="Shape 40"/>
          <p:cNvSpPr/>
          <p:nvPr/>
        </p:nvSpPr>
        <p:spPr>
          <a:xfrm>
            <a:off x="5943600" y="512064"/>
            <a:ext cx="3081528" cy="4544568"/>
          </a:xfrm>
          <a:prstGeom prst="roundRect">
            <a:avLst>
              <a:gd name="adj" fmla="val 237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43" name="Text 41"/>
          <p:cNvSpPr/>
          <p:nvPr/>
        </p:nvSpPr>
        <p:spPr>
          <a:xfrm>
            <a:off x="5943600" y="576072"/>
            <a:ext cx="3081528" cy="237744"/>
          </a:xfrm>
          <a:prstGeom prst="rect">
            <a:avLst/>
          </a:prstGeom>
          <a:noFill/>
          <a:ln/>
        </p:spPr>
        <p:txBody>
          <a:bodyPr wrap="square" lIns="0" tIns="0" rIns="0" bIns="0" rtlCol="0" anchor="ctr"/>
          <a:lstStyle/>
          <a:p>
            <a:pPr marL="0" indent="0" algn="ctr">
              <a:buNone/>
            </a:pPr>
            <a:r>
              <a:rPr lang="en-US" sz="1100" b="1" dirty="0">
                <a:solidFill>
                  <a:srgbClr val="0F2057"/>
                </a:solidFill>
                <a:latin typeface="Arial" pitchFamily="34" charset="0"/>
                <a:ea typeface="Arial" pitchFamily="34" charset="-122"/>
                <a:cs typeface="Arial" pitchFamily="34" charset="-120"/>
              </a:rPr>
              <a:t>Architecture</a:t>
            </a:r>
            <a:endParaRPr lang="en-US" sz="1100" dirty="0"/>
          </a:p>
        </p:txBody>
      </p:sp>
      <p:sp>
        <p:nvSpPr>
          <p:cNvPr id="44" name="Shape 42"/>
          <p:cNvSpPr/>
          <p:nvPr/>
        </p:nvSpPr>
        <p:spPr>
          <a:xfrm>
            <a:off x="6053328" y="914400"/>
            <a:ext cx="2862072" cy="548640"/>
          </a:xfrm>
          <a:prstGeom prst="roundRect">
            <a:avLst>
              <a:gd name="adj" fmla="val 13333"/>
            </a:avLst>
          </a:prstGeom>
          <a:solidFill>
            <a:srgbClr val="E3F2FD"/>
          </a:solidFill>
          <a:ln w="15240">
            <a:solidFill>
              <a:srgbClr val="1976D2"/>
            </a:solidFill>
            <a:prstDash val="solid"/>
          </a:ln>
        </p:spPr>
        <p:txBody>
          <a:bodyPr/>
          <a:lstStyle/>
          <a:p>
            <a:endParaRPr lang="en-MY"/>
          </a:p>
        </p:txBody>
      </p:sp>
      <p:sp>
        <p:nvSpPr>
          <p:cNvPr id="45" name="Shape 43"/>
          <p:cNvSpPr/>
          <p:nvPr/>
        </p:nvSpPr>
        <p:spPr>
          <a:xfrm>
            <a:off x="6126480" y="1124712"/>
            <a:ext cx="128016" cy="128016"/>
          </a:xfrm>
          <a:prstGeom prst="ellipse">
            <a:avLst/>
          </a:prstGeom>
          <a:solidFill>
            <a:srgbClr val="1976D2"/>
          </a:solidFill>
          <a:ln/>
        </p:spPr>
        <p:txBody>
          <a:bodyPr/>
          <a:lstStyle/>
          <a:p>
            <a:endParaRPr lang="en-MY"/>
          </a:p>
        </p:txBody>
      </p:sp>
      <p:sp>
        <p:nvSpPr>
          <p:cNvPr id="46" name="Text 44"/>
          <p:cNvSpPr/>
          <p:nvPr/>
        </p:nvSpPr>
        <p:spPr>
          <a:xfrm>
            <a:off x="6309360" y="969264"/>
            <a:ext cx="2532888" cy="219456"/>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Browser / Client</a:t>
            </a:r>
            <a:endParaRPr lang="en-US" sz="1100" dirty="0"/>
          </a:p>
        </p:txBody>
      </p:sp>
      <p:sp>
        <p:nvSpPr>
          <p:cNvPr id="47" name="Text 45"/>
          <p:cNvSpPr/>
          <p:nvPr/>
        </p:nvSpPr>
        <p:spPr>
          <a:xfrm>
            <a:off x="6309360" y="1207008"/>
            <a:ext cx="2532888" cy="201168"/>
          </a:xfrm>
          <a:prstGeom prst="rect">
            <a:avLst/>
          </a:prstGeom>
          <a:noFill/>
          <a:ln/>
        </p:spPr>
        <p:txBody>
          <a:bodyPr wrap="square" lIns="0" tIns="0" rIns="0" bIns="0" rtlCol="0" anchor="ctr"/>
          <a:lstStyle/>
          <a:p>
            <a:pPr marL="0" indent="0">
              <a:buNone/>
            </a:pPr>
            <a:r>
              <a:rPr lang="en-US" sz="950" dirty="0">
                <a:solidFill>
                  <a:srgbClr val="82868B"/>
                </a:solidFill>
                <a:latin typeface="Arial" pitchFamily="34" charset="0"/>
                <a:ea typeface="Arial" pitchFamily="34" charset="-122"/>
                <a:cs typeface="Arial" pitchFamily="34" charset="-120"/>
              </a:rPr>
              <a:t>HTML + CSS + JS</a:t>
            </a:r>
            <a:endParaRPr lang="en-US" sz="950" dirty="0"/>
          </a:p>
        </p:txBody>
      </p:sp>
      <p:sp>
        <p:nvSpPr>
          <p:cNvPr id="48" name="Shape 46"/>
          <p:cNvSpPr/>
          <p:nvPr/>
        </p:nvSpPr>
        <p:spPr>
          <a:xfrm>
            <a:off x="6528816" y="1463040"/>
            <a:ext cx="18288" cy="146304"/>
          </a:xfrm>
          <a:prstGeom prst="rect">
            <a:avLst/>
          </a:prstGeom>
          <a:solidFill>
            <a:srgbClr val="1976D2"/>
          </a:solidFill>
          <a:ln/>
        </p:spPr>
        <p:txBody>
          <a:bodyPr/>
          <a:lstStyle/>
          <a:p>
            <a:endParaRPr lang="en-MY"/>
          </a:p>
        </p:txBody>
      </p:sp>
      <p:sp>
        <p:nvSpPr>
          <p:cNvPr id="49" name="Shape 47"/>
          <p:cNvSpPr/>
          <p:nvPr/>
        </p:nvSpPr>
        <p:spPr>
          <a:xfrm>
            <a:off x="6053328" y="1609344"/>
            <a:ext cx="2862072" cy="548640"/>
          </a:xfrm>
          <a:prstGeom prst="roundRect">
            <a:avLst>
              <a:gd name="adj" fmla="val 13333"/>
            </a:avLst>
          </a:prstGeom>
          <a:solidFill>
            <a:srgbClr val="E8F5E9"/>
          </a:solidFill>
          <a:ln w="15240">
            <a:solidFill>
              <a:srgbClr val="388E3C"/>
            </a:solidFill>
            <a:prstDash val="solid"/>
          </a:ln>
        </p:spPr>
        <p:txBody>
          <a:bodyPr/>
          <a:lstStyle/>
          <a:p>
            <a:endParaRPr lang="en-MY"/>
          </a:p>
        </p:txBody>
      </p:sp>
      <p:sp>
        <p:nvSpPr>
          <p:cNvPr id="50" name="Shape 48"/>
          <p:cNvSpPr/>
          <p:nvPr/>
        </p:nvSpPr>
        <p:spPr>
          <a:xfrm>
            <a:off x="6126480" y="1819656"/>
            <a:ext cx="128016" cy="128016"/>
          </a:xfrm>
          <a:prstGeom prst="ellipse">
            <a:avLst/>
          </a:prstGeom>
          <a:solidFill>
            <a:srgbClr val="388E3C"/>
          </a:solidFill>
          <a:ln/>
        </p:spPr>
        <p:txBody>
          <a:bodyPr/>
          <a:lstStyle/>
          <a:p>
            <a:endParaRPr lang="en-MY"/>
          </a:p>
        </p:txBody>
      </p:sp>
      <p:sp>
        <p:nvSpPr>
          <p:cNvPr id="51" name="Text 49"/>
          <p:cNvSpPr/>
          <p:nvPr/>
        </p:nvSpPr>
        <p:spPr>
          <a:xfrm>
            <a:off x="6309360" y="1664208"/>
            <a:ext cx="2532888" cy="219456"/>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Node.js Server</a:t>
            </a:r>
            <a:endParaRPr lang="en-US" sz="1100" dirty="0"/>
          </a:p>
        </p:txBody>
      </p:sp>
      <p:sp>
        <p:nvSpPr>
          <p:cNvPr id="52" name="Text 50"/>
          <p:cNvSpPr/>
          <p:nvPr/>
        </p:nvSpPr>
        <p:spPr>
          <a:xfrm>
            <a:off x="6309360" y="1901952"/>
            <a:ext cx="2532888" cy="201168"/>
          </a:xfrm>
          <a:prstGeom prst="rect">
            <a:avLst/>
          </a:prstGeom>
          <a:noFill/>
          <a:ln/>
        </p:spPr>
        <p:txBody>
          <a:bodyPr wrap="square" lIns="0" tIns="0" rIns="0" bIns="0" rtlCol="0" anchor="ctr"/>
          <a:lstStyle/>
          <a:p>
            <a:pPr marL="0" indent="0">
              <a:buNone/>
            </a:pPr>
            <a:r>
              <a:rPr lang="en-US" sz="950" dirty="0">
                <a:solidFill>
                  <a:srgbClr val="82868B"/>
                </a:solidFill>
                <a:latin typeface="Arial" pitchFamily="34" charset="0"/>
                <a:ea typeface="Arial" pitchFamily="34" charset="-122"/>
                <a:cs typeface="Arial" pitchFamily="34" charset="-120"/>
              </a:rPr>
              <a:t>API · Routing · Logic</a:t>
            </a:r>
            <a:endParaRPr lang="en-US" sz="950" dirty="0"/>
          </a:p>
        </p:txBody>
      </p:sp>
      <p:sp>
        <p:nvSpPr>
          <p:cNvPr id="53" name="Shape 51"/>
          <p:cNvSpPr/>
          <p:nvPr/>
        </p:nvSpPr>
        <p:spPr>
          <a:xfrm>
            <a:off x="6528816" y="2157984"/>
            <a:ext cx="18288" cy="146304"/>
          </a:xfrm>
          <a:prstGeom prst="rect">
            <a:avLst/>
          </a:prstGeom>
          <a:solidFill>
            <a:srgbClr val="388E3C"/>
          </a:solidFill>
          <a:ln/>
        </p:spPr>
        <p:txBody>
          <a:bodyPr/>
          <a:lstStyle/>
          <a:p>
            <a:endParaRPr lang="en-MY"/>
          </a:p>
        </p:txBody>
      </p:sp>
      <p:sp>
        <p:nvSpPr>
          <p:cNvPr id="54" name="Shape 52"/>
          <p:cNvSpPr/>
          <p:nvPr/>
        </p:nvSpPr>
        <p:spPr>
          <a:xfrm>
            <a:off x="6053328" y="2304288"/>
            <a:ext cx="2862072" cy="548640"/>
          </a:xfrm>
          <a:prstGeom prst="roundRect">
            <a:avLst>
              <a:gd name="adj" fmla="val 13333"/>
            </a:avLst>
          </a:prstGeom>
          <a:solidFill>
            <a:srgbClr val="E0F2F1"/>
          </a:solidFill>
          <a:ln w="15240">
            <a:solidFill>
              <a:srgbClr val="00897B"/>
            </a:solidFill>
            <a:prstDash val="solid"/>
          </a:ln>
        </p:spPr>
        <p:txBody>
          <a:bodyPr/>
          <a:lstStyle/>
          <a:p>
            <a:endParaRPr lang="en-MY"/>
          </a:p>
        </p:txBody>
      </p:sp>
      <p:sp>
        <p:nvSpPr>
          <p:cNvPr id="55" name="Shape 53"/>
          <p:cNvSpPr/>
          <p:nvPr/>
        </p:nvSpPr>
        <p:spPr>
          <a:xfrm>
            <a:off x="6126480" y="2514600"/>
            <a:ext cx="128016" cy="128016"/>
          </a:xfrm>
          <a:prstGeom prst="ellipse">
            <a:avLst/>
          </a:prstGeom>
          <a:solidFill>
            <a:srgbClr val="00897B"/>
          </a:solidFill>
          <a:ln/>
        </p:spPr>
        <p:txBody>
          <a:bodyPr/>
          <a:lstStyle/>
          <a:p>
            <a:endParaRPr lang="en-MY"/>
          </a:p>
        </p:txBody>
      </p:sp>
      <p:sp>
        <p:nvSpPr>
          <p:cNvPr id="56" name="Text 54"/>
          <p:cNvSpPr/>
          <p:nvPr/>
        </p:nvSpPr>
        <p:spPr>
          <a:xfrm>
            <a:off x="6309360" y="2359152"/>
            <a:ext cx="2532888" cy="219456"/>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PostgreSQL</a:t>
            </a:r>
            <a:endParaRPr lang="en-US" sz="1100" dirty="0"/>
          </a:p>
        </p:txBody>
      </p:sp>
      <p:sp>
        <p:nvSpPr>
          <p:cNvPr id="57" name="Text 55"/>
          <p:cNvSpPr/>
          <p:nvPr/>
        </p:nvSpPr>
        <p:spPr>
          <a:xfrm>
            <a:off x="6309360" y="2596896"/>
            <a:ext cx="2532888" cy="201168"/>
          </a:xfrm>
          <a:prstGeom prst="rect">
            <a:avLst/>
          </a:prstGeom>
          <a:noFill/>
          <a:ln/>
        </p:spPr>
        <p:txBody>
          <a:bodyPr wrap="square" lIns="0" tIns="0" rIns="0" bIns="0" rtlCol="0" anchor="ctr"/>
          <a:lstStyle/>
          <a:p>
            <a:pPr marL="0" indent="0">
              <a:buNone/>
            </a:pPr>
            <a:r>
              <a:rPr lang="en-US" sz="950" dirty="0">
                <a:solidFill>
                  <a:srgbClr val="82868B"/>
                </a:solidFill>
                <a:latin typeface="Arial" pitchFamily="34" charset="0"/>
                <a:ea typeface="Arial" pitchFamily="34" charset="-122"/>
                <a:cs typeface="Arial" pitchFamily="34" charset="-120"/>
              </a:rPr>
              <a:t>Data Layer</a:t>
            </a:r>
            <a:endParaRPr lang="en-US" sz="950" dirty="0"/>
          </a:p>
        </p:txBody>
      </p:sp>
      <p:sp>
        <p:nvSpPr>
          <p:cNvPr id="58" name="Shape 56"/>
          <p:cNvSpPr/>
          <p:nvPr/>
        </p:nvSpPr>
        <p:spPr>
          <a:xfrm>
            <a:off x="6528816" y="2852928"/>
            <a:ext cx="18288" cy="146304"/>
          </a:xfrm>
          <a:prstGeom prst="rect">
            <a:avLst/>
          </a:prstGeom>
          <a:solidFill>
            <a:srgbClr val="00897B"/>
          </a:solidFill>
          <a:ln/>
        </p:spPr>
        <p:txBody>
          <a:bodyPr/>
          <a:lstStyle/>
          <a:p>
            <a:endParaRPr lang="en-MY"/>
          </a:p>
        </p:txBody>
      </p:sp>
      <p:sp>
        <p:nvSpPr>
          <p:cNvPr id="59" name="Shape 57"/>
          <p:cNvSpPr/>
          <p:nvPr/>
        </p:nvSpPr>
        <p:spPr>
          <a:xfrm>
            <a:off x="6053328" y="2999232"/>
            <a:ext cx="2862072" cy="548640"/>
          </a:xfrm>
          <a:prstGeom prst="roundRect">
            <a:avLst>
              <a:gd name="adj" fmla="val 13333"/>
            </a:avLst>
          </a:prstGeom>
          <a:solidFill>
            <a:srgbClr val="F3E5F5"/>
          </a:solidFill>
          <a:ln w="15240">
            <a:solidFill>
              <a:srgbClr val="7B1FA2"/>
            </a:solidFill>
            <a:prstDash val="solid"/>
          </a:ln>
        </p:spPr>
        <p:txBody>
          <a:bodyPr/>
          <a:lstStyle/>
          <a:p>
            <a:endParaRPr lang="en-MY"/>
          </a:p>
        </p:txBody>
      </p:sp>
      <p:sp>
        <p:nvSpPr>
          <p:cNvPr id="60" name="Shape 58"/>
          <p:cNvSpPr/>
          <p:nvPr/>
        </p:nvSpPr>
        <p:spPr>
          <a:xfrm>
            <a:off x="6126480" y="3209544"/>
            <a:ext cx="128016" cy="128016"/>
          </a:xfrm>
          <a:prstGeom prst="ellipse">
            <a:avLst/>
          </a:prstGeom>
          <a:solidFill>
            <a:srgbClr val="7B1FA2"/>
          </a:solidFill>
          <a:ln/>
        </p:spPr>
        <p:txBody>
          <a:bodyPr/>
          <a:lstStyle/>
          <a:p>
            <a:endParaRPr lang="en-MY"/>
          </a:p>
        </p:txBody>
      </p:sp>
      <p:sp>
        <p:nvSpPr>
          <p:cNvPr id="61" name="Text 59"/>
          <p:cNvSpPr/>
          <p:nvPr/>
        </p:nvSpPr>
        <p:spPr>
          <a:xfrm>
            <a:off x="6309360" y="3054096"/>
            <a:ext cx="2532888" cy="219456"/>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Groq API</a:t>
            </a:r>
            <a:endParaRPr lang="en-US" sz="1100" dirty="0"/>
          </a:p>
        </p:txBody>
      </p:sp>
      <p:sp>
        <p:nvSpPr>
          <p:cNvPr id="62" name="Text 60"/>
          <p:cNvSpPr/>
          <p:nvPr/>
        </p:nvSpPr>
        <p:spPr>
          <a:xfrm>
            <a:off x="6309360" y="3291840"/>
            <a:ext cx="2532888" cy="201168"/>
          </a:xfrm>
          <a:prstGeom prst="rect">
            <a:avLst/>
          </a:prstGeom>
          <a:noFill/>
          <a:ln/>
        </p:spPr>
        <p:txBody>
          <a:bodyPr wrap="square" lIns="0" tIns="0" rIns="0" bIns="0" rtlCol="0" anchor="ctr"/>
          <a:lstStyle/>
          <a:p>
            <a:pPr marL="0" indent="0">
              <a:buNone/>
            </a:pPr>
            <a:r>
              <a:rPr lang="en-US" sz="950" dirty="0">
                <a:solidFill>
                  <a:srgbClr val="82868B"/>
                </a:solidFill>
                <a:latin typeface="Arial" pitchFamily="34" charset="0"/>
                <a:ea typeface="Arial" pitchFamily="34" charset="-122"/>
                <a:cs typeface="Arial" pitchFamily="34" charset="-120"/>
              </a:rPr>
              <a:t>AI Report Generator</a:t>
            </a:r>
            <a:endParaRPr lang="en-US" sz="950" dirty="0"/>
          </a:p>
        </p:txBody>
      </p:sp>
      <p:sp>
        <p:nvSpPr>
          <p:cNvPr id="63" name="Shape 61"/>
          <p:cNvSpPr/>
          <p:nvPr/>
        </p:nvSpPr>
        <p:spPr>
          <a:xfrm>
            <a:off x="6528816" y="3547872"/>
            <a:ext cx="18288" cy="146304"/>
          </a:xfrm>
          <a:prstGeom prst="rect">
            <a:avLst/>
          </a:prstGeom>
          <a:solidFill>
            <a:srgbClr val="7B1FA2"/>
          </a:solidFill>
          <a:ln/>
        </p:spPr>
        <p:txBody>
          <a:bodyPr/>
          <a:lstStyle/>
          <a:p>
            <a:endParaRPr lang="en-MY"/>
          </a:p>
        </p:txBody>
      </p:sp>
      <p:sp>
        <p:nvSpPr>
          <p:cNvPr id="64" name="Shape 62"/>
          <p:cNvSpPr/>
          <p:nvPr/>
        </p:nvSpPr>
        <p:spPr>
          <a:xfrm>
            <a:off x="6053328" y="3694176"/>
            <a:ext cx="2862072" cy="548640"/>
          </a:xfrm>
          <a:prstGeom prst="roundRect">
            <a:avLst>
              <a:gd name="adj" fmla="val 13333"/>
            </a:avLst>
          </a:prstGeom>
          <a:solidFill>
            <a:srgbClr val="FFF8E1"/>
          </a:solidFill>
          <a:ln w="15240">
            <a:solidFill>
              <a:srgbClr val="FF8F00"/>
            </a:solidFill>
            <a:prstDash val="solid"/>
          </a:ln>
        </p:spPr>
        <p:txBody>
          <a:bodyPr/>
          <a:lstStyle/>
          <a:p>
            <a:endParaRPr lang="en-MY"/>
          </a:p>
        </p:txBody>
      </p:sp>
      <p:sp>
        <p:nvSpPr>
          <p:cNvPr id="65" name="Shape 63"/>
          <p:cNvSpPr/>
          <p:nvPr/>
        </p:nvSpPr>
        <p:spPr>
          <a:xfrm>
            <a:off x="6126480" y="3904488"/>
            <a:ext cx="128016" cy="128016"/>
          </a:xfrm>
          <a:prstGeom prst="ellipse">
            <a:avLst/>
          </a:prstGeom>
          <a:solidFill>
            <a:srgbClr val="FF8F00"/>
          </a:solidFill>
          <a:ln/>
        </p:spPr>
        <p:txBody>
          <a:bodyPr/>
          <a:lstStyle/>
          <a:p>
            <a:endParaRPr lang="en-MY"/>
          </a:p>
        </p:txBody>
      </p:sp>
      <p:sp>
        <p:nvSpPr>
          <p:cNvPr id="66" name="Text 64"/>
          <p:cNvSpPr/>
          <p:nvPr/>
        </p:nvSpPr>
        <p:spPr>
          <a:xfrm>
            <a:off x="6309360" y="3749040"/>
            <a:ext cx="2532888" cy="219456"/>
          </a:xfrm>
          <a:prstGeom prst="rect">
            <a:avLst/>
          </a:prstGeom>
          <a:noFill/>
          <a:ln/>
        </p:spPr>
        <p:txBody>
          <a:bodyPr wrap="square" lIns="0" tIns="0" rIns="0" bIns="0" rtlCol="0" anchor="ctr"/>
          <a:lstStyle/>
          <a:p>
            <a:pPr marL="0" indent="0">
              <a:buNone/>
            </a:pPr>
            <a:r>
              <a:rPr lang="en-US" sz="1100" b="1" dirty="0">
                <a:solidFill>
                  <a:srgbClr val="0F2057"/>
                </a:solidFill>
                <a:latin typeface="Arial" pitchFamily="34" charset="0"/>
                <a:ea typeface="Arial" pitchFamily="34" charset="-122"/>
                <a:cs typeface="Arial" pitchFamily="34" charset="-120"/>
              </a:rPr>
              <a:t>Python Agents</a:t>
            </a:r>
            <a:endParaRPr lang="en-US" sz="1100" dirty="0"/>
          </a:p>
        </p:txBody>
      </p:sp>
      <p:sp>
        <p:nvSpPr>
          <p:cNvPr id="67" name="Text 65"/>
          <p:cNvSpPr/>
          <p:nvPr/>
        </p:nvSpPr>
        <p:spPr>
          <a:xfrm>
            <a:off x="6309360" y="3986784"/>
            <a:ext cx="2532888" cy="201168"/>
          </a:xfrm>
          <a:prstGeom prst="rect">
            <a:avLst/>
          </a:prstGeom>
          <a:noFill/>
          <a:ln/>
        </p:spPr>
        <p:txBody>
          <a:bodyPr wrap="square" lIns="0" tIns="0" rIns="0" bIns="0" rtlCol="0" anchor="ctr"/>
          <a:lstStyle/>
          <a:p>
            <a:pPr marL="0" indent="0">
              <a:buNone/>
            </a:pPr>
            <a:r>
              <a:rPr lang="en-US" sz="950" dirty="0">
                <a:solidFill>
                  <a:srgbClr val="82868B"/>
                </a:solidFill>
                <a:latin typeface="Arial" pitchFamily="34" charset="0"/>
                <a:ea typeface="Arial" pitchFamily="34" charset="-122"/>
                <a:cs typeface="Arial" pitchFamily="34" charset="-120"/>
              </a:rPr>
              <a:t>Match · PDF Scripts</a:t>
            </a:r>
            <a:endParaRPr lang="en-US" sz="950" dirty="0"/>
          </a:p>
        </p:txBody>
      </p:sp>
      <p:sp>
        <p:nvSpPr>
          <p:cNvPr id="68" name="Shape 66"/>
          <p:cNvSpPr/>
          <p:nvPr/>
        </p:nvSpPr>
        <p:spPr>
          <a:xfrm>
            <a:off x="6053328" y="4407408"/>
            <a:ext cx="2862072" cy="292608"/>
          </a:xfrm>
          <a:prstGeom prst="roundRect">
            <a:avLst>
              <a:gd name="adj" fmla="val 18750"/>
            </a:avLst>
          </a:prstGeom>
          <a:solidFill>
            <a:srgbClr val="E8F5E9"/>
          </a:solidFill>
          <a:ln w="12700">
            <a:solidFill>
              <a:srgbClr val="388E3C"/>
            </a:solidFill>
            <a:prstDash val="solid"/>
          </a:ln>
        </p:spPr>
        <p:txBody>
          <a:bodyPr/>
          <a:lstStyle/>
          <a:p>
            <a:endParaRPr lang="en-MY"/>
          </a:p>
        </p:txBody>
      </p:sp>
      <p:sp>
        <p:nvSpPr>
          <p:cNvPr id="69" name="Text 67"/>
          <p:cNvSpPr/>
          <p:nvPr/>
        </p:nvSpPr>
        <p:spPr>
          <a:xfrm>
            <a:off x="6053328" y="4407408"/>
            <a:ext cx="2862072" cy="292608"/>
          </a:xfrm>
          <a:prstGeom prst="rect">
            <a:avLst/>
          </a:prstGeom>
          <a:noFill/>
          <a:ln/>
        </p:spPr>
        <p:txBody>
          <a:bodyPr wrap="square" lIns="0" tIns="0" rIns="0" bIns="0" rtlCol="0" anchor="ctr"/>
          <a:lstStyle/>
          <a:p>
            <a:pPr marL="0" indent="0" algn="ctr">
              <a:buNone/>
            </a:pPr>
            <a:r>
              <a:rPr lang="en-US" sz="950" b="1" dirty="0">
                <a:solidFill>
                  <a:srgbClr val="388E3C"/>
                </a:solidFill>
                <a:latin typeface="Arial" pitchFamily="34" charset="0"/>
                <a:ea typeface="Arial" pitchFamily="34" charset="-122"/>
                <a:cs typeface="Arial" pitchFamily="34" charset="-120"/>
              </a:rPr>
              <a:t>100% Open Source · Zero Licence Cost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How It Works</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06 / 10</a:t>
            </a:r>
            <a:endParaRPr lang="en-US" sz="900" dirty="0"/>
          </a:p>
        </p:txBody>
      </p:sp>
      <p:sp>
        <p:nvSpPr>
          <p:cNvPr id="6" name="Shape 4"/>
          <p:cNvSpPr/>
          <p:nvPr/>
        </p:nvSpPr>
        <p:spPr>
          <a:xfrm>
            <a:off x="118872"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Shape 5"/>
          <p:cNvSpPr/>
          <p:nvPr/>
        </p:nvSpPr>
        <p:spPr>
          <a:xfrm>
            <a:off x="118872" y="512064"/>
            <a:ext cx="2944368" cy="82296"/>
          </a:xfrm>
          <a:prstGeom prst="roundRect">
            <a:avLst>
              <a:gd name="adj" fmla="val 66667"/>
            </a:avLst>
          </a:prstGeom>
          <a:solidFill>
            <a:srgbClr val="388E3C"/>
          </a:solidFill>
          <a:ln/>
        </p:spPr>
        <p:txBody>
          <a:bodyPr/>
          <a:lstStyle/>
          <a:p>
            <a:endParaRPr lang="en-MY"/>
          </a:p>
        </p:txBody>
      </p:sp>
      <p:sp>
        <p:nvSpPr>
          <p:cNvPr id="8" name="Shape 6"/>
          <p:cNvSpPr/>
          <p:nvPr/>
        </p:nvSpPr>
        <p:spPr>
          <a:xfrm>
            <a:off x="246888" y="658368"/>
            <a:ext cx="530352" cy="530352"/>
          </a:xfrm>
          <a:prstGeom prst="ellipse">
            <a:avLst/>
          </a:prstGeom>
          <a:solidFill>
            <a:srgbClr val="388E3C"/>
          </a:solidFill>
          <a:ln/>
        </p:spPr>
        <p:txBody>
          <a:bodyPr/>
          <a:lstStyle/>
          <a:p>
            <a:endParaRPr lang="en-MY"/>
          </a:p>
        </p:txBody>
      </p:sp>
      <p:sp>
        <p:nvSpPr>
          <p:cNvPr id="9" name="Shape 7"/>
          <p:cNvSpPr/>
          <p:nvPr/>
        </p:nvSpPr>
        <p:spPr>
          <a:xfrm>
            <a:off x="246888" y="658368"/>
            <a:ext cx="530352" cy="530352"/>
          </a:xfrm>
          <a:prstGeom prst="ellipse">
            <a:avLst/>
          </a:prstGeom>
          <a:solidFill>
            <a:srgbClr val="1976D2">
              <a:alpha val="48000"/>
            </a:srgbClr>
          </a:solidFill>
          <a:ln/>
        </p:spPr>
        <p:txBody>
          <a:bodyPr/>
          <a:lstStyle/>
          <a:p>
            <a:endParaRPr lang="en-MY"/>
          </a:p>
        </p:txBody>
      </p:sp>
      <p:sp>
        <p:nvSpPr>
          <p:cNvPr id="10" name="Text 8"/>
          <p:cNvSpPr/>
          <p:nvPr/>
        </p:nvSpPr>
        <p:spPr>
          <a:xfrm>
            <a:off x="246888" y="658368"/>
            <a:ext cx="530352"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1" name="Text 9"/>
          <p:cNvSpPr/>
          <p:nvPr/>
        </p:nvSpPr>
        <p:spPr>
          <a:xfrm>
            <a:off x="850392" y="713232"/>
            <a:ext cx="2084832" cy="182880"/>
          </a:xfrm>
          <a:prstGeom prst="rect">
            <a:avLst/>
          </a:prstGeom>
          <a:noFill/>
          <a:ln/>
        </p:spPr>
        <p:txBody>
          <a:bodyPr wrap="square" lIns="0" tIns="0" rIns="0" bIns="0" rtlCol="0" anchor="ctr"/>
          <a:lstStyle/>
          <a:p>
            <a:pPr marL="0" indent="0">
              <a:buNone/>
            </a:pPr>
            <a:r>
              <a:rPr lang="en-US" sz="850" kern="0" spc="50" dirty="0">
                <a:solidFill>
                  <a:srgbClr val="82868B"/>
                </a:solidFill>
                <a:latin typeface="Arial" pitchFamily="34" charset="0"/>
                <a:ea typeface="Arial" pitchFamily="34" charset="-122"/>
                <a:cs typeface="Arial" pitchFamily="34" charset="-120"/>
              </a:rPr>
              <a:t>STEP ONE</a:t>
            </a:r>
            <a:endParaRPr lang="en-US" sz="850" dirty="0"/>
          </a:p>
        </p:txBody>
      </p:sp>
      <p:sp>
        <p:nvSpPr>
          <p:cNvPr id="12" name="Text 10"/>
          <p:cNvSpPr/>
          <p:nvPr/>
        </p:nvSpPr>
        <p:spPr>
          <a:xfrm>
            <a:off x="246888" y="1261872"/>
            <a:ext cx="2688336" cy="45720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Student Profile</a:t>
            </a:r>
            <a:endParaRPr lang="en-US" sz="1350" dirty="0"/>
          </a:p>
        </p:txBody>
      </p:sp>
      <p:sp>
        <p:nvSpPr>
          <p:cNvPr id="13" name="Shape 11"/>
          <p:cNvSpPr/>
          <p:nvPr/>
        </p:nvSpPr>
        <p:spPr>
          <a:xfrm>
            <a:off x="265176" y="1874520"/>
            <a:ext cx="91440" cy="91440"/>
          </a:xfrm>
          <a:prstGeom prst="ellipse">
            <a:avLst/>
          </a:prstGeom>
          <a:solidFill>
            <a:srgbClr val="388E3C"/>
          </a:solidFill>
          <a:ln/>
        </p:spPr>
        <p:txBody>
          <a:bodyPr/>
          <a:lstStyle/>
          <a:p>
            <a:endParaRPr lang="en-MY"/>
          </a:p>
        </p:txBody>
      </p:sp>
      <p:sp>
        <p:nvSpPr>
          <p:cNvPr id="14" name="Text 12"/>
          <p:cNvSpPr/>
          <p:nvPr/>
        </p:nvSpPr>
        <p:spPr>
          <a:xfrm>
            <a:off x="411480" y="1783080"/>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SPM examination results for all subjects</a:t>
            </a:r>
            <a:endParaRPr lang="en-US" sz="1050" dirty="0"/>
          </a:p>
        </p:txBody>
      </p:sp>
      <p:sp>
        <p:nvSpPr>
          <p:cNvPr id="15" name="Shape 13"/>
          <p:cNvSpPr/>
          <p:nvPr/>
        </p:nvSpPr>
        <p:spPr>
          <a:xfrm>
            <a:off x="265176" y="2350008"/>
            <a:ext cx="91440" cy="91440"/>
          </a:xfrm>
          <a:prstGeom prst="ellipse">
            <a:avLst/>
          </a:prstGeom>
          <a:solidFill>
            <a:srgbClr val="388E3C"/>
          </a:solidFill>
          <a:ln/>
        </p:spPr>
        <p:txBody>
          <a:bodyPr/>
          <a:lstStyle/>
          <a:p>
            <a:endParaRPr lang="en-MY"/>
          </a:p>
        </p:txBody>
      </p:sp>
      <p:sp>
        <p:nvSpPr>
          <p:cNvPr id="16" name="Text 14"/>
          <p:cNvSpPr/>
          <p:nvPr/>
        </p:nvSpPr>
        <p:spPr>
          <a:xfrm>
            <a:off x="411480" y="2258568"/>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Co-curricular score (scale 0 – 100)</a:t>
            </a:r>
            <a:endParaRPr lang="en-US" sz="1050" dirty="0"/>
          </a:p>
        </p:txBody>
      </p:sp>
      <p:sp>
        <p:nvSpPr>
          <p:cNvPr id="17" name="Shape 15"/>
          <p:cNvSpPr/>
          <p:nvPr/>
        </p:nvSpPr>
        <p:spPr>
          <a:xfrm>
            <a:off x="265176" y="2825496"/>
            <a:ext cx="91440" cy="91440"/>
          </a:xfrm>
          <a:prstGeom prst="ellipse">
            <a:avLst/>
          </a:prstGeom>
          <a:solidFill>
            <a:srgbClr val="388E3C"/>
          </a:solidFill>
          <a:ln/>
        </p:spPr>
        <p:txBody>
          <a:bodyPr/>
          <a:lstStyle/>
          <a:p>
            <a:endParaRPr lang="en-MY"/>
          </a:p>
        </p:txBody>
      </p:sp>
      <p:sp>
        <p:nvSpPr>
          <p:cNvPr id="18" name="Text 16"/>
          <p:cNvSpPr/>
          <p:nvPr/>
        </p:nvSpPr>
        <p:spPr>
          <a:xfrm>
            <a:off x="411480" y="2734056"/>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Preferred field of study (Science / Arts / Technical)</a:t>
            </a:r>
            <a:endParaRPr lang="en-US" sz="1050" dirty="0"/>
          </a:p>
        </p:txBody>
      </p:sp>
      <p:sp>
        <p:nvSpPr>
          <p:cNvPr id="19" name="Shape 17"/>
          <p:cNvSpPr/>
          <p:nvPr/>
        </p:nvSpPr>
        <p:spPr>
          <a:xfrm>
            <a:off x="265176" y="3300984"/>
            <a:ext cx="91440" cy="91440"/>
          </a:xfrm>
          <a:prstGeom prst="ellipse">
            <a:avLst/>
          </a:prstGeom>
          <a:solidFill>
            <a:srgbClr val="388E3C"/>
          </a:solidFill>
          <a:ln/>
        </p:spPr>
        <p:txBody>
          <a:bodyPr/>
          <a:lstStyle/>
          <a:p>
            <a:endParaRPr lang="en-MY"/>
          </a:p>
        </p:txBody>
      </p:sp>
      <p:sp>
        <p:nvSpPr>
          <p:cNvPr id="20" name="Text 18"/>
          <p:cNvSpPr/>
          <p:nvPr/>
        </p:nvSpPr>
        <p:spPr>
          <a:xfrm>
            <a:off x="411480" y="3209544"/>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Higher Education Institution type preference: Public / Private / Polytechnic / Others</a:t>
            </a:r>
            <a:endParaRPr lang="en-US" sz="1050" dirty="0"/>
          </a:p>
        </p:txBody>
      </p:sp>
      <p:sp>
        <p:nvSpPr>
          <p:cNvPr id="21" name="Shape 19"/>
          <p:cNvSpPr/>
          <p:nvPr/>
        </p:nvSpPr>
        <p:spPr>
          <a:xfrm>
            <a:off x="265176" y="3776472"/>
            <a:ext cx="91440" cy="91440"/>
          </a:xfrm>
          <a:prstGeom prst="ellipse">
            <a:avLst/>
          </a:prstGeom>
          <a:solidFill>
            <a:srgbClr val="388E3C"/>
          </a:solidFill>
          <a:ln/>
        </p:spPr>
        <p:txBody>
          <a:bodyPr/>
          <a:lstStyle/>
          <a:p>
            <a:endParaRPr lang="en-MY"/>
          </a:p>
        </p:txBody>
      </p:sp>
      <p:sp>
        <p:nvSpPr>
          <p:cNvPr id="22" name="Text 20"/>
          <p:cNvSpPr/>
          <p:nvPr/>
        </p:nvSpPr>
        <p:spPr>
          <a:xfrm>
            <a:off x="411480" y="3685032"/>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Household income level: B40 / M40 / T20</a:t>
            </a:r>
            <a:endParaRPr lang="en-US" sz="1050" dirty="0"/>
          </a:p>
        </p:txBody>
      </p:sp>
      <p:sp>
        <p:nvSpPr>
          <p:cNvPr id="23" name="Shape 21"/>
          <p:cNvSpPr/>
          <p:nvPr/>
        </p:nvSpPr>
        <p:spPr>
          <a:xfrm>
            <a:off x="246888" y="4626864"/>
            <a:ext cx="2688336" cy="100584"/>
          </a:xfrm>
          <a:prstGeom prst="roundRect">
            <a:avLst>
              <a:gd name="adj" fmla="val 50000"/>
            </a:avLst>
          </a:prstGeom>
          <a:solidFill>
            <a:srgbClr val="E8F5F0"/>
          </a:solidFill>
          <a:ln/>
        </p:spPr>
        <p:txBody>
          <a:bodyPr/>
          <a:lstStyle/>
          <a:p>
            <a:endParaRPr lang="en-MY"/>
          </a:p>
        </p:txBody>
      </p:sp>
      <p:sp>
        <p:nvSpPr>
          <p:cNvPr id="24" name="Shape 22"/>
          <p:cNvSpPr/>
          <p:nvPr/>
        </p:nvSpPr>
        <p:spPr>
          <a:xfrm>
            <a:off x="246888" y="4626864"/>
            <a:ext cx="887151" cy="100584"/>
          </a:xfrm>
          <a:prstGeom prst="roundRect">
            <a:avLst>
              <a:gd name="adj" fmla="val 50000"/>
            </a:avLst>
          </a:prstGeom>
          <a:solidFill>
            <a:srgbClr val="388E3C"/>
          </a:solidFill>
          <a:ln/>
        </p:spPr>
        <p:txBody>
          <a:bodyPr/>
          <a:lstStyle/>
          <a:p>
            <a:endParaRPr lang="en-MY"/>
          </a:p>
        </p:txBody>
      </p:sp>
      <p:sp>
        <p:nvSpPr>
          <p:cNvPr id="25" name="Text 23"/>
          <p:cNvSpPr/>
          <p:nvPr/>
        </p:nvSpPr>
        <p:spPr>
          <a:xfrm>
            <a:off x="246888" y="4745736"/>
            <a:ext cx="2688336" cy="182880"/>
          </a:xfrm>
          <a:prstGeom prst="rect">
            <a:avLst/>
          </a:prstGeom>
          <a:noFill/>
          <a:ln/>
        </p:spPr>
        <p:txBody>
          <a:bodyPr wrap="square" lIns="0" tIns="0" rIns="0" bIns="0" rtlCol="0" anchor="ctr"/>
          <a:lstStyle/>
          <a:p>
            <a:pPr marL="0" indent="0" algn="r">
              <a:buNone/>
            </a:pPr>
            <a:r>
              <a:rPr lang="en-US" sz="900" b="1" dirty="0">
                <a:solidFill>
                  <a:srgbClr val="388E3C"/>
                </a:solidFill>
                <a:latin typeface="Arial" pitchFamily="34" charset="0"/>
                <a:ea typeface="Arial" pitchFamily="34" charset="-122"/>
                <a:cs typeface="Arial" pitchFamily="34" charset="-120"/>
              </a:rPr>
              <a:t>33% Complete</a:t>
            </a:r>
            <a:endParaRPr lang="en-US" sz="900" dirty="0"/>
          </a:p>
        </p:txBody>
      </p:sp>
      <p:sp>
        <p:nvSpPr>
          <p:cNvPr id="26" name="Shape 24"/>
          <p:cNvSpPr/>
          <p:nvPr/>
        </p:nvSpPr>
        <p:spPr>
          <a:xfrm>
            <a:off x="3127248" y="2560320"/>
            <a:ext cx="173736" cy="173736"/>
          </a:xfrm>
          <a:prstGeom prst="ellipse">
            <a:avLst/>
          </a:prstGeom>
          <a:solidFill>
            <a:srgbClr val="D4E9E2"/>
          </a:solidFill>
          <a:ln/>
        </p:spPr>
        <p:txBody>
          <a:bodyPr/>
          <a:lstStyle/>
          <a:p>
            <a:endParaRPr lang="en-MY"/>
          </a:p>
        </p:txBody>
      </p:sp>
      <p:sp>
        <p:nvSpPr>
          <p:cNvPr id="27" name="Text 25"/>
          <p:cNvSpPr/>
          <p:nvPr/>
        </p:nvSpPr>
        <p:spPr>
          <a:xfrm>
            <a:off x="3122676" y="2551176"/>
            <a:ext cx="201168" cy="201168"/>
          </a:xfrm>
          <a:prstGeom prst="rect">
            <a:avLst/>
          </a:prstGeom>
          <a:noFill/>
          <a:ln/>
        </p:spPr>
        <p:txBody>
          <a:bodyPr wrap="square" lIns="0" tIns="0" rIns="0" bIns="0" rtlCol="0" anchor="ctr"/>
          <a:lstStyle/>
          <a:p>
            <a:pPr marL="0" indent="0" algn="ctr">
              <a:buNone/>
            </a:pPr>
            <a:r>
              <a:rPr lang="en-US" sz="1000" b="1" dirty="0">
                <a:solidFill>
                  <a:srgbClr val="388E3C"/>
                </a:solidFill>
                <a:latin typeface="Arial" pitchFamily="34" charset="0"/>
                <a:ea typeface="Arial" pitchFamily="34" charset="-122"/>
                <a:cs typeface="Arial" pitchFamily="34" charset="-120"/>
              </a:rPr>
              <a:t>&gt;</a:t>
            </a:r>
            <a:endParaRPr lang="en-US" sz="1000" dirty="0"/>
          </a:p>
        </p:txBody>
      </p:sp>
      <p:sp>
        <p:nvSpPr>
          <p:cNvPr id="28" name="Shape 26"/>
          <p:cNvSpPr/>
          <p:nvPr/>
        </p:nvSpPr>
        <p:spPr>
          <a:xfrm>
            <a:off x="3154680"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29" name="Shape 27"/>
          <p:cNvSpPr/>
          <p:nvPr/>
        </p:nvSpPr>
        <p:spPr>
          <a:xfrm>
            <a:off x="3154680" y="512064"/>
            <a:ext cx="2944368" cy="82296"/>
          </a:xfrm>
          <a:prstGeom prst="roundRect">
            <a:avLst>
              <a:gd name="adj" fmla="val 66667"/>
            </a:avLst>
          </a:prstGeom>
          <a:solidFill>
            <a:srgbClr val="1976D2"/>
          </a:solidFill>
          <a:ln/>
        </p:spPr>
        <p:txBody>
          <a:bodyPr/>
          <a:lstStyle/>
          <a:p>
            <a:endParaRPr lang="en-MY"/>
          </a:p>
        </p:txBody>
      </p:sp>
      <p:sp>
        <p:nvSpPr>
          <p:cNvPr id="30" name="Shape 28"/>
          <p:cNvSpPr/>
          <p:nvPr/>
        </p:nvSpPr>
        <p:spPr>
          <a:xfrm>
            <a:off x="3282696" y="658368"/>
            <a:ext cx="530352" cy="530352"/>
          </a:xfrm>
          <a:prstGeom prst="ellipse">
            <a:avLst/>
          </a:prstGeom>
          <a:solidFill>
            <a:srgbClr val="1976D2"/>
          </a:solidFill>
          <a:ln/>
        </p:spPr>
        <p:txBody>
          <a:bodyPr/>
          <a:lstStyle/>
          <a:p>
            <a:endParaRPr lang="en-MY"/>
          </a:p>
        </p:txBody>
      </p:sp>
      <p:sp>
        <p:nvSpPr>
          <p:cNvPr id="31" name="Text 29"/>
          <p:cNvSpPr/>
          <p:nvPr/>
        </p:nvSpPr>
        <p:spPr>
          <a:xfrm>
            <a:off x="3282696" y="658368"/>
            <a:ext cx="530352"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32" name="Text 30"/>
          <p:cNvSpPr/>
          <p:nvPr/>
        </p:nvSpPr>
        <p:spPr>
          <a:xfrm>
            <a:off x="3886200" y="713232"/>
            <a:ext cx="2084832" cy="182880"/>
          </a:xfrm>
          <a:prstGeom prst="rect">
            <a:avLst/>
          </a:prstGeom>
          <a:noFill/>
          <a:ln/>
        </p:spPr>
        <p:txBody>
          <a:bodyPr wrap="square" lIns="0" tIns="0" rIns="0" bIns="0" rtlCol="0" anchor="ctr"/>
          <a:lstStyle/>
          <a:p>
            <a:pPr marL="0" indent="0">
              <a:buNone/>
            </a:pPr>
            <a:r>
              <a:rPr lang="en-US" sz="850" kern="0" spc="50" dirty="0">
                <a:solidFill>
                  <a:srgbClr val="82868B"/>
                </a:solidFill>
                <a:latin typeface="Arial" pitchFamily="34" charset="0"/>
                <a:ea typeface="Arial" pitchFamily="34" charset="-122"/>
                <a:cs typeface="Arial" pitchFamily="34" charset="-120"/>
              </a:rPr>
              <a:t>STEP TWO</a:t>
            </a:r>
            <a:endParaRPr lang="en-US" sz="850" dirty="0"/>
          </a:p>
        </p:txBody>
      </p:sp>
      <p:sp>
        <p:nvSpPr>
          <p:cNvPr id="33" name="Text 31"/>
          <p:cNvSpPr/>
          <p:nvPr/>
        </p:nvSpPr>
        <p:spPr>
          <a:xfrm>
            <a:off x="3282696" y="1261872"/>
            <a:ext cx="2688336" cy="45720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System Analyses &amp; Matches</a:t>
            </a:r>
            <a:endParaRPr lang="en-US" sz="1350" dirty="0"/>
          </a:p>
        </p:txBody>
      </p:sp>
      <p:sp>
        <p:nvSpPr>
          <p:cNvPr id="34" name="Shape 32"/>
          <p:cNvSpPr/>
          <p:nvPr/>
        </p:nvSpPr>
        <p:spPr>
          <a:xfrm>
            <a:off x="3300984" y="1874520"/>
            <a:ext cx="91440" cy="91440"/>
          </a:xfrm>
          <a:prstGeom prst="ellipse">
            <a:avLst/>
          </a:prstGeom>
          <a:solidFill>
            <a:srgbClr val="1976D2"/>
          </a:solidFill>
          <a:ln/>
        </p:spPr>
        <p:txBody>
          <a:bodyPr/>
          <a:lstStyle/>
          <a:p>
            <a:endParaRPr lang="en-MY"/>
          </a:p>
        </p:txBody>
      </p:sp>
      <p:sp>
        <p:nvSpPr>
          <p:cNvPr id="35" name="Text 33"/>
          <p:cNvSpPr/>
          <p:nvPr/>
        </p:nvSpPr>
        <p:spPr>
          <a:xfrm>
            <a:off x="3447288" y="1783080"/>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Profile compared against 23 scholarships in the database</a:t>
            </a:r>
            <a:endParaRPr lang="en-US" sz="1050" dirty="0"/>
          </a:p>
        </p:txBody>
      </p:sp>
      <p:sp>
        <p:nvSpPr>
          <p:cNvPr id="36" name="Shape 34"/>
          <p:cNvSpPr/>
          <p:nvPr/>
        </p:nvSpPr>
        <p:spPr>
          <a:xfrm>
            <a:off x="3300984" y="2350008"/>
            <a:ext cx="91440" cy="91440"/>
          </a:xfrm>
          <a:prstGeom prst="ellipse">
            <a:avLst/>
          </a:prstGeom>
          <a:solidFill>
            <a:srgbClr val="1976D2"/>
          </a:solidFill>
          <a:ln/>
        </p:spPr>
        <p:txBody>
          <a:bodyPr/>
          <a:lstStyle/>
          <a:p>
            <a:endParaRPr lang="en-MY"/>
          </a:p>
        </p:txBody>
      </p:sp>
      <p:sp>
        <p:nvSpPr>
          <p:cNvPr id="37" name="Text 35"/>
          <p:cNvSpPr/>
          <p:nvPr/>
        </p:nvSpPr>
        <p:spPr>
          <a:xfrm>
            <a:off x="3447288" y="2258568"/>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Score = Academic SPM (90%) + Co-curricular PAJSK (10%)</a:t>
            </a:r>
            <a:endParaRPr lang="en-US" sz="1050" dirty="0"/>
          </a:p>
        </p:txBody>
      </p:sp>
      <p:sp>
        <p:nvSpPr>
          <p:cNvPr id="38" name="Shape 36"/>
          <p:cNvSpPr/>
          <p:nvPr/>
        </p:nvSpPr>
        <p:spPr>
          <a:xfrm>
            <a:off x="3300984" y="2825496"/>
            <a:ext cx="91440" cy="91440"/>
          </a:xfrm>
          <a:prstGeom prst="ellipse">
            <a:avLst/>
          </a:prstGeom>
          <a:solidFill>
            <a:srgbClr val="1976D2"/>
          </a:solidFill>
          <a:ln/>
        </p:spPr>
        <p:txBody>
          <a:bodyPr/>
          <a:lstStyle/>
          <a:p>
            <a:endParaRPr lang="en-MY"/>
          </a:p>
        </p:txBody>
      </p:sp>
      <p:sp>
        <p:nvSpPr>
          <p:cNvPr id="39" name="Text 37"/>
          <p:cNvSpPr/>
          <p:nvPr/>
        </p:nvSpPr>
        <p:spPr>
          <a:xfrm>
            <a:off x="3447288" y="2734056"/>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Income category determines scholarship eligibility (B40/M40/T20)</a:t>
            </a:r>
            <a:endParaRPr lang="en-US" sz="1050" dirty="0"/>
          </a:p>
        </p:txBody>
      </p:sp>
      <p:sp>
        <p:nvSpPr>
          <p:cNvPr id="40" name="Shape 38"/>
          <p:cNvSpPr/>
          <p:nvPr/>
        </p:nvSpPr>
        <p:spPr>
          <a:xfrm>
            <a:off x="3300984" y="3300984"/>
            <a:ext cx="91440" cy="91440"/>
          </a:xfrm>
          <a:prstGeom prst="ellipse">
            <a:avLst/>
          </a:prstGeom>
          <a:solidFill>
            <a:srgbClr val="1976D2"/>
          </a:solidFill>
          <a:ln/>
        </p:spPr>
        <p:txBody>
          <a:bodyPr/>
          <a:lstStyle/>
          <a:p>
            <a:endParaRPr lang="en-MY"/>
          </a:p>
        </p:txBody>
      </p:sp>
      <p:sp>
        <p:nvSpPr>
          <p:cNvPr id="41" name="Text 39"/>
          <p:cNvSpPr/>
          <p:nvPr/>
        </p:nvSpPr>
        <p:spPr>
          <a:xfrm>
            <a:off x="3447288" y="3209544"/>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30 Higher Education Institution filtered against student profile criteria</a:t>
            </a:r>
            <a:endParaRPr lang="en-US" sz="1050" dirty="0"/>
          </a:p>
        </p:txBody>
      </p:sp>
      <p:sp>
        <p:nvSpPr>
          <p:cNvPr id="42" name="Shape 40"/>
          <p:cNvSpPr/>
          <p:nvPr/>
        </p:nvSpPr>
        <p:spPr>
          <a:xfrm>
            <a:off x="3300984" y="3776472"/>
            <a:ext cx="91440" cy="91440"/>
          </a:xfrm>
          <a:prstGeom prst="ellipse">
            <a:avLst/>
          </a:prstGeom>
          <a:solidFill>
            <a:srgbClr val="1976D2"/>
          </a:solidFill>
          <a:ln/>
        </p:spPr>
        <p:txBody>
          <a:bodyPr/>
          <a:lstStyle/>
          <a:p>
            <a:endParaRPr lang="en-MY"/>
          </a:p>
        </p:txBody>
      </p:sp>
      <p:sp>
        <p:nvSpPr>
          <p:cNvPr id="43" name="Text 41"/>
          <p:cNvSpPr/>
          <p:nvPr/>
        </p:nvSpPr>
        <p:spPr>
          <a:xfrm>
            <a:off x="3447288" y="3685032"/>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All options ranked by highest suitability score</a:t>
            </a:r>
            <a:endParaRPr lang="en-US" sz="1050" dirty="0"/>
          </a:p>
        </p:txBody>
      </p:sp>
      <p:sp>
        <p:nvSpPr>
          <p:cNvPr id="44" name="Shape 42"/>
          <p:cNvSpPr/>
          <p:nvPr/>
        </p:nvSpPr>
        <p:spPr>
          <a:xfrm>
            <a:off x="3282696" y="4626864"/>
            <a:ext cx="2688336" cy="100584"/>
          </a:xfrm>
          <a:prstGeom prst="roundRect">
            <a:avLst>
              <a:gd name="adj" fmla="val 50000"/>
            </a:avLst>
          </a:prstGeom>
          <a:solidFill>
            <a:srgbClr val="E8F5F0"/>
          </a:solidFill>
          <a:ln/>
        </p:spPr>
        <p:txBody>
          <a:bodyPr/>
          <a:lstStyle/>
          <a:p>
            <a:endParaRPr lang="en-MY"/>
          </a:p>
        </p:txBody>
      </p:sp>
      <p:sp>
        <p:nvSpPr>
          <p:cNvPr id="45" name="Shape 43"/>
          <p:cNvSpPr/>
          <p:nvPr/>
        </p:nvSpPr>
        <p:spPr>
          <a:xfrm>
            <a:off x="3282696" y="4626864"/>
            <a:ext cx="1774302" cy="100584"/>
          </a:xfrm>
          <a:prstGeom prst="roundRect">
            <a:avLst>
              <a:gd name="adj" fmla="val 50000"/>
            </a:avLst>
          </a:prstGeom>
          <a:solidFill>
            <a:srgbClr val="1976D2"/>
          </a:solidFill>
          <a:ln/>
        </p:spPr>
        <p:txBody>
          <a:bodyPr/>
          <a:lstStyle/>
          <a:p>
            <a:endParaRPr lang="en-MY"/>
          </a:p>
        </p:txBody>
      </p:sp>
      <p:sp>
        <p:nvSpPr>
          <p:cNvPr id="46" name="Text 44"/>
          <p:cNvSpPr/>
          <p:nvPr/>
        </p:nvSpPr>
        <p:spPr>
          <a:xfrm>
            <a:off x="3282696" y="4745736"/>
            <a:ext cx="2688336" cy="182880"/>
          </a:xfrm>
          <a:prstGeom prst="rect">
            <a:avLst/>
          </a:prstGeom>
          <a:noFill/>
          <a:ln/>
        </p:spPr>
        <p:txBody>
          <a:bodyPr wrap="square" lIns="0" tIns="0" rIns="0" bIns="0" rtlCol="0" anchor="ctr"/>
          <a:lstStyle/>
          <a:p>
            <a:pPr marL="0" indent="0" algn="r">
              <a:buNone/>
            </a:pPr>
            <a:r>
              <a:rPr lang="en-US" sz="900" b="1" dirty="0">
                <a:solidFill>
                  <a:srgbClr val="1976D2"/>
                </a:solidFill>
                <a:latin typeface="Arial" pitchFamily="34" charset="0"/>
                <a:ea typeface="Arial" pitchFamily="34" charset="-122"/>
                <a:cs typeface="Arial" pitchFamily="34" charset="-120"/>
              </a:rPr>
              <a:t>66% Complete</a:t>
            </a:r>
            <a:endParaRPr lang="en-US" sz="900" dirty="0"/>
          </a:p>
        </p:txBody>
      </p:sp>
      <p:sp>
        <p:nvSpPr>
          <p:cNvPr id="47" name="Shape 45"/>
          <p:cNvSpPr/>
          <p:nvPr/>
        </p:nvSpPr>
        <p:spPr>
          <a:xfrm>
            <a:off x="6163056" y="2560320"/>
            <a:ext cx="173736" cy="173736"/>
          </a:xfrm>
          <a:prstGeom prst="ellipse">
            <a:avLst/>
          </a:prstGeom>
          <a:solidFill>
            <a:srgbClr val="D4E9E2"/>
          </a:solidFill>
          <a:ln/>
        </p:spPr>
        <p:txBody>
          <a:bodyPr/>
          <a:lstStyle/>
          <a:p>
            <a:endParaRPr lang="en-MY"/>
          </a:p>
        </p:txBody>
      </p:sp>
      <p:sp>
        <p:nvSpPr>
          <p:cNvPr id="48" name="Text 46"/>
          <p:cNvSpPr/>
          <p:nvPr/>
        </p:nvSpPr>
        <p:spPr>
          <a:xfrm>
            <a:off x="6158484" y="2551176"/>
            <a:ext cx="201168" cy="201168"/>
          </a:xfrm>
          <a:prstGeom prst="rect">
            <a:avLst/>
          </a:prstGeom>
          <a:noFill/>
          <a:ln/>
        </p:spPr>
        <p:txBody>
          <a:bodyPr wrap="square" lIns="0" tIns="0" rIns="0" bIns="0" rtlCol="0" anchor="ctr"/>
          <a:lstStyle/>
          <a:p>
            <a:pPr marL="0" indent="0" algn="ctr">
              <a:buNone/>
            </a:pPr>
            <a:r>
              <a:rPr lang="en-US" sz="1000" b="1" dirty="0">
                <a:solidFill>
                  <a:srgbClr val="388E3C"/>
                </a:solidFill>
                <a:latin typeface="Arial" pitchFamily="34" charset="0"/>
                <a:ea typeface="Arial" pitchFamily="34" charset="-122"/>
                <a:cs typeface="Arial" pitchFamily="34" charset="-120"/>
              </a:rPr>
              <a:t>&gt;</a:t>
            </a:r>
            <a:endParaRPr lang="en-US" sz="1000" dirty="0"/>
          </a:p>
        </p:txBody>
      </p:sp>
      <p:sp>
        <p:nvSpPr>
          <p:cNvPr id="49" name="Shape 47"/>
          <p:cNvSpPr/>
          <p:nvPr/>
        </p:nvSpPr>
        <p:spPr>
          <a:xfrm>
            <a:off x="6190488"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50" name="Shape 48"/>
          <p:cNvSpPr/>
          <p:nvPr/>
        </p:nvSpPr>
        <p:spPr>
          <a:xfrm>
            <a:off x="6190488" y="512064"/>
            <a:ext cx="2944368" cy="82296"/>
          </a:xfrm>
          <a:prstGeom prst="roundRect">
            <a:avLst>
              <a:gd name="adj" fmla="val 66667"/>
            </a:avLst>
          </a:prstGeom>
          <a:solidFill>
            <a:srgbClr val="00897B"/>
          </a:solidFill>
          <a:ln/>
        </p:spPr>
        <p:txBody>
          <a:bodyPr/>
          <a:lstStyle/>
          <a:p>
            <a:endParaRPr lang="en-MY"/>
          </a:p>
        </p:txBody>
      </p:sp>
      <p:sp>
        <p:nvSpPr>
          <p:cNvPr id="51" name="Shape 49"/>
          <p:cNvSpPr/>
          <p:nvPr/>
        </p:nvSpPr>
        <p:spPr>
          <a:xfrm>
            <a:off x="6318504" y="658368"/>
            <a:ext cx="530352" cy="530352"/>
          </a:xfrm>
          <a:prstGeom prst="ellipse">
            <a:avLst/>
          </a:prstGeom>
          <a:solidFill>
            <a:srgbClr val="00897B"/>
          </a:solidFill>
          <a:ln/>
        </p:spPr>
        <p:txBody>
          <a:bodyPr/>
          <a:lstStyle/>
          <a:p>
            <a:endParaRPr lang="en-MY"/>
          </a:p>
        </p:txBody>
      </p:sp>
      <p:sp>
        <p:nvSpPr>
          <p:cNvPr id="52" name="Text 50"/>
          <p:cNvSpPr/>
          <p:nvPr/>
        </p:nvSpPr>
        <p:spPr>
          <a:xfrm>
            <a:off x="6318504" y="658368"/>
            <a:ext cx="530352" cy="530352"/>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53" name="Text 51"/>
          <p:cNvSpPr/>
          <p:nvPr/>
        </p:nvSpPr>
        <p:spPr>
          <a:xfrm>
            <a:off x="6922008" y="713232"/>
            <a:ext cx="2084832" cy="182880"/>
          </a:xfrm>
          <a:prstGeom prst="rect">
            <a:avLst/>
          </a:prstGeom>
          <a:noFill/>
          <a:ln/>
        </p:spPr>
        <p:txBody>
          <a:bodyPr wrap="square" lIns="0" tIns="0" rIns="0" bIns="0" rtlCol="0" anchor="ctr"/>
          <a:lstStyle/>
          <a:p>
            <a:pPr marL="0" indent="0">
              <a:buNone/>
            </a:pPr>
            <a:r>
              <a:rPr lang="en-US" sz="850" kern="0" spc="50" dirty="0">
                <a:solidFill>
                  <a:srgbClr val="82868B"/>
                </a:solidFill>
                <a:latin typeface="Arial" pitchFamily="34" charset="0"/>
                <a:ea typeface="Arial" pitchFamily="34" charset="-122"/>
                <a:cs typeface="Arial" pitchFamily="34" charset="-120"/>
              </a:rPr>
              <a:t>STEP THREE</a:t>
            </a:r>
            <a:endParaRPr lang="en-US" sz="850" dirty="0"/>
          </a:p>
        </p:txBody>
      </p:sp>
      <p:sp>
        <p:nvSpPr>
          <p:cNvPr id="54" name="Text 52"/>
          <p:cNvSpPr/>
          <p:nvPr/>
        </p:nvSpPr>
        <p:spPr>
          <a:xfrm>
            <a:off x="6318504" y="1261872"/>
            <a:ext cx="2688336" cy="457200"/>
          </a:xfrm>
          <a:prstGeom prst="rect">
            <a:avLst/>
          </a:prstGeom>
          <a:noFill/>
          <a:ln/>
        </p:spPr>
        <p:txBody>
          <a:bodyPr wrap="square" lIns="0" tIns="0" rIns="0" bIns="0" rtlCol="0" anchor="ctr"/>
          <a:lstStyle/>
          <a:p>
            <a:pPr marL="0" indent="0">
              <a:buNone/>
            </a:pPr>
            <a:r>
              <a:rPr lang="en-US" sz="1350" b="1" dirty="0">
                <a:solidFill>
                  <a:srgbClr val="0F2057"/>
                </a:solidFill>
                <a:latin typeface="Arial" pitchFamily="34" charset="0"/>
                <a:ea typeface="Arial" pitchFamily="34" charset="-122"/>
                <a:cs typeface="Arial" pitchFamily="34" charset="-120"/>
              </a:rPr>
              <a:t>Student Receives Recommendations</a:t>
            </a:r>
            <a:endParaRPr lang="en-US" sz="1350" dirty="0"/>
          </a:p>
        </p:txBody>
      </p:sp>
      <p:sp>
        <p:nvSpPr>
          <p:cNvPr id="55" name="Shape 53"/>
          <p:cNvSpPr/>
          <p:nvPr/>
        </p:nvSpPr>
        <p:spPr>
          <a:xfrm>
            <a:off x="6336792" y="1874520"/>
            <a:ext cx="91440" cy="91440"/>
          </a:xfrm>
          <a:prstGeom prst="ellipse">
            <a:avLst/>
          </a:prstGeom>
          <a:solidFill>
            <a:srgbClr val="00897B"/>
          </a:solidFill>
          <a:ln/>
        </p:spPr>
        <p:txBody>
          <a:bodyPr/>
          <a:lstStyle/>
          <a:p>
            <a:endParaRPr lang="en-MY"/>
          </a:p>
        </p:txBody>
      </p:sp>
      <p:sp>
        <p:nvSpPr>
          <p:cNvPr id="56" name="Text 54"/>
          <p:cNvSpPr/>
          <p:nvPr/>
        </p:nvSpPr>
        <p:spPr>
          <a:xfrm>
            <a:off x="6483096" y="1783080"/>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Personal report generated automatically</a:t>
            </a:r>
            <a:endParaRPr lang="en-US" sz="1050" dirty="0"/>
          </a:p>
        </p:txBody>
      </p:sp>
      <p:sp>
        <p:nvSpPr>
          <p:cNvPr id="57" name="Shape 55"/>
          <p:cNvSpPr/>
          <p:nvPr/>
        </p:nvSpPr>
        <p:spPr>
          <a:xfrm>
            <a:off x="6336792" y="2350008"/>
            <a:ext cx="91440" cy="91440"/>
          </a:xfrm>
          <a:prstGeom prst="ellipse">
            <a:avLst/>
          </a:prstGeom>
          <a:solidFill>
            <a:srgbClr val="00897B"/>
          </a:solidFill>
          <a:ln/>
        </p:spPr>
        <p:txBody>
          <a:bodyPr/>
          <a:lstStyle/>
          <a:p>
            <a:endParaRPr lang="en-MY"/>
          </a:p>
        </p:txBody>
      </p:sp>
      <p:sp>
        <p:nvSpPr>
          <p:cNvPr id="58" name="Text 56"/>
          <p:cNvSpPr/>
          <p:nvPr/>
        </p:nvSpPr>
        <p:spPr>
          <a:xfrm>
            <a:off x="6483096" y="2258568"/>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Best scholarships listed in ranked order</a:t>
            </a:r>
            <a:endParaRPr lang="en-US" sz="1050" dirty="0"/>
          </a:p>
        </p:txBody>
      </p:sp>
      <p:sp>
        <p:nvSpPr>
          <p:cNvPr id="59" name="Shape 57"/>
          <p:cNvSpPr/>
          <p:nvPr/>
        </p:nvSpPr>
        <p:spPr>
          <a:xfrm>
            <a:off x="6336792" y="2825496"/>
            <a:ext cx="91440" cy="91440"/>
          </a:xfrm>
          <a:prstGeom prst="ellipse">
            <a:avLst/>
          </a:prstGeom>
          <a:solidFill>
            <a:srgbClr val="00897B"/>
          </a:solidFill>
          <a:ln/>
        </p:spPr>
        <p:txBody>
          <a:bodyPr/>
          <a:lstStyle/>
          <a:p>
            <a:endParaRPr lang="en-MY"/>
          </a:p>
        </p:txBody>
      </p:sp>
      <p:sp>
        <p:nvSpPr>
          <p:cNvPr id="60" name="Text 58"/>
          <p:cNvSpPr/>
          <p:nvPr/>
        </p:nvSpPr>
        <p:spPr>
          <a:xfrm>
            <a:off x="6483096" y="2734056"/>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Course recommendations based on field and SPM results</a:t>
            </a:r>
            <a:endParaRPr lang="en-US" sz="1050" dirty="0"/>
          </a:p>
        </p:txBody>
      </p:sp>
      <p:sp>
        <p:nvSpPr>
          <p:cNvPr id="61" name="Shape 59"/>
          <p:cNvSpPr/>
          <p:nvPr/>
        </p:nvSpPr>
        <p:spPr>
          <a:xfrm>
            <a:off x="6336792" y="3300984"/>
            <a:ext cx="91440" cy="91440"/>
          </a:xfrm>
          <a:prstGeom prst="ellipse">
            <a:avLst/>
          </a:prstGeom>
          <a:solidFill>
            <a:srgbClr val="00897B"/>
          </a:solidFill>
          <a:ln/>
        </p:spPr>
        <p:txBody>
          <a:bodyPr/>
          <a:lstStyle/>
          <a:p>
            <a:endParaRPr lang="en-MY"/>
          </a:p>
        </p:txBody>
      </p:sp>
      <p:sp>
        <p:nvSpPr>
          <p:cNvPr id="62" name="Text 60"/>
          <p:cNvSpPr/>
          <p:nvPr/>
        </p:nvSpPr>
        <p:spPr>
          <a:xfrm>
            <a:off x="6483096" y="3209544"/>
            <a:ext cx="2523744" cy="438912"/>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Higher Education Institution suggested with full match scores</a:t>
            </a:r>
            <a:endParaRPr lang="en-US" sz="1050" dirty="0"/>
          </a:p>
        </p:txBody>
      </p:sp>
      <p:sp>
        <p:nvSpPr>
          <p:cNvPr id="63" name="Shape 61"/>
          <p:cNvSpPr/>
          <p:nvPr/>
        </p:nvSpPr>
        <p:spPr>
          <a:xfrm>
            <a:off x="6318504" y="4626864"/>
            <a:ext cx="2688336" cy="100584"/>
          </a:xfrm>
          <a:prstGeom prst="roundRect">
            <a:avLst>
              <a:gd name="adj" fmla="val 50000"/>
            </a:avLst>
          </a:prstGeom>
          <a:solidFill>
            <a:srgbClr val="E8F5F0"/>
          </a:solidFill>
          <a:ln/>
        </p:spPr>
        <p:txBody>
          <a:bodyPr/>
          <a:lstStyle/>
          <a:p>
            <a:endParaRPr lang="en-MY"/>
          </a:p>
        </p:txBody>
      </p:sp>
      <p:sp>
        <p:nvSpPr>
          <p:cNvPr id="64" name="Shape 62"/>
          <p:cNvSpPr/>
          <p:nvPr/>
        </p:nvSpPr>
        <p:spPr>
          <a:xfrm>
            <a:off x="6318504" y="4626864"/>
            <a:ext cx="2688336" cy="100584"/>
          </a:xfrm>
          <a:prstGeom prst="roundRect">
            <a:avLst>
              <a:gd name="adj" fmla="val 50000"/>
            </a:avLst>
          </a:prstGeom>
          <a:solidFill>
            <a:srgbClr val="00897B"/>
          </a:solidFill>
          <a:ln/>
        </p:spPr>
        <p:txBody>
          <a:bodyPr/>
          <a:lstStyle/>
          <a:p>
            <a:endParaRPr lang="en-MY"/>
          </a:p>
        </p:txBody>
      </p:sp>
      <p:sp>
        <p:nvSpPr>
          <p:cNvPr id="65" name="Text 63"/>
          <p:cNvSpPr/>
          <p:nvPr/>
        </p:nvSpPr>
        <p:spPr>
          <a:xfrm>
            <a:off x="6318504" y="4745736"/>
            <a:ext cx="2688336" cy="182880"/>
          </a:xfrm>
          <a:prstGeom prst="rect">
            <a:avLst/>
          </a:prstGeom>
          <a:noFill/>
          <a:ln/>
        </p:spPr>
        <p:txBody>
          <a:bodyPr wrap="square" lIns="0" tIns="0" rIns="0" bIns="0" rtlCol="0" anchor="ctr"/>
          <a:lstStyle/>
          <a:p>
            <a:pPr marL="0" indent="0" algn="r">
              <a:buNone/>
            </a:pPr>
            <a:r>
              <a:rPr lang="en-US" sz="900" b="1" dirty="0">
                <a:solidFill>
                  <a:srgbClr val="00897B"/>
                </a:solidFill>
                <a:latin typeface="Arial" pitchFamily="34" charset="0"/>
                <a:ea typeface="Arial" pitchFamily="34" charset="-122"/>
                <a:cs typeface="Arial" pitchFamily="34" charset="-120"/>
              </a:rPr>
              <a:t>Complete!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Matching Engine (How the System Scores)</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07 / 10</a:t>
            </a:r>
            <a:endParaRPr lang="en-US" sz="900" dirty="0"/>
          </a:p>
        </p:txBody>
      </p:sp>
      <p:sp>
        <p:nvSpPr>
          <p:cNvPr id="6" name="Shape 4"/>
          <p:cNvSpPr/>
          <p:nvPr/>
        </p:nvSpPr>
        <p:spPr>
          <a:xfrm>
            <a:off x="118872" y="512064"/>
            <a:ext cx="6035040" cy="804672"/>
          </a:xfrm>
          <a:prstGeom prst="roundRect">
            <a:avLst>
              <a:gd name="adj" fmla="val 9091"/>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Shape 5"/>
          <p:cNvSpPr/>
          <p:nvPr/>
        </p:nvSpPr>
        <p:spPr>
          <a:xfrm>
            <a:off x="182880" y="576072"/>
            <a:ext cx="658368" cy="658368"/>
          </a:xfrm>
          <a:prstGeom prst="roundRect">
            <a:avLst>
              <a:gd name="adj" fmla="val 11111"/>
            </a:avLst>
          </a:prstGeom>
          <a:solidFill>
            <a:srgbClr val="388E3C"/>
          </a:solidFill>
          <a:ln/>
        </p:spPr>
        <p:txBody>
          <a:bodyPr/>
          <a:lstStyle/>
          <a:p>
            <a:endParaRPr lang="en-MY"/>
          </a:p>
        </p:txBody>
      </p:sp>
      <p:sp>
        <p:nvSpPr>
          <p:cNvPr id="8" name="Shape 6"/>
          <p:cNvSpPr/>
          <p:nvPr/>
        </p:nvSpPr>
        <p:spPr>
          <a:xfrm>
            <a:off x="182880" y="576072"/>
            <a:ext cx="658368" cy="658368"/>
          </a:xfrm>
          <a:prstGeom prst="roundRect">
            <a:avLst>
              <a:gd name="adj" fmla="val 11111"/>
            </a:avLst>
          </a:prstGeom>
          <a:solidFill>
            <a:srgbClr val="1976D2">
              <a:alpha val="50000"/>
            </a:srgbClr>
          </a:solidFill>
          <a:ln/>
        </p:spPr>
        <p:txBody>
          <a:bodyPr/>
          <a:lstStyle/>
          <a:p>
            <a:endParaRPr lang="en-MY"/>
          </a:p>
        </p:txBody>
      </p:sp>
      <p:sp>
        <p:nvSpPr>
          <p:cNvPr id="9" name="Text 7"/>
          <p:cNvSpPr/>
          <p:nvPr/>
        </p:nvSpPr>
        <p:spPr>
          <a:xfrm>
            <a:off x="182880" y="576072"/>
            <a:ext cx="658368" cy="658368"/>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OK</a:t>
            </a:r>
            <a:endParaRPr lang="en-US" sz="1400" dirty="0"/>
          </a:p>
        </p:txBody>
      </p:sp>
      <p:sp>
        <p:nvSpPr>
          <p:cNvPr id="10" name="Text 8"/>
          <p:cNvSpPr/>
          <p:nvPr/>
        </p:nvSpPr>
        <p:spPr>
          <a:xfrm>
            <a:off x="932688" y="548640"/>
            <a:ext cx="5138928" cy="731520"/>
          </a:xfrm>
          <a:prstGeom prst="rect">
            <a:avLst/>
          </a:prstGeom>
          <a:noFill/>
          <a:ln/>
        </p:spPr>
        <p:txBody>
          <a:bodyPr wrap="square" lIns="0" tIns="0" rIns="0" bIns="0" rtlCol="0" anchor="ctr"/>
          <a:lstStyle/>
          <a:p>
            <a:pPr marL="0" indent="0">
              <a:buNone/>
            </a:pPr>
            <a:r>
              <a:rPr lang="en-US" sz="1100" dirty="0">
                <a:solidFill>
                  <a:srgbClr val="4B4B4B"/>
                </a:solidFill>
                <a:latin typeface="Arial" pitchFamily="34" charset="0"/>
                <a:ea typeface="Arial" pitchFamily="34" charset="-122"/>
                <a:cs typeface="Arial" pitchFamily="34" charset="-120"/>
              </a:rPr>
              <a:t>Each student receives a suitability score from two main components: SPM academic marks (90%) and co-curricular achievement (10%). Family income category determines scholarship </a:t>
            </a:r>
            <a:r>
              <a:rPr lang="en-US" sz="1100">
                <a:solidFill>
                  <a:srgbClr val="4B4B4B"/>
                </a:solidFill>
                <a:latin typeface="Arial" pitchFamily="34" charset="0"/>
                <a:ea typeface="Arial" pitchFamily="34" charset="-122"/>
                <a:cs typeface="Arial" pitchFamily="34" charset="-120"/>
              </a:rPr>
              <a:t>eligibility B40 </a:t>
            </a:r>
            <a:r>
              <a:rPr lang="en-US" sz="1100" dirty="0">
                <a:solidFill>
                  <a:srgbClr val="4B4B4B"/>
                </a:solidFill>
                <a:latin typeface="Arial" pitchFamily="34" charset="0"/>
                <a:ea typeface="Arial" pitchFamily="34" charset="-122"/>
                <a:cs typeface="Arial" pitchFamily="34" charset="-120"/>
              </a:rPr>
              <a:t>students qualify for more scholarships.</a:t>
            </a:r>
            <a:endParaRPr lang="en-US" sz="1100" dirty="0"/>
          </a:p>
        </p:txBody>
      </p:sp>
      <p:sp>
        <p:nvSpPr>
          <p:cNvPr id="11" name="Shape 9"/>
          <p:cNvSpPr/>
          <p:nvPr/>
        </p:nvSpPr>
        <p:spPr>
          <a:xfrm>
            <a:off x="118872" y="1408176"/>
            <a:ext cx="6035040" cy="3648456"/>
          </a:xfrm>
          <a:prstGeom prst="roundRect">
            <a:avLst>
              <a:gd name="adj" fmla="val 2005"/>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12" name="Shape 10"/>
          <p:cNvSpPr/>
          <p:nvPr/>
        </p:nvSpPr>
        <p:spPr>
          <a:xfrm>
            <a:off x="237744" y="1682496"/>
            <a:ext cx="310896" cy="310896"/>
          </a:xfrm>
          <a:prstGeom prst="roundRect">
            <a:avLst>
              <a:gd name="adj" fmla="val 17647"/>
            </a:avLst>
          </a:prstGeom>
          <a:solidFill>
            <a:srgbClr val="E8F5E9"/>
          </a:solidFill>
          <a:ln/>
        </p:spPr>
        <p:txBody>
          <a:bodyPr/>
          <a:lstStyle/>
          <a:p>
            <a:endParaRPr lang="en-MY"/>
          </a:p>
        </p:txBody>
      </p:sp>
      <p:sp>
        <p:nvSpPr>
          <p:cNvPr id="13" name="Text 11"/>
          <p:cNvSpPr/>
          <p:nvPr/>
        </p:nvSpPr>
        <p:spPr>
          <a:xfrm>
            <a:off x="603504" y="1664208"/>
            <a:ext cx="4114800" cy="347472"/>
          </a:xfrm>
          <a:prstGeom prst="rect">
            <a:avLst/>
          </a:prstGeom>
          <a:noFill/>
          <a:ln/>
        </p:spPr>
        <p:txBody>
          <a:bodyPr wrap="square" lIns="0" tIns="0" rIns="0" bIns="0" rtlCol="0" anchor="ctr"/>
          <a:lstStyle/>
          <a:p>
            <a:pPr marL="0" indent="0">
              <a:buNone/>
            </a:pPr>
            <a:r>
              <a:rPr lang="en-US" sz="1250" b="1" dirty="0">
                <a:solidFill>
                  <a:srgbClr val="0F2057"/>
                </a:solidFill>
                <a:latin typeface="Arial" pitchFamily="34" charset="0"/>
                <a:ea typeface="Arial" pitchFamily="34" charset="-122"/>
                <a:cs typeface="Arial" pitchFamily="34" charset="-120"/>
              </a:rPr>
              <a:t>Academic Score (SPM)</a:t>
            </a:r>
            <a:endParaRPr lang="en-US" sz="1250" dirty="0"/>
          </a:p>
        </p:txBody>
      </p:sp>
      <p:sp>
        <p:nvSpPr>
          <p:cNvPr id="14" name="Text 12"/>
          <p:cNvSpPr/>
          <p:nvPr/>
        </p:nvSpPr>
        <p:spPr>
          <a:xfrm>
            <a:off x="5349240" y="1664208"/>
            <a:ext cx="731520" cy="347472"/>
          </a:xfrm>
          <a:prstGeom prst="rect">
            <a:avLst/>
          </a:prstGeom>
          <a:noFill/>
          <a:ln/>
        </p:spPr>
        <p:txBody>
          <a:bodyPr wrap="square" lIns="0" tIns="0" rIns="0" bIns="0" rtlCol="0" anchor="ctr"/>
          <a:lstStyle/>
          <a:p>
            <a:pPr marL="0" indent="0" algn="r">
              <a:buNone/>
            </a:pPr>
            <a:r>
              <a:rPr lang="en-US" sz="1700" b="1" dirty="0">
                <a:solidFill>
                  <a:srgbClr val="388E3C"/>
                </a:solidFill>
                <a:latin typeface="Arial" pitchFamily="34" charset="0"/>
                <a:ea typeface="Arial" pitchFamily="34" charset="-122"/>
                <a:cs typeface="Arial" pitchFamily="34" charset="-120"/>
              </a:rPr>
              <a:t>90%</a:t>
            </a:r>
            <a:endParaRPr lang="en-US" sz="1700" dirty="0"/>
          </a:p>
        </p:txBody>
      </p:sp>
      <p:sp>
        <p:nvSpPr>
          <p:cNvPr id="15" name="Text 13"/>
          <p:cNvSpPr/>
          <p:nvPr/>
        </p:nvSpPr>
        <p:spPr>
          <a:xfrm>
            <a:off x="603504" y="2029968"/>
            <a:ext cx="5120640" cy="256032"/>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5 core subjects + 3 best electives · A+ = 18 pts, A = 16 pts, A− = 14 pts</a:t>
            </a:r>
            <a:endParaRPr lang="en-US" sz="1000" dirty="0"/>
          </a:p>
        </p:txBody>
      </p:sp>
      <p:sp>
        <p:nvSpPr>
          <p:cNvPr id="16" name="Shape 14"/>
          <p:cNvSpPr/>
          <p:nvPr/>
        </p:nvSpPr>
        <p:spPr>
          <a:xfrm>
            <a:off x="237744" y="2322576"/>
            <a:ext cx="5486400" cy="310896"/>
          </a:xfrm>
          <a:prstGeom prst="roundRect">
            <a:avLst>
              <a:gd name="adj" fmla="val 17647"/>
            </a:avLst>
          </a:prstGeom>
          <a:solidFill>
            <a:srgbClr val="E8F5F0"/>
          </a:solidFill>
          <a:ln/>
        </p:spPr>
        <p:txBody>
          <a:bodyPr/>
          <a:lstStyle/>
          <a:p>
            <a:endParaRPr lang="en-MY"/>
          </a:p>
        </p:txBody>
      </p:sp>
      <p:sp>
        <p:nvSpPr>
          <p:cNvPr id="17" name="Shape 15"/>
          <p:cNvSpPr/>
          <p:nvPr/>
        </p:nvSpPr>
        <p:spPr>
          <a:xfrm>
            <a:off x="237744" y="2322576"/>
            <a:ext cx="4937760" cy="310896"/>
          </a:xfrm>
          <a:prstGeom prst="roundRect">
            <a:avLst>
              <a:gd name="adj" fmla="val 17647"/>
            </a:avLst>
          </a:prstGeom>
          <a:solidFill>
            <a:srgbClr val="388E3C"/>
          </a:solidFill>
          <a:ln/>
        </p:spPr>
        <p:txBody>
          <a:bodyPr/>
          <a:lstStyle/>
          <a:p>
            <a:endParaRPr lang="en-MY"/>
          </a:p>
        </p:txBody>
      </p:sp>
      <p:sp>
        <p:nvSpPr>
          <p:cNvPr id="18" name="Text 16"/>
          <p:cNvSpPr/>
          <p:nvPr/>
        </p:nvSpPr>
        <p:spPr>
          <a:xfrm>
            <a:off x="256032" y="2322576"/>
            <a:ext cx="4864608" cy="310896"/>
          </a:xfrm>
          <a:prstGeom prst="rect">
            <a:avLst/>
          </a:prstGeom>
          <a:noFill/>
          <a:ln/>
        </p:spPr>
        <p:txBody>
          <a:bodyPr wrap="square" lIns="0" tIns="0" rIns="0" bIns="0" rtlCol="0" anchor="ctr"/>
          <a:lstStyle/>
          <a:p>
            <a:pPr marL="0" indent="0" algn="r">
              <a:buNone/>
            </a:pPr>
            <a:r>
              <a:rPr lang="en-US" sz="900" b="1" dirty="0">
                <a:solidFill>
                  <a:srgbClr val="FFFFFF"/>
                </a:solidFill>
                <a:latin typeface="Arial" pitchFamily="34" charset="0"/>
                <a:ea typeface="Arial" pitchFamily="34" charset="-122"/>
                <a:cs typeface="Arial" pitchFamily="34" charset="-120"/>
              </a:rPr>
              <a:t>90%</a:t>
            </a:r>
            <a:endParaRPr lang="en-US" sz="900" dirty="0"/>
          </a:p>
        </p:txBody>
      </p:sp>
      <p:sp>
        <p:nvSpPr>
          <p:cNvPr id="19" name="Shape 17"/>
          <p:cNvSpPr/>
          <p:nvPr/>
        </p:nvSpPr>
        <p:spPr>
          <a:xfrm>
            <a:off x="237744" y="3072384"/>
            <a:ext cx="310896" cy="310896"/>
          </a:xfrm>
          <a:prstGeom prst="roundRect">
            <a:avLst>
              <a:gd name="adj" fmla="val 17647"/>
            </a:avLst>
          </a:prstGeom>
          <a:solidFill>
            <a:srgbClr val="F3E5F5"/>
          </a:solidFill>
          <a:ln/>
        </p:spPr>
        <p:txBody>
          <a:bodyPr/>
          <a:lstStyle/>
          <a:p>
            <a:endParaRPr lang="en-MY"/>
          </a:p>
        </p:txBody>
      </p:sp>
      <p:sp>
        <p:nvSpPr>
          <p:cNvPr id="20" name="Text 18"/>
          <p:cNvSpPr/>
          <p:nvPr/>
        </p:nvSpPr>
        <p:spPr>
          <a:xfrm>
            <a:off x="603504" y="3054096"/>
            <a:ext cx="4114800" cy="347472"/>
          </a:xfrm>
          <a:prstGeom prst="rect">
            <a:avLst/>
          </a:prstGeom>
          <a:noFill/>
          <a:ln/>
        </p:spPr>
        <p:txBody>
          <a:bodyPr wrap="square" lIns="0" tIns="0" rIns="0" bIns="0" rtlCol="0" anchor="ctr"/>
          <a:lstStyle/>
          <a:p>
            <a:pPr marL="0" indent="0">
              <a:buNone/>
            </a:pPr>
            <a:r>
              <a:rPr lang="en-US" sz="1250" b="1" dirty="0">
                <a:solidFill>
                  <a:srgbClr val="0F2057"/>
                </a:solidFill>
                <a:latin typeface="Arial" pitchFamily="34" charset="0"/>
                <a:ea typeface="Arial" pitchFamily="34" charset="-122"/>
                <a:cs typeface="Arial" pitchFamily="34" charset="-120"/>
              </a:rPr>
              <a:t>Co-Curricular Score (PAJSK)</a:t>
            </a:r>
            <a:endParaRPr lang="en-US" sz="1250" dirty="0"/>
          </a:p>
        </p:txBody>
      </p:sp>
      <p:sp>
        <p:nvSpPr>
          <p:cNvPr id="21" name="Text 19"/>
          <p:cNvSpPr/>
          <p:nvPr/>
        </p:nvSpPr>
        <p:spPr>
          <a:xfrm>
            <a:off x="5349240" y="3054096"/>
            <a:ext cx="731520" cy="347472"/>
          </a:xfrm>
          <a:prstGeom prst="rect">
            <a:avLst/>
          </a:prstGeom>
          <a:noFill/>
          <a:ln/>
        </p:spPr>
        <p:txBody>
          <a:bodyPr wrap="square" lIns="0" tIns="0" rIns="0" bIns="0" rtlCol="0" anchor="ctr"/>
          <a:lstStyle/>
          <a:p>
            <a:pPr marL="0" indent="0" algn="r">
              <a:buNone/>
            </a:pPr>
            <a:r>
              <a:rPr lang="en-US" sz="1700" b="1" dirty="0">
                <a:solidFill>
                  <a:srgbClr val="7B1FA2"/>
                </a:solidFill>
                <a:latin typeface="Arial" pitchFamily="34" charset="0"/>
                <a:ea typeface="Arial" pitchFamily="34" charset="-122"/>
                <a:cs typeface="Arial" pitchFamily="34" charset="-120"/>
              </a:rPr>
              <a:t>10%</a:t>
            </a:r>
            <a:endParaRPr lang="en-US" sz="1700" dirty="0"/>
          </a:p>
        </p:txBody>
      </p:sp>
      <p:sp>
        <p:nvSpPr>
          <p:cNvPr id="22" name="Text 20"/>
          <p:cNvSpPr/>
          <p:nvPr/>
        </p:nvSpPr>
        <p:spPr>
          <a:xfrm>
            <a:off x="603504" y="3419856"/>
            <a:ext cx="5120640" cy="256032"/>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Based on highest achievement level at school level</a:t>
            </a:r>
            <a:endParaRPr lang="en-US" sz="1000" dirty="0"/>
          </a:p>
        </p:txBody>
      </p:sp>
      <p:sp>
        <p:nvSpPr>
          <p:cNvPr id="23" name="Shape 21"/>
          <p:cNvSpPr/>
          <p:nvPr/>
        </p:nvSpPr>
        <p:spPr>
          <a:xfrm>
            <a:off x="237744" y="3712464"/>
            <a:ext cx="5486400" cy="310896"/>
          </a:xfrm>
          <a:prstGeom prst="roundRect">
            <a:avLst>
              <a:gd name="adj" fmla="val 17647"/>
            </a:avLst>
          </a:prstGeom>
          <a:solidFill>
            <a:srgbClr val="E8F5F0"/>
          </a:solidFill>
          <a:ln/>
        </p:spPr>
        <p:txBody>
          <a:bodyPr/>
          <a:lstStyle/>
          <a:p>
            <a:endParaRPr lang="en-MY"/>
          </a:p>
        </p:txBody>
      </p:sp>
      <p:sp>
        <p:nvSpPr>
          <p:cNvPr id="24" name="Shape 22"/>
          <p:cNvSpPr/>
          <p:nvPr/>
        </p:nvSpPr>
        <p:spPr>
          <a:xfrm>
            <a:off x="237744" y="3712464"/>
            <a:ext cx="548640" cy="310896"/>
          </a:xfrm>
          <a:prstGeom prst="roundRect">
            <a:avLst>
              <a:gd name="adj" fmla="val 17647"/>
            </a:avLst>
          </a:prstGeom>
          <a:solidFill>
            <a:srgbClr val="7B1FA2"/>
          </a:solidFill>
          <a:ln/>
        </p:spPr>
        <p:txBody>
          <a:bodyPr/>
          <a:lstStyle/>
          <a:p>
            <a:endParaRPr lang="en-MY"/>
          </a:p>
        </p:txBody>
      </p:sp>
      <p:sp>
        <p:nvSpPr>
          <p:cNvPr id="25" name="Text 23"/>
          <p:cNvSpPr/>
          <p:nvPr/>
        </p:nvSpPr>
        <p:spPr>
          <a:xfrm>
            <a:off x="256032" y="3712464"/>
            <a:ext cx="475488" cy="310896"/>
          </a:xfrm>
          <a:prstGeom prst="rect">
            <a:avLst/>
          </a:prstGeom>
          <a:noFill/>
          <a:ln/>
        </p:spPr>
        <p:txBody>
          <a:bodyPr wrap="square" lIns="0" tIns="0" rIns="0" bIns="0" rtlCol="0" anchor="ctr"/>
          <a:lstStyle/>
          <a:p>
            <a:pPr marL="0" indent="0" algn="r">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26" name="Shape 24"/>
          <p:cNvSpPr/>
          <p:nvPr/>
        </p:nvSpPr>
        <p:spPr>
          <a:xfrm>
            <a:off x="237744" y="4425696"/>
            <a:ext cx="5486400" cy="512064"/>
          </a:xfrm>
          <a:prstGeom prst="roundRect">
            <a:avLst>
              <a:gd name="adj" fmla="val 14286"/>
            </a:avLst>
          </a:prstGeom>
          <a:solidFill>
            <a:srgbClr val="E3F2FD"/>
          </a:solidFill>
          <a:ln w="12700">
            <a:solidFill>
              <a:srgbClr val="1976D2"/>
            </a:solidFill>
            <a:prstDash val="solid"/>
          </a:ln>
        </p:spPr>
        <p:txBody>
          <a:bodyPr/>
          <a:lstStyle/>
          <a:p>
            <a:endParaRPr lang="en-MY"/>
          </a:p>
        </p:txBody>
      </p:sp>
      <p:sp>
        <p:nvSpPr>
          <p:cNvPr id="27" name="Text 25"/>
          <p:cNvSpPr/>
          <p:nvPr/>
        </p:nvSpPr>
        <p:spPr>
          <a:xfrm>
            <a:off x="384048" y="4443984"/>
            <a:ext cx="5303520" cy="201168"/>
          </a:xfrm>
          <a:prstGeom prst="rect">
            <a:avLst/>
          </a:prstGeom>
          <a:noFill/>
          <a:ln/>
        </p:spPr>
        <p:txBody>
          <a:bodyPr wrap="square" lIns="0" tIns="0" rIns="0" bIns="0" rtlCol="0" anchor="ctr"/>
          <a:lstStyle/>
          <a:p>
            <a:pPr marL="0" indent="0">
              <a:buNone/>
            </a:pPr>
            <a:r>
              <a:rPr lang="en-US" sz="1000" b="1" dirty="0">
                <a:solidFill>
                  <a:srgbClr val="1976D2"/>
                </a:solidFill>
                <a:latin typeface="Arial" pitchFamily="34" charset="0"/>
                <a:ea typeface="Arial" pitchFamily="34" charset="-122"/>
                <a:cs typeface="Arial" pitchFamily="34" charset="-120"/>
              </a:rPr>
              <a:t>Income Category : Eligibility Factor:</a:t>
            </a:r>
            <a:endParaRPr lang="en-US" sz="1000" dirty="0"/>
          </a:p>
        </p:txBody>
      </p:sp>
      <p:sp>
        <p:nvSpPr>
          <p:cNvPr id="28" name="Text 26"/>
          <p:cNvSpPr/>
          <p:nvPr/>
        </p:nvSpPr>
        <p:spPr>
          <a:xfrm>
            <a:off x="384048" y="4645152"/>
            <a:ext cx="5303520" cy="201168"/>
          </a:xfrm>
          <a:prstGeom prst="rect">
            <a:avLst/>
          </a:prstGeom>
          <a:noFill/>
          <a:ln/>
        </p:spPr>
        <p:txBody>
          <a:bodyPr wrap="square" lIns="0" tIns="0" rIns="0" bIns="0" rtlCol="0" anchor="ctr"/>
          <a:lstStyle/>
          <a:p>
            <a:pPr marL="0" indent="0">
              <a:buNone/>
            </a:pPr>
            <a:r>
              <a:rPr lang="en-US" sz="1000" dirty="0">
                <a:solidFill>
                  <a:srgbClr val="1976D2"/>
                </a:solidFill>
                <a:latin typeface="Arial" pitchFamily="34" charset="0"/>
                <a:ea typeface="Arial" pitchFamily="34" charset="-122"/>
                <a:cs typeface="Arial" pitchFamily="34" charset="-120"/>
              </a:rPr>
              <a:t>B40 qualifies for more scholarships  ·  M40 — standard  ·  T20 — merit-based only</a:t>
            </a:r>
            <a:endParaRPr lang="en-US" sz="1000" dirty="0"/>
          </a:p>
        </p:txBody>
      </p:sp>
      <p:sp>
        <p:nvSpPr>
          <p:cNvPr id="29" name="Shape 27"/>
          <p:cNvSpPr/>
          <p:nvPr/>
        </p:nvSpPr>
        <p:spPr>
          <a:xfrm>
            <a:off x="6281928" y="512064"/>
            <a:ext cx="2743200" cy="4544568"/>
          </a:xfrm>
          <a:prstGeom prst="roundRect">
            <a:avLst>
              <a:gd name="adj" fmla="val 2667"/>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30" name="Text 28"/>
          <p:cNvSpPr/>
          <p:nvPr/>
        </p:nvSpPr>
        <p:spPr>
          <a:xfrm>
            <a:off x="6281928" y="576072"/>
            <a:ext cx="2743200" cy="256032"/>
          </a:xfrm>
          <a:prstGeom prst="rect">
            <a:avLst/>
          </a:prstGeom>
          <a:noFill/>
          <a:ln/>
        </p:spPr>
        <p:txBody>
          <a:bodyPr wrap="square" lIns="0" tIns="0" rIns="0" bIns="0" rtlCol="0" anchor="ctr"/>
          <a:lstStyle/>
          <a:p>
            <a:pPr marL="0" indent="0" algn="ctr">
              <a:buNone/>
            </a:pPr>
            <a:r>
              <a:rPr lang="en-US" sz="1100" b="1" dirty="0">
                <a:solidFill>
                  <a:srgbClr val="0F2057"/>
                </a:solidFill>
                <a:latin typeface="Arial" pitchFamily="34" charset="0"/>
                <a:ea typeface="Arial" pitchFamily="34" charset="-122"/>
                <a:cs typeface="Arial" pitchFamily="34" charset="-120"/>
              </a:rPr>
              <a:t>Score Breakdown</a:t>
            </a:r>
            <a:endParaRPr lang="en-US" sz="1100" dirty="0"/>
          </a:p>
        </p:txBody>
      </p:sp>
      <p:graphicFrame>
        <p:nvGraphicFramePr>
          <p:cNvPr id="31" name="Chart 0"/>
          <p:cNvGraphicFramePr/>
          <p:nvPr/>
        </p:nvGraphicFramePr>
        <p:xfrm>
          <a:off x="6373368" y="859536"/>
          <a:ext cx="25603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32" name="Text 29"/>
          <p:cNvSpPr/>
          <p:nvPr/>
        </p:nvSpPr>
        <p:spPr>
          <a:xfrm>
            <a:off x="6373368" y="1773936"/>
            <a:ext cx="2560320" cy="329184"/>
          </a:xfrm>
          <a:prstGeom prst="rect">
            <a:avLst/>
          </a:prstGeom>
          <a:noFill/>
          <a:ln/>
        </p:spPr>
        <p:txBody>
          <a:bodyPr wrap="square" lIns="0" tIns="0" rIns="0" bIns="0" rtlCol="0" anchor="ctr"/>
          <a:lstStyle/>
          <a:p>
            <a:pPr marL="0" indent="0" algn="ctr">
              <a:buNone/>
            </a:pPr>
            <a:r>
              <a:rPr lang="en-US" sz="1100" b="1" dirty="0">
                <a:solidFill>
                  <a:srgbClr val="0F2057"/>
                </a:solidFill>
                <a:latin typeface="Arial" pitchFamily="34" charset="0"/>
                <a:ea typeface="Arial" pitchFamily="34" charset="-122"/>
                <a:cs typeface="Arial" pitchFamily="34" charset="-120"/>
              </a:rPr>
              <a:t>Score</a:t>
            </a:r>
            <a:endParaRPr lang="en-US" sz="1100" dirty="0"/>
          </a:p>
        </p:txBody>
      </p:sp>
      <p:sp>
        <p:nvSpPr>
          <p:cNvPr id="33" name="Text 30"/>
          <p:cNvSpPr/>
          <p:nvPr/>
        </p:nvSpPr>
        <p:spPr>
          <a:xfrm>
            <a:off x="6373368" y="2103120"/>
            <a:ext cx="2560320" cy="274320"/>
          </a:xfrm>
          <a:prstGeom prst="rect">
            <a:avLst/>
          </a:prstGeom>
          <a:noFill/>
          <a:ln/>
        </p:spPr>
        <p:txBody>
          <a:bodyPr wrap="square" lIns="0" tIns="0" rIns="0" bIns="0" rtlCol="0" anchor="ctr"/>
          <a:lstStyle/>
          <a:p>
            <a:pPr marL="0" indent="0" algn="ctr">
              <a:buNone/>
            </a:pPr>
            <a:r>
              <a:rPr lang="en-US" sz="1000" dirty="0">
                <a:solidFill>
                  <a:srgbClr val="82868B"/>
                </a:solidFill>
                <a:latin typeface="Arial" pitchFamily="34" charset="0"/>
                <a:ea typeface="Arial" pitchFamily="34" charset="-122"/>
                <a:cs typeface="Arial" pitchFamily="34" charset="-120"/>
              </a:rPr>
              <a:t>Formula</a:t>
            </a:r>
            <a:endParaRPr lang="en-US" sz="1000" dirty="0"/>
          </a:p>
        </p:txBody>
      </p:sp>
      <p:sp>
        <p:nvSpPr>
          <p:cNvPr id="34" name="Shape 31"/>
          <p:cNvSpPr/>
          <p:nvPr/>
        </p:nvSpPr>
        <p:spPr>
          <a:xfrm>
            <a:off x="6373368" y="3474720"/>
            <a:ext cx="164592" cy="164592"/>
          </a:xfrm>
          <a:prstGeom prst="ellipse">
            <a:avLst/>
          </a:prstGeom>
          <a:solidFill>
            <a:srgbClr val="388E3C"/>
          </a:solidFill>
          <a:ln/>
        </p:spPr>
        <p:txBody>
          <a:bodyPr/>
          <a:lstStyle/>
          <a:p>
            <a:endParaRPr lang="en-MY"/>
          </a:p>
        </p:txBody>
      </p:sp>
      <p:sp>
        <p:nvSpPr>
          <p:cNvPr id="35" name="Text 32"/>
          <p:cNvSpPr/>
          <p:nvPr/>
        </p:nvSpPr>
        <p:spPr>
          <a:xfrm>
            <a:off x="6601968" y="3419856"/>
            <a:ext cx="1691640" cy="274320"/>
          </a:xfrm>
          <a:prstGeom prst="rect">
            <a:avLst/>
          </a:prstGeom>
          <a:noFill/>
          <a:ln/>
        </p:spPr>
        <p:txBody>
          <a:bodyPr wrap="square" lIns="0" tIns="0" rIns="0" bIns="0" rtlCol="0" anchor="ctr"/>
          <a:lstStyle/>
          <a:p>
            <a:pPr marL="0" indent="0">
              <a:buNone/>
            </a:pPr>
            <a:r>
              <a:rPr lang="en-US" sz="1150" dirty="0">
                <a:solidFill>
                  <a:srgbClr val="4B4B4B"/>
                </a:solidFill>
                <a:latin typeface="Arial" pitchFamily="34" charset="0"/>
                <a:ea typeface="Arial" pitchFamily="34" charset="-122"/>
                <a:cs typeface="Arial" pitchFamily="34" charset="-120"/>
              </a:rPr>
              <a:t>Academic SPM</a:t>
            </a:r>
            <a:endParaRPr lang="en-US" sz="1150" dirty="0"/>
          </a:p>
        </p:txBody>
      </p:sp>
      <p:sp>
        <p:nvSpPr>
          <p:cNvPr id="36" name="Text 33"/>
          <p:cNvSpPr/>
          <p:nvPr/>
        </p:nvSpPr>
        <p:spPr>
          <a:xfrm>
            <a:off x="8284464" y="3419856"/>
            <a:ext cx="640080" cy="274320"/>
          </a:xfrm>
          <a:prstGeom prst="rect">
            <a:avLst/>
          </a:prstGeom>
          <a:noFill/>
          <a:ln/>
        </p:spPr>
        <p:txBody>
          <a:bodyPr wrap="square" lIns="0" tIns="0" rIns="0" bIns="0" rtlCol="0" anchor="ctr"/>
          <a:lstStyle/>
          <a:p>
            <a:pPr marL="0" indent="0" algn="r">
              <a:buNone/>
            </a:pPr>
            <a:r>
              <a:rPr lang="en-US" sz="1300" b="1" dirty="0">
                <a:solidFill>
                  <a:srgbClr val="388E3C"/>
                </a:solidFill>
                <a:latin typeface="Arial" pitchFamily="34" charset="0"/>
                <a:ea typeface="Arial" pitchFamily="34" charset="-122"/>
                <a:cs typeface="Arial" pitchFamily="34" charset="-120"/>
              </a:rPr>
              <a:t>90%</a:t>
            </a:r>
            <a:endParaRPr lang="en-US" sz="1300" dirty="0"/>
          </a:p>
        </p:txBody>
      </p:sp>
      <p:sp>
        <p:nvSpPr>
          <p:cNvPr id="37" name="Shape 34"/>
          <p:cNvSpPr/>
          <p:nvPr/>
        </p:nvSpPr>
        <p:spPr>
          <a:xfrm>
            <a:off x="6373368" y="3950208"/>
            <a:ext cx="164592" cy="164592"/>
          </a:xfrm>
          <a:prstGeom prst="ellipse">
            <a:avLst/>
          </a:prstGeom>
          <a:solidFill>
            <a:srgbClr val="7B1FA2"/>
          </a:solidFill>
          <a:ln/>
        </p:spPr>
        <p:txBody>
          <a:bodyPr/>
          <a:lstStyle/>
          <a:p>
            <a:endParaRPr lang="en-MY"/>
          </a:p>
        </p:txBody>
      </p:sp>
      <p:sp>
        <p:nvSpPr>
          <p:cNvPr id="38" name="Text 35"/>
          <p:cNvSpPr/>
          <p:nvPr/>
        </p:nvSpPr>
        <p:spPr>
          <a:xfrm>
            <a:off x="6601968" y="3895344"/>
            <a:ext cx="1691640" cy="274320"/>
          </a:xfrm>
          <a:prstGeom prst="rect">
            <a:avLst/>
          </a:prstGeom>
          <a:noFill/>
          <a:ln/>
        </p:spPr>
        <p:txBody>
          <a:bodyPr wrap="square" lIns="0" tIns="0" rIns="0" bIns="0" rtlCol="0" anchor="ctr"/>
          <a:lstStyle/>
          <a:p>
            <a:pPr marL="0" indent="0">
              <a:buNone/>
            </a:pPr>
            <a:r>
              <a:rPr lang="en-US" sz="1150" dirty="0">
                <a:solidFill>
                  <a:srgbClr val="4B4B4B"/>
                </a:solidFill>
                <a:latin typeface="Arial" pitchFamily="34" charset="0"/>
                <a:ea typeface="Arial" pitchFamily="34" charset="-122"/>
                <a:cs typeface="Arial" pitchFamily="34" charset="-120"/>
              </a:rPr>
              <a:t>Co-Curricular</a:t>
            </a:r>
            <a:endParaRPr lang="en-US" sz="1150" dirty="0"/>
          </a:p>
        </p:txBody>
      </p:sp>
      <p:sp>
        <p:nvSpPr>
          <p:cNvPr id="39" name="Text 36"/>
          <p:cNvSpPr/>
          <p:nvPr/>
        </p:nvSpPr>
        <p:spPr>
          <a:xfrm>
            <a:off x="8284464" y="3895344"/>
            <a:ext cx="640080" cy="274320"/>
          </a:xfrm>
          <a:prstGeom prst="rect">
            <a:avLst/>
          </a:prstGeom>
          <a:noFill/>
          <a:ln/>
        </p:spPr>
        <p:txBody>
          <a:bodyPr wrap="square" lIns="0" tIns="0" rIns="0" bIns="0" rtlCol="0" anchor="ctr"/>
          <a:lstStyle/>
          <a:p>
            <a:pPr marL="0" indent="0" algn="r">
              <a:buNone/>
            </a:pPr>
            <a:r>
              <a:rPr lang="en-US" sz="1300" b="1" dirty="0">
                <a:solidFill>
                  <a:srgbClr val="7B1FA2"/>
                </a:solidFill>
                <a:latin typeface="Arial" pitchFamily="34" charset="0"/>
                <a:ea typeface="Arial" pitchFamily="34" charset="-122"/>
                <a:cs typeface="Arial" pitchFamily="34" charset="-120"/>
              </a:rPr>
              <a:t>10%</a:t>
            </a:r>
            <a:endParaRPr lang="en-US" sz="1300" dirty="0"/>
          </a:p>
        </p:txBody>
      </p:sp>
      <p:sp>
        <p:nvSpPr>
          <p:cNvPr id="40" name="Shape 37"/>
          <p:cNvSpPr/>
          <p:nvPr/>
        </p:nvSpPr>
        <p:spPr>
          <a:xfrm>
            <a:off x="6400800" y="4425696"/>
            <a:ext cx="2468880" cy="512064"/>
          </a:xfrm>
          <a:prstGeom prst="roundRect">
            <a:avLst>
              <a:gd name="adj" fmla="val 14286"/>
            </a:avLst>
          </a:prstGeom>
          <a:solidFill>
            <a:srgbClr val="E3F2FD"/>
          </a:solidFill>
          <a:ln w="12700">
            <a:solidFill>
              <a:srgbClr val="1976D2"/>
            </a:solidFill>
            <a:prstDash val="solid"/>
          </a:ln>
        </p:spPr>
        <p:txBody>
          <a:bodyPr/>
          <a:lstStyle/>
          <a:p>
            <a:endParaRPr lang="en-MY"/>
          </a:p>
        </p:txBody>
      </p:sp>
      <p:sp>
        <p:nvSpPr>
          <p:cNvPr id="41" name="Text 38"/>
          <p:cNvSpPr/>
          <p:nvPr/>
        </p:nvSpPr>
        <p:spPr>
          <a:xfrm>
            <a:off x="6492240" y="4443984"/>
            <a:ext cx="2286000" cy="201168"/>
          </a:xfrm>
          <a:prstGeom prst="rect">
            <a:avLst/>
          </a:prstGeom>
          <a:noFill/>
          <a:ln/>
        </p:spPr>
        <p:txBody>
          <a:bodyPr wrap="square" lIns="0" tIns="0" rIns="0" bIns="0" rtlCol="0" anchor="ctr"/>
          <a:lstStyle/>
          <a:p>
            <a:pPr marL="0" indent="0">
              <a:buNone/>
            </a:pPr>
            <a:r>
              <a:rPr lang="en-US" sz="950" b="1" dirty="0">
                <a:solidFill>
                  <a:srgbClr val="1976D2"/>
                </a:solidFill>
                <a:latin typeface="Arial" pitchFamily="34" charset="0"/>
                <a:ea typeface="Arial" pitchFamily="34" charset="-122"/>
                <a:cs typeface="Arial" pitchFamily="34" charset="-120"/>
              </a:rPr>
              <a:t>Score =</a:t>
            </a:r>
            <a:endParaRPr lang="en-US" sz="950" dirty="0"/>
          </a:p>
        </p:txBody>
      </p:sp>
      <p:sp>
        <p:nvSpPr>
          <p:cNvPr id="42" name="Text 39"/>
          <p:cNvSpPr/>
          <p:nvPr/>
        </p:nvSpPr>
        <p:spPr>
          <a:xfrm>
            <a:off x="6492240" y="4645152"/>
            <a:ext cx="2286000" cy="201168"/>
          </a:xfrm>
          <a:prstGeom prst="rect">
            <a:avLst/>
          </a:prstGeom>
          <a:noFill/>
          <a:ln/>
        </p:spPr>
        <p:txBody>
          <a:bodyPr wrap="square" lIns="0" tIns="0" rIns="0" bIns="0" rtlCol="0" anchor="ctr"/>
          <a:lstStyle/>
          <a:p>
            <a:pPr marL="0" indent="0">
              <a:buNone/>
            </a:pPr>
            <a:r>
              <a:rPr lang="en-US" sz="900" dirty="0">
                <a:solidFill>
                  <a:srgbClr val="1976D2"/>
                </a:solidFill>
                <a:latin typeface="Arial" pitchFamily="34" charset="0"/>
                <a:ea typeface="Arial" pitchFamily="34" charset="-122"/>
                <a:cs typeface="Arial" pitchFamily="34" charset="-120"/>
              </a:rPr>
              <a:t>SPM(90%) + PAJSK(10%)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Challenges, Solutions &amp; Lessons Learned</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08 / 10</a:t>
            </a:r>
            <a:endParaRPr lang="en-US" sz="900" dirty="0"/>
          </a:p>
        </p:txBody>
      </p:sp>
      <p:sp>
        <p:nvSpPr>
          <p:cNvPr id="6" name="Shape 4"/>
          <p:cNvSpPr/>
          <p:nvPr/>
        </p:nvSpPr>
        <p:spPr>
          <a:xfrm>
            <a:off x="118872"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Shape 5"/>
          <p:cNvSpPr/>
          <p:nvPr/>
        </p:nvSpPr>
        <p:spPr>
          <a:xfrm>
            <a:off x="118872" y="512064"/>
            <a:ext cx="2944368" cy="603504"/>
          </a:xfrm>
          <a:prstGeom prst="roundRect">
            <a:avLst>
              <a:gd name="adj" fmla="val 12121"/>
            </a:avLst>
          </a:prstGeom>
          <a:solidFill>
            <a:srgbClr val="FF8F00"/>
          </a:solidFill>
          <a:ln/>
        </p:spPr>
        <p:txBody>
          <a:bodyPr/>
          <a:lstStyle/>
          <a:p>
            <a:endParaRPr lang="en-MY"/>
          </a:p>
        </p:txBody>
      </p:sp>
      <p:sp>
        <p:nvSpPr>
          <p:cNvPr id="8" name="Shape 6"/>
          <p:cNvSpPr/>
          <p:nvPr/>
        </p:nvSpPr>
        <p:spPr>
          <a:xfrm>
            <a:off x="118872" y="932688"/>
            <a:ext cx="2944368" cy="182880"/>
          </a:xfrm>
          <a:prstGeom prst="rect">
            <a:avLst/>
          </a:prstGeom>
          <a:solidFill>
            <a:srgbClr val="FF8F00"/>
          </a:solidFill>
          <a:ln/>
        </p:spPr>
        <p:txBody>
          <a:bodyPr/>
          <a:lstStyle/>
          <a:p>
            <a:endParaRPr lang="en-MY"/>
          </a:p>
        </p:txBody>
      </p:sp>
      <p:sp>
        <p:nvSpPr>
          <p:cNvPr id="9" name="Shape 7"/>
          <p:cNvSpPr/>
          <p:nvPr/>
        </p:nvSpPr>
        <p:spPr>
          <a:xfrm>
            <a:off x="228600" y="630936"/>
            <a:ext cx="347472" cy="347472"/>
          </a:xfrm>
          <a:prstGeom prst="ellipse">
            <a:avLst/>
          </a:prstGeom>
          <a:solidFill>
            <a:srgbClr val="FFFFFF">
              <a:alpha val="26000"/>
            </a:srgbClr>
          </a:solidFill>
          <a:ln/>
        </p:spPr>
        <p:txBody>
          <a:bodyPr/>
          <a:lstStyle/>
          <a:p>
            <a:endParaRPr lang="en-MY"/>
          </a:p>
        </p:txBody>
      </p:sp>
      <p:sp>
        <p:nvSpPr>
          <p:cNvPr id="10" name="Text 8"/>
          <p:cNvSpPr/>
          <p:nvPr/>
        </p:nvSpPr>
        <p:spPr>
          <a:xfrm>
            <a:off x="649224" y="585216"/>
            <a:ext cx="2322576" cy="47548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Challenges Faced</a:t>
            </a:r>
            <a:endParaRPr lang="en-US" sz="1300" dirty="0"/>
          </a:p>
        </p:txBody>
      </p:sp>
      <p:sp>
        <p:nvSpPr>
          <p:cNvPr id="11" name="Shape 9"/>
          <p:cNvSpPr/>
          <p:nvPr/>
        </p:nvSpPr>
        <p:spPr>
          <a:xfrm>
            <a:off x="237744" y="1225296"/>
            <a:ext cx="2706624" cy="1152144"/>
          </a:xfrm>
          <a:prstGeom prst="roundRect">
            <a:avLst>
              <a:gd name="adj" fmla="val 4762"/>
            </a:avLst>
          </a:prstGeom>
          <a:solidFill>
            <a:srgbClr val="FFF8E1"/>
          </a:solidFill>
          <a:ln/>
        </p:spPr>
        <p:txBody>
          <a:bodyPr/>
          <a:lstStyle/>
          <a:p>
            <a:endParaRPr lang="en-MY"/>
          </a:p>
        </p:txBody>
      </p:sp>
      <p:sp>
        <p:nvSpPr>
          <p:cNvPr id="12" name="Shape 10"/>
          <p:cNvSpPr/>
          <p:nvPr/>
        </p:nvSpPr>
        <p:spPr>
          <a:xfrm>
            <a:off x="237744" y="1225296"/>
            <a:ext cx="38405" cy="1152144"/>
          </a:xfrm>
          <a:prstGeom prst="rect">
            <a:avLst/>
          </a:prstGeom>
          <a:solidFill>
            <a:srgbClr val="FF8F00"/>
          </a:solidFill>
          <a:ln/>
        </p:spPr>
        <p:txBody>
          <a:bodyPr/>
          <a:lstStyle/>
          <a:p>
            <a:endParaRPr lang="en-MY"/>
          </a:p>
        </p:txBody>
      </p:sp>
      <p:sp>
        <p:nvSpPr>
          <p:cNvPr id="13" name="Text 11"/>
          <p:cNvSpPr/>
          <p:nvPr/>
        </p:nvSpPr>
        <p:spPr>
          <a:xfrm>
            <a:off x="329184" y="1271016"/>
            <a:ext cx="2578608" cy="192024"/>
          </a:xfrm>
          <a:prstGeom prst="rect">
            <a:avLst/>
          </a:prstGeom>
          <a:noFill/>
          <a:ln/>
        </p:spPr>
        <p:txBody>
          <a:bodyPr wrap="square" lIns="0" tIns="0" rIns="0" bIns="0" rtlCol="0" anchor="ctr"/>
          <a:lstStyle/>
          <a:p>
            <a:pPr marL="0" indent="0">
              <a:buNone/>
            </a:pPr>
            <a:r>
              <a:rPr lang="en-US" sz="1050" b="1" dirty="0">
                <a:solidFill>
                  <a:srgbClr val="FF8F00"/>
                </a:solidFill>
                <a:latin typeface="Arial" pitchFamily="34" charset="0"/>
                <a:ea typeface="Arial" pitchFamily="34" charset="-122"/>
                <a:cs typeface="Arial" pitchFamily="34" charset="-120"/>
              </a:rPr>
              <a:t>Bilingual Issue</a:t>
            </a:r>
            <a:endParaRPr lang="en-US" sz="1050" dirty="0"/>
          </a:p>
        </p:txBody>
      </p:sp>
      <p:sp>
        <p:nvSpPr>
          <p:cNvPr id="14" name="Text 12"/>
          <p:cNvSpPr/>
          <p:nvPr/>
        </p:nvSpPr>
        <p:spPr>
          <a:xfrm>
            <a:off x="329184" y="1453896"/>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Scholarship criteria exist in both Malay and English with inconsistent formats across multiple data sources used</a:t>
            </a:r>
            <a:endParaRPr lang="en-US" sz="1000" dirty="0"/>
          </a:p>
        </p:txBody>
      </p:sp>
      <p:sp>
        <p:nvSpPr>
          <p:cNvPr id="15" name="Shape 13"/>
          <p:cNvSpPr/>
          <p:nvPr/>
        </p:nvSpPr>
        <p:spPr>
          <a:xfrm>
            <a:off x="237744" y="2468880"/>
            <a:ext cx="2706624" cy="1152144"/>
          </a:xfrm>
          <a:prstGeom prst="roundRect">
            <a:avLst>
              <a:gd name="adj" fmla="val 4762"/>
            </a:avLst>
          </a:prstGeom>
          <a:solidFill>
            <a:srgbClr val="FFF8E1"/>
          </a:solidFill>
          <a:ln/>
        </p:spPr>
        <p:txBody>
          <a:bodyPr/>
          <a:lstStyle/>
          <a:p>
            <a:endParaRPr lang="en-MY"/>
          </a:p>
        </p:txBody>
      </p:sp>
      <p:sp>
        <p:nvSpPr>
          <p:cNvPr id="16" name="Shape 14"/>
          <p:cNvSpPr/>
          <p:nvPr/>
        </p:nvSpPr>
        <p:spPr>
          <a:xfrm>
            <a:off x="237744" y="2468880"/>
            <a:ext cx="38405" cy="1152144"/>
          </a:xfrm>
          <a:prstGeom prst="rect">
            <a:avLst/>
          </a:prstGeom>
          <a:solidFill>
            <a:srgbClr val="FF8F00"/>
          </a:solidFill>
          <a:ln/>
        </p:spPr>
        <p:txBody>
          <a:bodyPr/>
          <a:lstStyle/>
          <a:p>
            <a:endParaRPr lang="en-MY"/>
          </a:p>
        </p:txBody>
      </p:sp>
      <p:sp>
        <p:nvSpPr>
          <p:cNvPr id="17" name="Text 15"/>
          <p:cNvSpPr/>
          <p:nvPr/>
        </p:nvSpPr>
        <p:spPr>
          <a:xfrm>
            <a:off x="329184" y="2514600"/>
            <a:ext cx="2578608" cy="192024"/>
          </a:xfrm>
          <a:prstGeom prst="rect">
            <a:avLst/>
          </a:prstGeom>
          <a:noFill/>
          <a:ln/>
        </p:spPr>
        <p:txBody>
          <a:bodyPr wrap="square" lIns="0" tIns="0" rIns="0" bIns="0" rtlCol="0" anchor="ctr"/>
          <a:lstStyle/>
          <a:p>
            <a:pPr marL="0" indent="0">
              <a:buNone/>
            </a:pPr>
            <a:r>
              <a:rPr lang="en-US" sz="1050" b="1" dirty="0">
                <a:solidFill>
                  <a:srgbClr val="FF8F00"/>
                </a:solidFill>
                <a:latin typeface="Arial" pitchFamily="34" charset="0"/>
                <a:ea typeface="Arial" pitchFamily="34" charset="-122"/>
                <a:cs typeface="Arial" pitchFamily="34" charset="-120"/>
              </a:rPr>
              <a:t>Inconsistent Data</a:t>
            </a:r>
            <a:endParaRPr lang="en-US" sz="1050" dirty="0"/>
          </a:p>
        </p:txBody>
      </p:sp>
      <p:sp>
        <p:nvSpPr>
          <p:cNvPr id="18" name="Text 16"/>
          <p:cNvSpPr/>
          <p:nvPr/>
        </p:nvSpPr>
        <p:spPr>
          <a:xfrm>
            <a:off x="329184" y="2697480"/>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Data from various sources with differing formats, including duplicate record problems that needed full cleaning</a:t>
            </a:r>
            <a:endParaRPr lang="en-US" sz="1000" dirty="0"/>
          </a:p>
        </p:txBody>
      </p:sp>
      <p:sp>
        <p:nvSpPr>
          <p:cNvPr id="19" name="Shape 17"/>
          <p:cNvSpPr/>
          <p:nvPr/>
        </p:nvSpPr>
        <p:spPr>
          <a:xfrm>
            <a:off x="237744" y="3712464"/>
            <a:ext cx="2706624" cy="1152144"/>
          </a:xfrm>
          <a:prstGeom prst="roundRect">
            <a:avLst>
              <a:gd name="adj" fmla="val 4762"/>
            </a:avLst>
          </a:prstGeom>
          <a:solidFill>
            <a:srgbClr val="FFF8E1"/>
          </a:solidFill>
          <a:ln/>
        </p:spPr>
        <p:txBody>
          <a:bodyPr/>
          <a:lstStyle/>
          <a:p>
            <a:endParaRPr lang="en-MY"/>
          </a:p>
        </p:txBody>
      </p:sp>
      <p:sp>
        <p:nvSpPr>
          <p:cNvPr id="20" name="Shape 18"/>
          <p:cNvSpPr/>
          <p:nvPr/>
        </p:nvSpPr>
        <p:spPr>
          <a:xfrm>
            <a:off x="237744" y="3712464"/>
            <a:ext cx="38405" cy="1152144"/>
          </a:xfrm>
          <a:prstGeom prst="rect">
            <a:avLst/>
          </a:prstGeom>
          <a:solidFill>
            <a:srgbClr val="FF8F00"/>
          </a:solidFill>
          <a:ln/>
        </p:spPr>
        <p:txBody>
          <a:bodyPr/>
          <a:lstStyle/>
          <a:p>
            <a:endParaRPr lang="en-MY"/>
          </a:p>
        </p:txBody>
      </p:sp>
      <p:sp>
        <p:nvSpPr>
          <p:cNvPr id="21" name="Text 19"/>
          <p:cNvSpPr/>
          <p:nvPr/>
        </p:nvSpPr>
        <p:spPr>
          <a:xfrm>
            <a:off x="329184" y="3758184"/>
            <a:ext cx="2578608" cy="192024"/>
          </a:xfrm>
          <a:prstGeom prst="rect">
            <a:avLst/>
          </a:prstGeom>
          <a:noFill/>
          <a:ln/>
        </p:spPr>
        <p:txBody>
          <a:bodyPr wrap="square" lIns="0" tIns="0" rIns="0" bIns="0" rtlCol="0" anchor="ctr"/>
          <a:lstStyle/>
          <a:p>
            <a:pPr marL="0" indent="0">
              <a:buNone/>
            </a:pPr>
            <a:r>
              <a:rPr lang="en-US" sz="1050" b="1" dirty="0">
                <a:solidFill>
                  <a:srgbClr val="FF8F00"/>
                </a:solidFill>
                <a:latin typeface="Arial" pitchFamily="34" charset="0"/>
                <a:ea typeface="Arial" pitchFamily="34" charset="-122"/>
                <a:cs typeface="Arial" pitchFamily="34" charset="-120"/>
              </a:rPr>
              <a:t>Matching Accuracy</a:t>
            </a:r>
            <a:endParaRPr lang="en-US" sz="1050" dirty="0"/>
          </a:p>
        </p:txBody>
      </p:sp>
      <p:sp>
        <p:nvSpPr>
          <p:cNvPr id="22" name="Text 20"/>
          <p:cNvSpPr/>
          <p:nvPr/>
        </p:nvSpPr>
        <p:spPr>
          <a:xfrm>
            <a:off x="329184" y="3941064"/>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Ensuring matches are precise and relevant without showing scholarships students are not eligible to apply for</a:t>
            </a:r>
            <a:endParaRPr lang="en-US" sz="1000" dirty="0"/>
          </a:p>
        </p:txBody>
      </p:sp>
      <p:sp>
        <p:nvSpPr>
          <p:cNvPr id="23" name="Shape 21"/>
          <p:cNvSpPr/>
          <p:nvPr/>
        </p:nvSpPr>
        <p:spPr>
          <a:xfrm>
            <a:off x="3099816"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24" name="Shape 22"/>
          <p:cNvSpPr/>
          <p:nvPr/>
        </p:nvSpPr>
        <p:spPr>
          <a:xfrm>
            <a:off x="3099816" y="512064"/>
            <a:ext cx="2944368" cy="603504"/>
          </a:xfrm>
          <a:prstGeom prst="roundRect">
            <a:avLst>
              <a:gd name="adj" fmla="val 12121"/>
            </a:avLst>
          </a:prstGeom>
          <a:solidFill>
            <a:srgbClr val="388E3C"/>
          </a:solidFill>
          <a:ln/>
        </p:spPr>
        <p:txBody>
          <a:bodyPr/>
          <a:lstStyle/>
          <a:p>
            <a:endParaRPr lang="en-MY"/>
          </a:p>
        </p:txBody>
      </p:sp>
      <p:sp>
        <p:nvSpPr>
          <p:cNvPr id="25" name="Shape 23"/>
          <p:cNvSpPr/>
          <p:nvPr/>
        </p:nvSpPr>
        <p:spPr>
          <a:xfrm>
            <a:off x="3099816" y="932688"/>
            <a:ext cx="2944368" cy="182880"/>
          </a:xfrm>
          <a:prstGeom prst="rect">
            <a:avLst/>
          </a:prstGeom>
          <a:solidFill>
            <a:srgbClr val="388E3C"/>
          </a:solidFill>
          <a:ln/>
        </p:spPr>
        <p:txBody>
          <a:bodyPr/>
          <a:lstStyle/>
          <a:p>
            <a:endParaRPr lang="en-MY"/>
          </a:p>
        </p:txBody>
      </p:sp>
      <p:sp>
        <p:nvSpPr>
          <p:cNvPr id="26" name="Shape 24"/>
          <p:cNvSpPr/>
          <p:nvPr/>
        </p:nvSpPr>
        <p:spPr>
          <a:xfrm>
            <a:off x="3209544" y="630936"/>
            <a:ext cx="347472" cy="347472"/>
          </a:xfrm>
          <a:prstGeom prst="ellipse">
            <a:avLst/>
          </a:prstGeom>
          <a:solidFill>
            <a:srgbClr val="FFFFFF">
              <a:alpha val="26000"/>
            </a:srgbClr>
          </a:solidFill>
          <a:ln/>
        </p:spPr>
        <p:txBody>
          <a:bodyPr/>
          <a:lstStyle/>
          <a:p>
            <a:endParaRPr lang="en-MY"/>
          </a:p>
        </p:txBody>
      </p:sp>
      <p:sp>
        <p:nvSpPr>
          <p:cNvPr id="27" name="Text 25"/>
          <p:cNvSpPr/>
          <p:nvPr/>
        </p:nvSpPr>
        <p:spPr>
          <a:xfrm>
            <a:off x="3630168" y="585216"/>
            <a:ext cx="2322576" cy="47548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How We Solved It</a:t>
            </a:r>
            <a:endParaRPr lang="en-US" sz="1300" dirty="0"/>
          </a:p>
        </p:txBody>
      </p:sp>
      <p:sp>
        <p:nvSpPr>
          <p:cNvPr id="28" name="Shape 26"/>
          <p:cNvSpPr/>
          <p:nvPr/>
        </p:nvSpPr>
        <p:spPr>
          <a:xfrm>
            <a:off x="3218688" y="1225296"/>
            <a:ext cx="2706624" cy="1152144"/>
          </a:xfrm>
          <a:prstGeom prst="roundRect">
            <a:avLst>
              <a:gd name="adj" fmla="val 4762"/>
            </a:avLst>
          </a:prstGeom>
          <a:solidFill>
            <a:srgbClr val="E8F5E9"/>
          </a:solidFill>
          <a:ln/>
        </p:spPr>
        <p:txBody>
          <a:bodyPr/>
          <a:lstStyle/>
          <a:p>
            <a:endParaRPr lang="en-MY"/>
          </a:p>
        </p:txBody>
      </p:sp>
      <p:sp>
        <p:nvSpPr>
          <p:cNvPr id="29" name="Shape 27"/>
          <p:cNvSpPr/>
          <p:nvPr/>
        </p:nvSpPr>
        <p:spPr>
          <a:xfrm>
            <a:off x="3218688" y="1225296"/>
            <a:ext cx="38405" cy="1152144"/>
          </a:xfrm>
          <a:prstGeom prst="rect">
            <a:avLst/>
          </a:prstGeom>
          <a:solidFill>
            <a:srgbClr val="388E3C"/>
          </a:solidFill>
          <a:ln/>
        </p:spPr>
        <p:txBody>
          <a:bodyPr/>
          <a:lstStyle/>
          <a:p>
            <a:endParaRPr lang="en-MY"/>
          </a:p>
        </p:txBody>
      </p:sp>
      <p:sp>
        <p:nvSpPr>
          <p:cNvPr id="30" name="Text 28"/>
          <p:cNvSpPr/>
          <p:nvPr/>
        </p:nvSpPr>
        <p:spPr>
          <a:xfrm>
            <a:off x="3310128" y="1271016"/>
            <a:ext cx="2578608" cy="192024"/>
          </a:xfrm>
          <a:prstGeom prst="rect">
            <a:avLst/>
          </a:prstGeom>
          <a:noFill/>
          <a:ln/>
        </p:spPr>
        <p:txBody>
          <a:bodyPr wrap="square" lIns="0" tIns="0" rIns="0" bIns="0" rtlCol="0" anchor="ctr"/>
          <a:lstStyle/>
          <a:p>
            <a:pPr marL="0" indent="0">
              <a:buNone/>
            </a:pPr>
            <a:r>
              <a:rPr lang="en-US" sz="1050" b="1" dirty="0">
                <a:solidFill>
                  <a:srgbClr val="388E3C"/>
                </a:solidFill>
                <a:latin typeface="Arial" pitchFamily="34" charset="0"/>
                <a:ea typeface="Arial" pitchFamily="34" charset="-122"/>
                <a:cs typeface="Arial" pitchFamily="34" charset="-120"/>
              </a:rPr>
              <a:t>Bilingual System</a:t>
            </a:r>
            <a:endParaRPr lang="en-US" sz="1050" dirty="0"/>
          </a:p>
        </p:txBody>
      </p:sp>
      <p:sp>
        <p:nvSpPr>
          <p:cNvPr id="31" name="Text 29"/>
          <p:cNvSpPr/>
          <p:nvPr/>
        </p:nvSpPr>
        <p:spPr>
          <a:xfrm>
            <a:off x="3310128" y="1453896"/>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A language-aware normalisation layer was built to correctly handle scholarship criteria in both languages</a:t>
            </a:r>
            <a:endParaRPr lang="en-US" sz="1000" dirty="0"/>
          </a:p>
        </p:txBody>
      </p:sp>
      <p:sp>
        <p:nvSpPr>
          <p:cNvPr id="32" name="Shape 30"/>
          <p:cNvSpPr/>
          <p:nvPr/>
        </p:nvSpPr>
        <p:spPr>
          <a:xfrm>
            <a:off x="3218688" y="2468880"/>
            <a:ext cx="2706624" cy="1152144"/>
          </a:xfrm>
          <a:prstGeom prst="roundRect">
            <a:avLst>
              <a:gd name="adj" fmla="val 4762"/>
            </a:avLst>
          </a:prstGeom>
          <a:solidFill>
            <a:srgbClr val="E8F5E9"/>
          </a:solidFill>
          <a:ln/>
        </p:spPr>
        <p:txBody>
          <a:bodyPr/>
          <a:lstStyle/>
          <a:p>
            <a:endParaRPr lang="en-MY"/>
          </a:p>
        </p:txBody>
      </p:sp>
      <p:sp>
        <p:nvSpPr>
          <p:cNvPr id="33" name="Shape 31"/>
          <p:cNvSpPr/>
          <p:nvPr/>
        </p:nvSpPr>
        <p:spPr>
          <a:xfrm>
            <a:off x="3218688" y="2468880"/>
            <a:ext cx="38405" cy="1152144"/>
          </a:xfrm>
          <a:prstGeom prst="rect">
            <a:avLst/>
          </a:prstGeom>
          <a:solidFill>
            <a:srgbClr val="388E3C"/>
          </a:solidFill>
          <a:ln/>
        </p:spPr>
        <p:txBody>
          <a:bodyPr/>
          <a:lstStyle/>
          <a:p>
            <a:endParaRPr lang="en-MY"/>
          </a:p>
        </p:txBody>
      </p:sp>
      <p:sp>
        <p:nvSpPr>
          <p:cNvPr id="34" name="Text 32"/>
          <p:cNvSpPr/>
          <p:nvPr/>
        </p:nvSpPr>
        <p:spPr>
          <a:xfrm>
            <a:off x="3310128" y="2514600"/>
            <a:ext cx="2578608" cy="192024"/>
          </a:xfrm>
          <a:prstGeom prst="rect">
            <a:avLst/>
          </a:prstGeom>
          <a:noFill/>
          <a:ln/>
        </p:spPr>
        <p:txBody>
          <a:bodyPr wrap="square" lIns="0" tIns="0" rIns="0" bIns="0" rtlCol="0" anchor="ctr"/>
          <a:lstStyle/>
          <a:p>
            <a:pPr marL="0" indent="0">
              <a:buNone/>
            </a:pPr>
            <a:r>
              <a:rPr lang="en-US" sz="1050" b="1" dirty="0">
                <a:solidFill>
                  <a:srgbClr val="388E3C"/>
                </a:solidFill>
                <a:latin typeface="Arial" pitchFamily="34" charset="0"/>
                <a:ea typeface="Arial" pitchFamily="34" charset="-122"/>
                <a:cs typeface="Arial" pitchFamily="34" charset="-120"/>
              </a:rPr>
              <a:t>Data Cleaning</a:t>
            </a:r>
            <a:endParaRPr lang="en-US" sz="1050" dirty="0"/>
          </a:p>
        </p:txBody>
      </p:sp>
      <p:sp>
        <p:nvSpPr>
          <p:cNvPr id="35" name="Text 33"/>
          <p:cNvSpPr/>
          <p:nvPr/>
        </p:nvSpPr>
        <p:spPr>
          <a:xfrm>
            <a:off x="3310128" y="2697480"/>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Data cleaning scripts were used alongside unique IDs to prevent duplicate records from entering the system</a:t>
            </a:r>
            <a:endParaRPr lang="en-US" sz="1000" dirty="0"/>
          </a:p>
        </p:txBody>
      </p:sp>
      <p:sp>
        <p:nvSpPr>
          <p:cNvPr id="36" name="Shape 34"/>
          <p:cNvSpPr/>
          <p:nvPr/>
        </p:nvSpPr>
        <p:spPr>
          <a:xfrm>
            <a:off x="3218688" y="3712464"/>
            <a:ext cx="2706624" cy="1152144"/>
          </a:xfrm>
          <a:prstGeom prst="roundRect">
            <a:avLst>
              <a:gd name="adj" fmla="val 4762"/>
            </a:avLst>
          </a:prstGeom>
          <a:solidFill>
            <a:srgbClr val="E8F5E9"/>
          </a:solidFill>
          <a:ln/>
        </p:spPr>
        <p:txBody>
          <a:bodyPr/>
          <a:lstStyle/>
          <a:p>
            <a:endParaRPr lang="en-MY"/>
          </a:p>
        </p:txBody>
      </p:sp>
      <p:sp>
        <p:nvSpPr>
          <p:cNvPr id="37" name="Shape 35"/>
          <p:cNvSpPr/>
          <p:nvPr/>
        </p:nvSpPr>
        <p:spPr>
          <a:xfrm>
            <a:off x="3218688" y="3712464"/>
            <a:ext cx="38405" cy="1152144"/>
          </a:xfrm>
          <a:prstGeom prst="rect">
            <a:avLst/>
          </a:prstGeom>
          <a:solidFill>
            <a:srgbClr val="388E3C"/>
          </a:solidFill>
          <a:ln/>
        </p:spPr>
        <p:txBody>
          <a:bodyPr/>
          <a:lstStyle/>
          <a:p>
            <a:endParaRPr lang="en-MY"/>
          </a:p>
        </p:txBody>
      </p:sp>
      <p:sp>
        <p:nvSpPr>
          <p:cNvPr id="38" name="Text 36"/>
          <p:cNvSpPr/>
          <p:nvPr/>
        </p:nvSpPr>
        <p:spPr>
          <a:xfrm>
            <a:off x="3310128" y="3758184"/>
            <a:ext cx="2578608" cy="192024"/>
          </a:xfrm>
          <a:prstGeom prst="rect">
            <a:avLst/>
          </a:prstGeom>
          <a:noFill/>
          <a:ln/>
        </p:spPr>
        <p:txBody>
          <a:bodyPr wrap="square" lIns="0" tIns="0" rIns="0" bIns="0" rtlCol="0" anchor="ctr"/>
          <a:lstStyle/>
          <a:p>
            <a:pPr marL="0" indent="0">
              <a:buNone/>
            </a:pPr>
            <a:r>
              <a:rPr lang="en-US" sz="1050" b="1" dirty="0">
                <a:solidFill>
                  <a:srgbClr val="388E3C"/>
                </a:solidFill>
                <a:latin typeface="Arial" pitchFamily="34" charset="0"/>
                <a:ea typeface="Arial" pitchFamily="34" charset="-122"/>
                <a:cs typeface="Arial" pitchFamily="34" charset="-120"/>
              </a:rPr>
              <a:t>Multi-Layer Logic</a:t>
            </a:r>
            <a:endParaRPr lang="en-US" sz="1050" dirty="0"/>
          </a:p>
        </p:txBody>
      </p:sp>
      <p:sp>
        <p:nvSpPr>
          <p:cNvPr id="39" name="Text 37"/>
          <p:cNvSpPr/>
          <p:nvPr/>
        </p:nvSpPr>
        <p:spPr>
          <a:xfrm>
            <a:off x="3310128" y="3941064"/>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Multi-criteria matching ensures only genuinely eligible options are shown to each student</a:t>
            </a:r>
            <a:endParaRPr lang="en-US" sz="1000" dirty="0"/>
          </a:p>
        </p:txBody>
      </p:sp>
      <p:sp>
        <p:nvSpPr>
          <p:cNvPr id="40" name="Shape 38"/>
          <p:cNvSpPr/>
          <p:nvPr/>
        </p:nvSpPr>
        <p:spPr>
          <a:xfrm>
            <a:off x="6080760" y="512064"/>
            <a:ext cx="2944368" cy="4544568"/>
          </a:xfrm>
          <a:prstGeom prst="roundRect">
            <a:avLst>
              <a:gd name="adj" fmla="val 2484"/>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41" name="Shape 39"/>
          <p:cNvSpPr/>
          <p:nvPr/>
        </p:nvSpPr>
        <p:spPr>
          <a:xfrm>
            <a:off x="6080760" y="512064"/>
            <a:ext cx="2944368" cy="603504"/>
          </a:xfrm>
          <a:prstGeom prst="roundRect">
            <a:avLst>
              <a:gd name="adj" fmla="val 12121"/>
            </a:avLst>
          </a:prstGeom>
          <a:solidFill>
            <a:srgbClr val="00897B"/>
          </a:solidFill>
          <a:ln/>
        </p:spPr>
        <p:txBody>
          <a:bodyPr/>
          <a:lstStyle/>
          <a:p>
            <a:endParaRPr lang="en-MY"/>
          </a:p>
        </p:txBody>
      </p:sp>
      <p:sp>
        <p:nvSpPr>
          <p:cNvPr id="42" name="Shape 40"/>
          <p:cNvSpPr/>
          <p:nvPr/>
        </p:nvSpPr>
        <p:spPr>
          <a:xfrm>
            <a:off x="6080760" y="932688"/>
            <a:ext cx="2944368" cy="182880"/>
          </a:xfrm>
          <a:prstGeom prst="rect">
            <a:avLst/>
          </a:prstGeom>
          <a:solidFill>
            <a:srgbClr val="00897B"/>
          </a:solidFill>
          <a:ln/>
        </p:spPr>
        <p:txBody>
          <a:bodyPr/>
          <a:lstStyle/>
          <a:p>
            <a:endParaRPr lang="en-MY"/>
          </a:p>
        </p:txBody>
      </p:sp>
      <p:sp>
        <p:nvSpPr>
          <p:cNvPr id="43" name="Shape 41"/>
          <p:cNvSpPr/>
          <p:nvPr/>
        </p:nvSpPr>
        <p:spPr>
          <a:xfrm>
            <a:off x="6190488" y="630936"/>
            <a:ext cx="347472" cy="347472"/>
          </a:xfrm>
          <a:prstGeom prst="ellipse">
            <a:avLst/>
          </a:prstGeom>
          <a:solidFill>
            <a:srgbClr val="FFFFFF">
              <a:alpha val="26000"/>
            </a:srgbClr>
          </a:solidFill>
          <a:ln/>
        </p:spPr>
        <p:txBody>
          <a:bodyPr/>
          <a:lstStyle/>
          <a:p>
            <a:endParaRPr lang="en-MY"/>
          </a:p>
        </p:txBody>
      </p:sp>
      <p:sp>
        <p:nvSpPr>
          <p:cNvPr id="44" name="Text 42"/>
          <p:cNvSpPr/>
          <p:nvPr/>
        </p:nvSpPr>
        <p:spPr>
          <a:xfrm>
            <a:off x="6611112" y="585216"/>
            <a:ext cx="2322576" cy="47548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Lessons Learned</a:t>
            </a:r>
            <a:endParaRPr lang="en-US" sz="1300" dirty="0"/>
          </a:p>
        </p:txBody>
      </p:sp>
      <p:sp>
        <p:nvSpPr>
          <p:cNvPr id="45" name="Shape 43"/>
          <p:cNvSpPr/>
          <p:nvPr/>
        </p:nvSpPr>
        <p:spPr>
          <a:xfrm>
            <a:off x="6199632" y="1225296"/>
            <a:ext cx="2706624" cy="1152144"/>
          </a:xfrm>
          <a:prstGeom prst="roundRect">
            <a:avLst>
              <a:gd name="adj" fmla="val 4762"/>
            </a:avLst>
          </a:prstGeom>
          <a:solidFill>
            <a:srgbClr val="E0F2F1"/>
          </a:solidFill>
          <a:ln/>
        </p:spPr>
        <p:txBody>
          <a:bodyPr/>
          <a:lstStyle/>
          <a:p>
            <a:endParaRPr lang="en-MY"/>
          </a:p>
        </p:txBody>
      </p:sp>
      <p:sp>
        <p:nvSpPr>
          <p:cNvPr id="46" name="Shape 44"/>
          <p:cNvSpPr/>
          <p:nvPr/>
        </p:nvSpPr>
        <p:spPr>
          <a:xfrm>
            <a:off x="6199632" y="1225296"/>
            <a:ext cx="38405" cy="1152144"/>
          </a:xfrm>
          <a:prstGeom prst="rect">
            <a:avLst/>
          </a:prstGeom>
          <a:solidFill>
            <a:srgbClr val="00897B"/>
          </a:solidFill>
          <a:ln/>
        </p:spPr>
        <p:txBody>
          <a:bodyPr/>
          <a:lstStyle/>
          <a:p>
            <a:endParaRPr lang="en-MY"/>
          </a:p>
        </p:txBody>
      </p:sp>
      <p:sp>
        <p:nvSpPr>
          <p:cNvPr id="47" name="Text 45"/>
          <p:cNvSpPr/>
          <p:nvPr/>
        </p:nvSpPr>
        <p:spPr>
          <a:xfrm>
            <a:off x="6291072" y="1271016"/>
            <a:ext cx="2578608" cy="192024"/>
          </a:xfrm>
          <a:prstGeom prst="rect">
            <a:avLst/>
          </a:prstGeom>
          <a:noFill/>
          <a:ln/>
        </p:spPr>
        <p:txBody>
          <a:bodyPr wrap="square" lIns="0" tIns="0" rIns="0" bIns="0" rtlCol="0" anchor="ctr"/>
          <a:lstStyle/>
          <a:p>
            <a:pPr marL="0" indent="0">
              <a:buNone/>
            </a:pPr>
            <a:r>
              <a:rPr lang="en-US" sz="1050" b="1" dirty="0">
                <a:solidFill>
                  <a:srgbClr val="00897B"/>
                </a:solidFill>
                <a:latin typeface="Arial" pitchFamily="34" charset="0"/>
                <a:ea typeface="Arial" pitchFamily="34" charset="-122"/>
                <a:cs typeface="Arial" pitchFamily="34" charset="-120"/>
              </a:rPr>
              <a:t>Rule-Based Matching</a:t>
            </a:r>
            <a:endParaRPr lang="en-US" sz="1050" dirty="0"/>
          </a:p>
        </p:txBody>
      </p:sp>
      <p:sp>
        <p:nvSpPr>
          <p:cNvPr id="48" name="Text 46"/>
          <p:cNvSpPr/>
          <p:nvPr/>
        </p:nvSpPr>
        <p:spPr>
          <a:xfrm>
            <a:off x="6291072" y="1453896"/>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Accurate, auditable, and fast , operates in milliseconds without requiring AI or Machine Learning</a:t>
            </a:r>
            <a:endParaRPr lang="en-US" sz="1000" dirty="0"/>
          </a:p>
        </p:txBody>
      </p:sp>
      <p:sp>
        <p:nvSpPr>
          <p:cNvPr id="49" name="Shape 47"/>
          <p:cNvSpPr/>
          <p:nvPr/>
        </p:nvSpPr>
        <p:spPr>
          <a:xfrm>
            <a:off x="6199632" y="2468880"/>
            <a:ext cx="2706624" cy="1152144"/>
          </a:xfrm>
          <a:prstGeom prst="roundRect">
            <a:avLst>
              <a:gd name="adj" fmla="val 4762"/>
            </a:avLst>
          </a:prstGeom>
          <a:solidFill>
            <a:srgbClr val="E0F2F1"/>
          </a:solidFill>
          <a:ln/>
        </p:spPr>
        <p:txBody>
          <a:bodyPr/>
          <a:lstStyle/>
          <a:p>
            <a:endParaRPr lang="en-MY"/>
          </a:p>
        </p:txBody>
      </p:sp>
      <p:sp>
        <p:nvSpPr>
          <p:cNvPr id="50" name="Shape 48"/>
          <p:cNvSpPr/>
          <p:nvPr/>
        </p:nvSpPr>
        <p:spPr>
          <a:xfrm>
            <a:off x="6199632" y="2468880"/>
            <a:ext cx="38405" cy="1152144"/>
          </a:xfrm>
          <a:prstGeom prst="rect">
            <a:avLst/>
          </a:prstGeom>
          <a:solidFill>
            <a:srgbClr val="00897B"/>
          </a:solidFill>
          <a:ln/>
        </p:spPr>
        <p:txBody>
          <a:bodyPr/>
          <a:lstStyle/>
          <a:p>
            <a:endParaRPr lang="en-MY"/>
          </a:p>
        </p:txBody>
      </p:sp>
      <p:sp>
        <p:nvSpPr>
          <p:cNvPr id="51" name="Text 49"/>
          <p:cNvSpPr/>
          <p:nvPr/>
        </p:nvSpPr>
        <p:spPr>
          <a:xfrm>
            <a:off x="6291072" y="2514600"/>
            <a:ext cx="2578608" cy="192024"/>
          </a:xfrm>
          <a:prstGeom prst="rect">
            <a:avLst/>
          </a:prstGeom>
          <a:noFill/>
          <a:ln/>
        </p:spPr>
        <p:txBody>
          <a:bodyPr wrap="square" lIns="0" tIns="0" rIns="0" bIns="0" rtlCol="0" anchor="ctr"/>
          <a:lstStyle/>
          <a:p>
            <a:pPr marL="0" indent="0">
              <a:buNone/>
            </a:pPr>
            <a:r>
              <a:rPr lang="en-US" sz="1050" b="1" dirty="0">
                <a:solidFill>
                  <a:srgbClr val="00897B"/>
                </a:solidFill>
                <a:latin typeface="Arial" pitchFamily="34" charset="0"/>
                <a:ea typeface="Arial" pitchFamily="34" charset="-122"/>
                <a:cs typeface="Arial" pitchFamily="34" charset="-120"/>
              </a:rPr>
              <a:t>Persistent Sessions</a:t>
            </a:r>
            <a:endParaRPr lang="en-US" sz="1050" dirty="0"/>
          </a:p>
        </p:txBody>
      </p:sp>
      <p:sp>
        <p:nvSpPr>
          <p:cNvPr id="52" name="Text 50"/>
          <p:cNvSpPr/>
          <p:nvPr/>
        </p:nvSpPr>
        <p:spPr>
          <a:xfrm>
            <a:off x="6291072" y="2697480"/>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Student profiles are saved across visits , no need to re-enter information each time they return</a:t>
            </a:r>
            <a:endParaRPr lang="en-US" sz="1000" dirty="0"/>
          </a:p>
        </p:txBody>
      </p:sp>
      <p:sp>
        <p:nvSpPr>
          <p:cNvPr id="53" name="Shape 51"/>
          <p:cNvSpPr/>
          <p:nvPr/>
        </p:nvSpPr>
        <p:spPr>
          <a:xfrm>
            <a:off x="6199632" y="3712464"/>
            <a:ext cx="2706624" cy="1152144"/>
          </a:xfrm>
          <a:prstGeom prst="roundRect">
            <a:avLst>
              <a:gd name="adj" fmla="val 4762"/>
            </a:avLst>
          </a:prstGeom>
          <a:solidFill>
            <a:srgbClr val="E0F2F1"/>
          </a:solidFill>
          <a:ln/>
        </p:spPr>
        <p:txBody>
          <a:bodyPr/>
          <a:lstStyle/>
          <a:p>
            <a:endParaRPr lang="en-MY"/>
          </a:p>
        </p:txBody>
      </p:sp>
      <p:sp>
        <p:nvSpPr>
          <p:cNvPr id="54" name="Shape 52"/>
          <p:cNvSpPr/>
          <p:nvPr/>
        </p:nvSpPr>
        <p:spPr>
          <a:xfrm>
            <a:off x="6199632" y="3712464"/>
            <a:ext cx="38405" cy="1152144"/>
          </a:xfrm>
          <a:prstGeom prst="rect">
            <a:avLst/>
          </a:prstGeom>
          <a:solidFill>
            <a:srgbClr val="00897B"/>
          </a:solidFill>
          <a:ln/>
        </p:spPr>
        <p:txBody>
          <a:bodyPr/>
          <a:lstStyle/>
          <a:p>
            <a:endParaRPr lang="en-MY"/>
          </a:p>
        </p:txBody>
      </p:sp>
      <p:sp>
        <p:nvSpPr>
          <p:cNvPr id="55" name="Text 53"/>
          <p:cNvSpPr/>
          <p:nvPr/>
        </p:nvSpPr>
        <p:spPr>
          <a:xfrm>
            <a:off x="6291072" y="3758184"/>
            <a:ext cx="2578608" cy="192024"/>
          </a:xfrm>
          <a:prstGeom prst="rect">
            <a:avLst/>
          </a:prstGeom>
          <a:noFill/>
          <a:ln/>
        </p:spPr>
        <p:txBody>
          <a:bodyPr wrap="square" lIns="0" tIns="0" rIns="0" bIns="0" rtlCol="0" anchor="ctr"/>
          <a:lstStyle/>
          <a:p>
            <a:pPr marL="0" indent="0">
              <a:buNone/>
            </a:pPr>
            <a:r>
              <a:rPr lang="en-US" sz="1050" b="1" dirty="0">
                <a:solidFill>
                  <a:srgbClr val="00897B"/>
                </a:solidFill>
                <a:latin typeface="Arial" pitchFamily="34" charset="0"/>
                <a:ea typeface="Arial" pitchFamily="34" charset="-122"/>
                <a:cs typeface="Arial" pitchFamily="34" charset="-120"/>
              </a:rPr>
              <a:t>Layered Higher Education Institution Match</a:t>
            </a:r>
            <a:endParaRPr lang="en-US" sz="1050" dirty="0"/>
          </a:p>
        </p:txBody>
      </p:sp>
      <p:sp>
        <p:nvSpPr>
          <p:cNvPr id="56" name="Text 54"/>
          <p:cNvSpPr/>
          <p:nvPr/>
        </p:nvSpPr>
        <p:spPr>
          <a:xfrm>
            <a:off x="6291072" y="3941064"/>
            <a:ext cx="2578608" cy="877824"/>
          </a:xfrm>
          <a:prstGeom prst="rect">
            <a:avLst/>
          </a:prstGeom>
          <a:noFill/>
          <a:ln/>
        </p:spPr>
        <p:txBody>
          <a:bodyPr wrap="square" lIns="0" tIns="0" rIns="0" bIns="0" rtlCol="0" anchor="ctr"/>
          <a:lstStyle/>
          <a:p>
            <a:pPr marL="0" indent="0">
              <a:buNone/>
            </a:pPr>
            <a:r>
              <a:rPr lang="en-US" sz="1000" dirty="0">
                <a:solidFill>
                  <a:srgbClr val="4B4B4B"/>
                </a:solidFill>
                <a:latin typeface="Arial" pitchFamily="34" charset="0"/>
                <a:ea typeface="Arial" pitchFamily="34" charset="-122"/>
                <a:cs typeface="Arial" pitchFamily="34" charset="-120"/>
              </a:rPr>
              <a:t>Higher Education Institution matching uses multiple criteria: field + grade + income + type for higher precision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5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20624"/>
          </a:xfrm>
          <a:prstGeom prst="rect">
            <a:avLst/>
          </a:prstGeom>
          <a:solidFill>
            <a:srgbClr val="388E3C"/>
          </a:solidFill>
          <a:ln/>
        </p:spPr>
        <p:txBody>
          <a:bodyPr/>
          <a:lstStyle/>
          <a:p>
            <a:endParaRPr lang="en-MY"/>
          </a:p>
        </p:txBody>
      </p:sp>
      <p:sp>
        <p:nvSpPr>
          <p:cNvPr id="3" name="Shape 1"/>
          <p:cNvSpPr/>
          <p:nvPr/>
        </p:nvSpPr>
        <p:spPr>
          <a:xfrm>
            <a:off x="3840480" y="0"/>
            <a:ext cx="5303520" cy="420624"/>
          </a:xfrm>
          <a:prstGeom prst="rect">
            <a:avLst/>
          </a:prstGeom>
          <a:solidFill>
            <a:srgbClr val="1976D2">
              <a:alpha val="52000"/>
            </a:srgbClr>
          </a:solidFill>
          <a:ln/>
        </p:spPr>
        <p:txBody>
          <a:bodyPr/>
          <a:lstStyle/>
          <a:p>
            <a:endParaRPr lang="en-MY"/>
          </a:p>
        </p:txBody>
      </p:sp>
      <p:sp>
        <p:nvSpPr>
          <p:cNvPr id="4" name="Text 2"/>
          <p:cNvSpPr/>
          <p:nvPr/>
        </p:nvSpPr>
        <p:spPr>
          <a:xfrm>
            <a:off x="201168" y="0"/>
            <a:ext cx="7863840" cy="420624"/>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Current Project Status</a:t>
            </a:r>
            <a:endParaRPr lang="en-US" sz="1200" dirty="0"/>
          </a:p>
        </p:txBody>
      </p:sp>
      <p:sp>
        <p:nvSpPr>
          <p:cNvPr id="5" name="Text 3"/>
          <p:cNvSpPr/>
          <p:nvPr/>
        </p:nvSpPr>
        <p:spPr>
          <a:xfrm>
            <a:off x="7955280" y="0"/>
            <a:ext cx="1097280" cy="420624"/>
          </a:xfrm>
          <a:prstGeom prst="rect">
            <a:avLst/>
          </a:prstGeom>
          <a:noFill/>
          <a:ln/>
        </p:spPr>
        <p:txBody>
          <a:bodyPr wrap="square" lIns="0" tIns="0" rIns="0" bIns="0" rtlCol="0" anchor="ctr"/>
          <a:lstStyle/>
          <a:p>
            <a:pPr marL="0" indent="0" algn="r">
              <a:buNone/>
            </a:pPr>
            <a:r>
              <a:rPr lang="en-US" sz="900" dirty="0">
                <a:solidFill>
                  <a:srgbClr val="FFFFFF">
                    <a:alpha val="52000"/>
                  </a:srgbClr>
                </a:solidFill>
                <a:latin typeface="Arial" pitchFamily="34" charset="0"/>
                <a:ea typeface="Arial" pitchFamily="34" charset="-122"/>
                <a:cs typeface="Arial" pitchFamily="34" charset="-120"/>
              </a:rPr>
              <a:t>09 / 10</a:t>
            </a:r>
            <a:endParaRPr lang="en-US" sz="900" dirty="0"/>
          </a:p>
        </p:txBody>
      </p:sp>
      <p:sp>
        <p:nvSpPr>
          <p:cNvPr id="6" name="Shape 4"/>
          <p:cNvSpPr/>
          <p:nvPr/>
        </p:nvSpPr>
        <p:spPr>
          <a:xfrm>
            <a:off x="118872" y="512064"/>
            <a:ext cx="4407408" cy="2231136"/>
          </a:xfrm>
          <a:prstGeom prst="roundRect">
            <a:avLst>
              <a:gd name="adj" fmla="val 3279"/>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 name="Text 5"/>
          <p:cNvSpPr/>
          <p:nvPr/>
        </p:nvSpPr>
        <p:spPr>
          <a:xfrm>
            <a:off x="246888" y="603504"/>
            <a:ext cx="4151376" cy="219456"/>
          </a:xfrm>
          <a:prstGeom prst="rect">
            <a:avLst/>
          </a:prstGeom>
          <a:noFill/>
          <a:ln/>
        </p:spPr>
        <p:txBody>
          <a:bodyPr wrap="square" lIns="0" tIns="0" rIns="0" bIns="0" rtlCol="0" anchor="ctr"/>
          <a:lstStyle/>
          <a:p>
            <a:pPr marL="0" indent="0">
              <a:buNone/>
            </a:pPr>
            <a:r>
              <a:rPr lang="en-US" sz="950" b="1" kern="0" spc="50" dirty="0">
                <a:solidFill>
                  <a:srgbClr val="0F2057"/>
                </a:solidFill>
                <a:latin typeface="Arial" pitchFamily="34" charset="0"/>
                <a:ea typeface="Arial" pitchFamily="34" charset="-122"/>
                <a:cs typeface="Arial" pitchFamily="34" charset="-120"/>
              </a:rPr>
              <a:t>OVERALL PROGRESS</a:t>
            </a:r>
            <a:endParaRPr lang="en-US" sz="950" dirty="0"/>
          </a:p>
        </p:txBody>
      </p:sp>
      <p:sp>
        <p:nvSpPr>
          <p:cNvPr id="8" name="Shape 6"/>
          <p:cNvSpPr/>
          <p:nvPr/>
        </p:nvSpPr>
        <p:spPr>
          <a:xfrm>
            <a:off x="246888" y="841248"/>
            <a:ext cx="4151376" cy="10973"/>
          </a:xfrm>
          <a:prstGeom prst="rect">
            <a:avLst/>
          </a:prstGeom>
          <a:solidFill>
            <a:srgbClr val="D4E9E2"/>
          </a:solidFill>
          <a:ln/>
        </p:spPr>
        <p:txBody>
          <a:bodyPr/>
          <a:lstStyle/>
          <a:p>
            <a:endParaRPr lang="en-MY"/>
          </a:p>
        </p:txBody>
      </p:sp>
      <p:graphicFrame>
        <p:nvGraphicFramePr>
          <p:cNvPr id="9" name="Chart 0"/>
          <p:cNvGraphicFramePr/>
          <p:nvPr/>
        </p:nvGraphicFramePr>
        <p:xfrm>
          <a:off x="228600" y="932688"/>
          <a:ext cx="1920240" cy="1700784"/>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228600" y="1499616"/>
            <a:ext cx="1920240" cy="475488"/>
          </a:xfrm>
          <a:prstGeom prst="rect">
            <a:avLst/>
          </a:prstGeom>
          <a:noFill/>
          <a:ln/>
        </p:spPr>
        <p:txBody>
          <a:bodyPr wrap="square" lIns="0" tIns="0" rIns="0" bIns="0" rtlCol="0" anchor="ctr"/>
          <a:lstStyle/>
          <a:p>
            <a:pPr marL="0" indent="0" algn="ctr">
              <a:buNone/>
            </a:pPr>
            <a:r>
              <a:rPr lang="en-US" sz="2600" b="1" dirty="0">
                <a:solidFill>
                  <a:srgbClr val="7B1FA2"/>
                </a:solidFill>
                <a:latin typeface="Arial" pitchFamily="34" charset="0"/>
                <a:ea typeface="Arial" pitchFamily="34" charset="-122"/>
                <a:cs typeface="Arial" pitchFamily="34" charset="-120"/>
              </a:rPr>
              <a:t>40%</a:t>
            </a:r>
            <a:endParaRPr lang="en-US" sz="2600" dirty="0"/>
          </a:p>
        </p:txBody>
      </p:sp>
      <p:sp>
        <p:nvSpPr>
          <p:cNvPr id="11" name="Text 8"/>
          <p:cNvSpPr/>
          <p:nvPr/>
        </p:nvSpPr>
        <p:spPr>
          <a:xfrm>
            <a:off x="228600" y="1975104"/>
            <a:ext cx="1920240" cy="201168"/>
          </a:xfrm>
          <a:prstGeom prst="rect">
            <a:avLst/>
          </a:prstGeom>
          <a:noFill/>
          <a:ln/>
        </p:spPr>
        <p:txBody>
          <a:bodyPr wrap="square" lIns="0" tIns="0" rIns="0" bIns="0" rtlCol="0" anchor="ctr"/>
          <a:lstStyle/>
          <a:p>
            <a:pPr marL="0" indent="0" algn="ctr">
              <a:buNone/>
            </a:pPr>
            <a:r>
              <a:rPr lang="en-US" sz="900" dirty="0">
                <a:solidFill>
                  <a:srgbClr val="82868B"/>
                </a:solidFill>
                <a:latin typeface="Arial" pitchFamily="34" charset="0"/>
                <a:ea typeface="Arial" pitchFamily="34" charset="-122"/>
                <a:cs typeface="Arial" pitchFamily="34" charset="-120"/>
              </a:rPr>
              <a:t>Complete</a:t>
            </a:r>
            <a:endParaRPr lang="en-US" sz="900" dirty="0"/>
          </a:p>
        </p:txBody>
      </p:sp>
      <p:sp>
        <p:nvSpPr>
          <p:cNvPr id="12" name="Shape 9"/>
          <p:cNvSpPr/>
          <p:nvPr/>
        </p:nvSpPr>
        <p:spPr>
          <a:xfrm>
            <a:off x="2267712" y="1225296"/>
            <a:ext cx="128016" cy="128016"/>
          </a:xfrm>
          <a:prstGeom prst="ellipse">
            <a:avLst/>
          </a:prstGeom>
          <a:solidFill>
            <a:srgbClr val="7B1FA2"/>
          </a:solidFill>
          <a:ln/>
        </p:spPr>
        <p:txBody>
          <a:bodyPr/>
          <a:lstStyle/>
          <a:p>
            <a:endParaRPr lang="en-MY"/>
          </a:p>
        </p:txBody>
      </p:sp>
      <p:sp>
        <p:nvSpPr>
          <p:cNvPr id="13" name="Text 10"/>
          <p:cNvSpPr/>
          <p:nvPr/>
        </p:nvSpPr>
        <p:spPr>
          <a:xfrm>
            <a:off x="2441448" y="1170432"/>
            <a:ext cx="1965960" cy="237744"/>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Complete — 40%</a:t>
            </a:r>
            <a:endParaRPr lang="en-US" sz="1050" dirty="0"/>
          </a:p>
        </p:txBody>
      </p:sp>
      <p:sp>
        <p:nvSpPr>
          <p:cNvPr id="14" name="Shape 11"/>
          <p:cNvSpPr/>
          <p:nvPr/>
        </p:nvSpPr>
        <p:spPr>
          <a:xfrm>
            <a:off x="2267712" y="1517904"/>
            <a:ext cx="128016" cy="128016"/>
          </a:xfrm>
          <a:prstGeom prst="ellipse">
            <a:avLst/>
          </a:prstGeom>
          <a:solidFill>
            <a:srgbClr val="82868B"/>
          </a:solidFill>
          <a:ln/>
        </p:spPr>
        <p:txBody>
          <a:bodyPr/>
          <a:lstStyle/>
          <a:p>
            <a:endParaRPr lang="en-MY"/>
          </a:p>
        </p:txBody>
      </p:sp>
      <p:sp>
        <p:nvSpPr>
          <p:cNvPr id="15" name="Text 12"/>
          <p:cNvSpPr/>
          <p:nvPr/>
        </p:nvSpPr>
        <p:spPr>
          <a:xfrm>
            <a:off x="2441448" y="1463040"/>
            <a:ext cx="1965960" cy="237744"/>
          </a:xfrm>
          <a:prstGeom prst="rect">
            <a:avLst/>
          </a:prstGeom>
          <a:noFill/>
          <a:ln/>
        </p:spPr>
        <p:txBody>
          <a:bodyPr wrap="square" lIns="0" tIns="0" rIns="0" bIns="0" rtlCol="0" anchor="ctr"/>
          <a:lstStyle/>
          <a:p>
            <a:pPr marL="0" indent="0">
              <a:buNone/>
            </a:pPr>
            <a:r>
              <a:rPr lang="en-US" sz="1050" dirty="0">
                <a:solidFill>
                  <a:srgbClr val="4B4B4B"/>
                </a:solidFill>
                <a:latin typeface="Arial" pitchFamily="34" charset="0"/>
                <a:ea typeface="Arial" pitchFamily="34" charset="-122"/>
                <a:cs typeface="Arial" pitchFamily="34" charset="-120"/>
              </a:rPr>
              <a:t>In Progress — 60%</a:t>
            </a:r>
            <a:endParaRPr lang="en-US" sz="1050" dirty="0"/>
          </a:p>
        </p:txBody>
      </p:sp>
      <p:sp>
        <p:nvSpPr>
          <p:cNvPr id="16" name="Text 13"/>
          <p:cNvSpPr/>
          <p:nvPr/>
        </p:nvSpPr>
        <p:spPr>
          <a:xfrm>
            <a:off x="2267712" y="1828800"/>
            <a:ext cx="2103120" cy="402336"/>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Matching engine, portal,</a:t>
            </a:r>
            <a:endParaRPr lang="en-US" sz="1000" dirty="0"/>
          </a:p>
          <a:p>
            <a:pPr marL="0" indent="0">
              <a:buNone/>
            </a:pPr>
            <a:r>
              <a:rPr lang="en-US" sz="1000" dirty="0">
                <a:solidFill>
                  <a:srgbClr val="82868B"/>
                </a:solidFill>
                <a:latin typeface="Arial" pitchFamily="34" charset="0"/>
                <a:ea typeface="Arial" pitchFamily="34" charset="-122"/>
                <a:cs typeface="Arial" pitchFamily="34" charset="-120"/>
              </a:rPr>
              <a:t>and database are live.</a:t>
            </a:r>
            <a:endParaRPr lang="en-US" sz="1000" dirty="0"/>
          </a:p>
        </p:txBody>
      </p:sp>
      <p:sp>
        <p:nvSpPr>
          <p:cNvPr id="17" name="Shape 14"/>
          <p:cNvSpPr/>
          <p:nvPr/>
        </p:nvSpPr>
        <p:spPr>
          <a:xfrm>
            <a:off x="2267712" y="2304288"/>
            <a:ext cx="1920240" cy="201168"/>
          </a:xfrm>
          <a:prstGeom prst="roundRect">
            <a:avLst>
              <a:gd name="adj" fmla="val 50000"/>
            </a:avLst>
          </a:prstGeom>
          <a:solidFill>
            <a:srgbClr val="E8F5E9"/>
          </a:solidFill>
          <a:ln/>
        </p:spPr>
        <p:txBody>
          <a:bodyPr/>
          <a:lstStyle/>
          <a:p>
            <a:endParaRPr lang="en-MY"/>
          </a:p>
        </p:txBody>
      </p:sp>
      <p:sp>
        <p:nvSpPr>
          <p:cNvPr id="18" name="Text 15"/>
          <p:cNvSpPr/>
          <p:nvPr/>
        </p:nvSpPr>
        <p:spPr>
          <a:xfrm>
            <a:off x="2267712" y="2304288"/>
            <a:ext cx="1920240" cy="201168"/>
          </a:xfrm>
          <a:prstGeom prst="rect">
            <a:avLst/>
          </a:prstGeom>
          <a:noFill/>
          <a:ln/>
        </p:spPr>
        <p:txBody>
          <a:bodyPr wrap="square" lIns="0" tIns="0" rIns="0" bIns="0" rtlCol="0" anchor="ctr"/>
          <a:lstStyle/>
          <a:p>
            <a:pPr marL="0" indent="0" algn="ctr">
              <a:buNone/>
            </a:pPr>
            <a:r>
              <a:rPr lang="en-US" sz="850" b="1" dirty="0">
                <a:solidFill>
                  <a:srgbClr val="388E3C"/>
                </a:solidFill>
                <a:latin typeface="Arial" pitchFamily="34" charset="0"/>
                <a:ea typeface="Arial" pitchFamily="34" charset="-122"/>
                <a:cs typeface="Arial" pitchFamily="34" charset="-120"/>
              </a:rPr>
              <a:t>Core System Live</a:t>
            </a:r>
            <a:endParaRPr lang="en-US" sz="850" dirty="0"/>
          </a:p>
        </p:txBody>
      </p:sp>
      <p:sp>
        <p:nvSpPr>
          <p:cNvPr id="19" name="Shape 16"/>
          <p:cNvSpPr/>
          <p:nvPr/>
        </p:nvSpPr>
        <p:spPr>
          <a:xfrm>
            <a:off x="4645152" y="512064"/>
            <a:ext cx="4407408" cy="2231136"/>
          </a:xfrm>
          <a:prstGeom prst="roundRect">
            <a:avLst>
              <a:gd name="adj" fmla="val 3279"/>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20" name="Text 17"/>
          <p:cNvSpPr/>
          <p:nvPr/>
        </p:nvSpPr>
        <p:spPr>
          <a:xfrm>
            <a:off x="4773168" y="603504"/>
            <a:ext cx="4151376" cy="219456"/>
          </a:xfrm>
          <a:prstGeom prst="rect">
            <a:avLst/>
          </a:prstGeom>
          <a:noFill/>
          <a:ln/>
        </p:spPr>
        <p:txBody>
          <a:bodyPr wrap="square" lIns="0" tIns="0" rIns="0" bIns="0" rtlCol="0" anchor="ctr"/>
          <a:lstStyle/>
          <a:p>
            <a:pPr marL="0" indent="0">
              <a:buNone/>
            </a:pPr>
            <a:r>
              <a:rPr lang="en-US" sz="950" b="1" kern="0" spc="50" dirty="0">
                <a:solidFill>
                  <a:srgbClr val="0F2057"/>
                </a:solidFill>
                <a:latin typeface="Arial" pitchFamily="34" charset="0"/>
                <a:ea typeface="Arial" pitchFamily="34" charset="-122"/>
                <a:cs typeface="Arial" pitchFamily="34" charset="-120"/>
              </a:rPr>
              <a:t>SPRINT ACHIEVEMENTS</a:t>
            </a:r>
            <a:endParaRPr lang="en-US" sz="950" dirty="0"/>
          </a:p>
        </p:txBody>
      </p:sp>
      <p:sp>
        <p:nvSpPr>
          <p:cNvPr id="21" name="Shape 18"/>
          <p:cNvSpPr/>
          <p:nvPr/>
        </p:nvSpPr>
        <p:spPr>
          <a:xfrm>
            <a:off x="4773168" y="841248"/>
            <a:ext cx="4151376" cy="10973"/>
          </a:xfrm>
          <a:prstGeom prst="rect">
            <a:avLst/>
          </a:prstGeom>
          <a:solidFill>
            <a:srgbClr val="D4E9E2"/>
          </a:solidFill>
          <a:ln/>
        </p:spPr>
        <p:txBody>
          <a:bodyPr/>
          <a:lstStyle/>
          <a:p>
            <a:endParaRPr lang="en-MY"/>
          </a:p>
        </p:txBody>
      </p:sp>
      <p:sp>
        <p:nvSpPr>
          <p:cNvPr id="22" name="Shape 19"/>
          <p:cNvSpPr/>
          <p:nvPr/>
        </p:nvSpPr>
        <p:spPr>
          <a:xfrm>
            <a:off x="4773168" y="987552"/>
            <a:ext cx="182880" cy="182880"/>
          </a:xfrm>
          <a:prstGeom prst="ellipse">
            <a:avLst/>
          </a:prstGeom>
          <a:solidFill>
            <a:srgbClr val="E8F5E9"/>
          </a:solidFill>
          <a:ln/>
        </p:spPr>
        <p:txBody>
          <a:bodyPr/>
          <a:lstStyle/>
          <a:p>
            <a:endParaRPr lang="en-MY"/>
          </a:p>
        </p:txBody>
      </p:sp>
      <p:sp>
        <p:nvSpPr>
          <p:cNvPr id="23" name="Text 20"/>
          <p:cNvSpPr/>
          <p:nvPr/>
        </p:nvSpPr>
        <p:spPr>
          <a:xfrm>
            <a:off x="4773168" y="987552"/>
            <a:ext cx="182880" cy="182880"/>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v</a:t>
            </a:r>
            <a:endParaRPr lang="en-US" sz="900" dirty="0"/>
          </a:p>
        </p:txBody>
      </p:sp>
      <p:sp>
        <p:nvSpPr>
          <p:cNvPr id="24" name="Text 21"/>
          <p:cNvSpPr/>
          <p:nvPr/>
        </p:nvSpPr>
        <p:spPr>
          <a:xfrm>
            <a:off x="5010912" y="950976"/>
            <a:ext cx="3931920" cy="256032"/>
          </a:xfrm>
          <a:prstGeom prst="rect">
            <a:avLst/>
          </a:prstGeom>
          <a:noFill/>
          <a:ln/>
        </p:spPr>
        <p:txBody>
          <a:bodyPr wrap="square" lIns="0" tIns="0" rIns="0" bIns="0" rtlCol="0" anchor="ctr"/>
          <a:lstStyle/>
          <a:p>
            <a:pPr marL="0" indent="0">
              <a:buNone/>
            </a:pPr>
            <a:r>
              <a:rPr lang="en-US" sz="1100" dirty="0">
                <a:solidFill>
                  <a:srgbClr val="4B4B4B"/>
                </a:solidFill>
                <a:latin typeface="Arial" pitchFamily="34" charset="0"/>
                <a:ea typeface="Arial" pitchFamily="34" charset="-122"/>
                <a:cs typeface="Arial" pitchFamily="34" charset="-120"/>
              </a:rPr>
              <a:t>Database schema &amp; data fully loaded</a:t>
            </a:r>
            <a:endParaRPr lang="en-US" sz="1100" dirty="0"/>
          </a:p>
        </p:txBody>
      </p:sp>
      <p:sp>
        <p:nvSpPr>
          <p:cNvPr id="25" name="Shape 22"/>
          <p:cNvSpPr/>
          <p:nvPr/>
        </p:nvSpPr>
        <p:spPr>
          <a:xfrm>
            <a:off x="4773168" y="1261872"/>
            <a:ext cx="182880" cy="182880"/>
          </a:xfrm>
          <a:prstGeom prst="ellipse">
            <a:avLst/>
          </a:prstGeom>
          <a:solidFill>
            <a:srgbClr val="E8F5E9"/>
          </a:solidFill>
          <a:ln/>
        </p:spPr>
        <p:txBody>
          <a:bodyPr/>
          <a:lstStyle/>
          <a:p>
            <a:endParaRPr lang="en-MY"/>
          </a:p>
        </p:txBody>
      </p:sp>
      <p:sp>
        <p:nvSpPr>
          <p:cNvPr id="26" name="Text 23"/>
          <p:cNvSpPr/>
          <p:nvPr/>
        </p:nvSpPr>
        <p:spPr>
          <a:xfrm>
            <a:off x="4773168" y="1261872"/>
            <a:ext cx="182880" cy="182880"/>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v</a:t>
            </a:r>
            <a:endParaRPr lang="en-US" sz="900" dirty="0"/>
          </a:p>
        </p:txBody>
      </p:sp>
      <p:sp>
        <p:nvSpPr>
          <p:cNvPr id="27" name="Text 24"/>
          <p:cNvSpPr/>
          <p:nvPr/>
        </p:nvSpPr>
        <p:spPr>
          <a:xfrm>
            <a:off x="5010912" y="1225296"/>
            <a:ext cx="3931920" cy="256032"/>
          </a:xfrm>
          <a:prstGeom prst="rect">
            <a:avLst/>
          </a:prstGeom>
          <a:noFill/>
          <a:ln/>
        </p:spPr>
        <p:txBody>
          <a:bodyPr wrap="square" lIns="0" tIns="0" rIns="0" bIns="0" rtlCol="0" anchor="ctr"/>
          <a:lstStyle/>
          <a:p>
            <a:pPr marL="0" indent="0">
              <a:buNone/>
            </a:pPr>
            <a:r>
              <a:rPr lang="en-US" sz="1100" dirty="0">
                <a:solidFill>
                  <a:srgbClr val="4B4B4B"/>
                </a:solidFill>
                <a:latin typeface="Arial" pitchFamily="34" charset="0"/>
                <a:ea typeface="Arial" pitchFamily="34" charset="-122"/>
                <a:cs typeface="Arial" pitchFamily="34" charset="-120"/>
              </a:rPr>
              <a:t>Student registration &amp; login working</a:t>
            </a:r>
            <a:endParaRPr lang="en-US" sz="1100" dirty="0"/>
          </a:p>
        </p:txBody>
      </p:sp>
      <p:sp>
        <p:nvSpPr>
          <p:cNvPr id="28" name="Shape 25"/>
          <p:cNvSpPr/>
          <p:nvPr/>
        </p:nvSpPr>
        <p:spPr>
          <a:xfrm>
            <a:off x="4773168" y="1536192"/>
            <a:ext cx="182880" cy="182880"/>
          </a:xfrm>
          <a:prstGeom prst="ellipse">
            <a:avLst/>
          </a:prstGeom>
          <a:solidFill>
            <a:srgbClr val="E8F5E9"/>
          </a:solidFill>
          <a:ln/>
        </p:spPr>
        <p:txBody>
          <a:bodyPr/>
          <a:lstStyle/>
          <a:p>
            <a:endParaRPr lang="en-MY"/>
          </a:p>
        </p:txBody>
      </p:sp>
      <p:sp>
        <p:nvSpPr>
          <p:cNvPr id="29" name="Text 26"/>
          <p:cNvSpPr/>
          <p:nvPr/>
        </p:nvSpPr>
        <p:spPr>
          <a:xfrm>
            <a:off x="4773168" y="1536192"/>
            <a:ext cx="182880" cy="182880"/>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v</a:t>
            </a:r>
            <a:endParaRPr lang="en-US" sz="900" dirty="0"/>
          </a:p>
        </p:txBody>
      </p:sp>
      <p:sp>
        <p:nvSpPr>
          <p:cNvPr id="30" name="Text 27"/>
          <p:cNvSpPr/>
          <p:nvPr/>
        </p:nvSpPr>
        <p:spPr>
          <a:xfrm>
            <a:off x="5010912" y="1499616"/>
            <a:ext cx="3931920" cy="256032"/>
          </a:xfrm>
          <a:prstGeom prst="rect">
            <a:avLst/>
          </a:prstGeom>
          <a:noFill/>
          <a:ln/>
        </p:spPr>
        <p:txBody>
          <a:bodyPr wrap="square" lIns="0" tIns="0" rIns="0" bIns="0" rtlCol="0" anchor="ctr"/>
          <a:lstStyle/>
          <a:p>
            <a:pPr marL="0" indent="0">
              <a:buNone/>
            </a:pPr>
            <a:r>
              <a:rPr lang="en-US" sz="1100" dirty="0">
                <a:solidFill>
                  <a:srgbClr val="4B4B4B"/>
                </a:solidFill>
                <a:latin typeface="Arial" pitchFamily="34" charset="0"/>
                <a:ea typeface="Arial" pitchFamily="34" charset="-122"/>
                <a:cs typeface="Arial" pitchFamily="34" charset="-120"/>
              </a:rPr>
              <a:t>Scholarship matching engine built &amp; tested</a:t>
            </a:r>
            <a:endParaRPr lang="en-US" sz="1100" dirty="0"/>
          </a:p>
        </p:txBody>
      </p:sp>
      <p:sp>
        <p:nvSpPr>
          <p:cNvPr id="31" name="Shape 28"/>
          <p:cNvSpPr/>
          <p:nvPr/>
        </p:nvSpPr>
        <p:spPr>
          <a:xfrm>
            <a:off x="4773168" y="1810512"/>
            <a:ext cx="182880" cy="182880"/>
          </a:xfrm>
          <a:prstGeom prst="ellipse">
            <a:avLst/>
          </a:prstGeom>
          <a:solidFill>
            <a:srgbClr val="E8F5E9"/>
          </a:solidFill>
          <a:ln/>
        </p:spPr>
        <p:txBody>
          <a:bodyPr/>
          <a:lstStyle/>
          <a:p>
            <a:endParaRPr lang="en-MY"/>
          </a:p>
        </p:txBody>
      </p:sp>
      <p:sp>
        <p:nvSpPr>
          <p:cNvPr id="32" name="Text 29"/>
          <p:cNvSpPr/>
          <p:nvPr/>
        </p:nvSpPr>
        <p:spPr>
          <a:xfrm>
            <a:off x="4773168" y="1810512"/>
            <a:ext cx="182880" cy="182880"/>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v</a:t>
            </a:r>
            <a:endParaRPr lang="en-US" sz="900" dirty="0"/>
          </a:p>
        </p:txBody>
      </p:sp>
      <p:sp>
        <p:nvSpPr>
          <p:cNvPr id="33" name="Text 30"/>
          <p:cNvSpPr/>
          <p:nvPr/>
        </p:nvSpPr>
        <p:spPr>
          <a:xfrm>
            <a:off x="5010912" y="1773936"/>
            <a:ext cx="3931920" cy="256032"/>
          </a:xfrm>
          <a:prstGeom prst="rect">
            <a:avLst/>
          </a:prstGeom>
          <a:noFill/>
          <a:ln/>
        </p:spPr>
        <p:txBody>
          <a:bodyPr wrap="square" lIns="0" tIns="0" rIns="0" bIns="0" rtlCol="0" anchor="ctr"/>
          <a:lstStyle/>
          <a:p>
            <a:pPr marL="0" indent="0">
              <a:buNone/>
            </a:pPr>
            <a:r>
              <a:rPr lang="en-US" sz="1100" dirty="0">
                <a:solidFill>
                  <a:srgbClr val="4B4B4B"/>
                </a:solidFill>
                <a:latin typeface="Arial" pitchFamily="34" charset="0"/>
                <a:ea typeface="Arial" pitchFamily="34" charset="-122"/>
                <a:cs typeface="Arial" pitchFamily="34" charset="-120"/>
              </a:rPr>
              <a:t>Multi-layer Higher Education Institution matching complete</a:t>
            </a:r>
            <a:endParaRPr lang="en-US" sz="1100" dirty="0"/>
          </a:p>
        </p:txBody>
      </p:sp>
      <p:sp>
        <p:nvSpPr>
          <p:cNvPr id="34" name="Shape 31"/>
          <p:cNvSpPr/>
          <p:nvPr/>
        </p:nvSpPr>
        <p:spPr>
          <a:xfrm>
            <a:off x="4773168" y="2084832"/>
            <a:ext cx="182880" cy="182880"/>
          </a:xfrm>
          <a:prstGeom prst="ellipse">
            <a:avLst/>
          </a:prstGeom>
          <a:solidFill>
            <a:srgbClr val="E8F5E9"/>
          </a:solidFill>
          <a:ln/>
        </p:spPr>
        <p:txBody>
          <a:bodyPr/>
          <a:lstStyle/>
          <a:p>
            <a:endParaRPr lang="en-MY"/>
          </a:p>
        </p:txBody>
      </p:sp>
      <p:sp>
        <p:nvSpPr>
          <p:cNvPr id="35" name="Text 32"/>
          <p:cNvSpPr/>
          <p:nvPr/>
        </p:nvSpPr>
        <p:spPr>
          <a:xfrm>
            <a:off x="4773168" y="2084832"/>
            <a:ext cx="182880" cy="182880"/>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v</a:t>
            </a:r>
            <a:endParaRPr lang="en-US" sz="900" dirty="0"/>
          </a:p>
        </p:txBody>
      </p:sp>
      <p:sp>
        <p:nvSpPr>
          <p:cNvPr id="36" name="Text 33"/>
          <p:cNvSpPr/>
          <p:nvPr/>
        </p:nvSpPr>
        <p:spPr>
          <a:xfrm>
            <a:off x="5010912" y="2048256"/>
            <a:ext cx="3931920" cy="256032"/>
          </a:xfrm>
          <a:prstGeom prst="rect">
            <a:avLst/>
          </a:prstGeom>
          <a:noFill/>
          <a:ln/>
        </p:spPr>
        <p:txBody>
          <a:bodyPr wrap="square" lIns="0" tIns="0" rIns="0" bIns="0" rtlCol="0" anchor="ctr"/>
          <a:lstStyle/>
          <a:p>
            <a:pPr marL="0" indent="0">
              <a:buNone/>
            </a:pPr>
            <a:r>
              <a:rPr lang="en-US" sz="1100" dirty="0">
                <a:solidFill>
                  <a:srgbClr val="4B4B4B"/>
                </a:solidFill>
                <a:latin typeface="Arial" pitchFamily="34" charset="0"/>
                <a:ea typeface="Arial" pitchFamily="34" charset="-122"/>
                <a:cs typeface="Arial" pitchFamily="34" charset="-120"/>
              </a:rPr>
              <a:t>Bilingual portal BM / EN active</a:t>
            </a:r>
            <a:endParaRPr lang="en-US" sz="1100" dirty="0"/>
          </a:p>
        </p:txBody>
      </p:sp>
      <p:sp>
        <p:nvSpPr>
          <p:cNvPr id="37" name="Shape 34"/>
          <p:cNvSpPr/>
          <p:nvPr/>
        </p:nvSpPr>
        <p:spPr>
          <a:xfrm>
            <a:off x="4773168" y="2359152"/>
            <a:ext cx="182880" cy="182880"/>
          </a:xfrm>
          <a:prstGeom prst="ellipse">
            <a:avLst/>
          </a:prstGeom>
          <a:solidFill>
            <a:srgbClr val="FFF8E1"/>
          </a:solidFill>
          <a:ln/>
        </p:spPr>
        <p:txBody>
          <a:bodyPr/>
          <a:lstStyle/>
          <a:p>
            <a:endParaRPr lang="en-MY"/>
          </a:p>
        </p:txBody>
      </p:sp>
      <p:sp>
        <p:nvSpPr>
          <p:cNvPr id="38" name="Text 35"/>
          <p:cNvSpPr/>
          <p:nvPr/>
        </p:nvSpPr>
        <p:spPr>
          <a:xfrm>
            <a:off x="4773168" y="2359152"/>
            <a:ext cx="182880" cy="182880"/>
          </a:xfrm>
          <a:prstGeom prst="rect">
            <a:avLst/>
          </a:prstGeom>
          <a:noFill/>
          <a:ln/>
        </p:spPr>
        <p:txBody>
          <a:bodyPr wrap="square" lIns="0" tIns="0" rIns="0" bIns="0" rtlCol="0" anchor="ctr"/>
          <a:lstStyle/>
          <a:p>
            <a:pPr marL="0" indent="0" algn="ctr">
              <a:buNone/>
            </a:pPr>
            <a:r>
              <a:rPr lang="en-US" sz="900" b="1" dirty="0">
                <a:solidFill>
                  <a:srgbClr val="FF8F00"/>
                </a:solidFill>
                <a:latin typeface="Arial" pitchFamily="34" charset="0"/>
                <a:ea typeface="Arial" pitchFamily="34" charset="-122"/>
                <a:cs typeface="Arial" pitchFamily="34" charset="-120"/>
              </a:rPr>
              <a:t>~</a:t>
            </a:r>
            <a:endParaRPr lang="en-US" sz="900" dirty="0"/>
          </a:p>
        </p:txBody>
      </p:sp>
      <p:sp>
        <p:nvSpPr>
          <p:cNvPr id="39" name="Text 36"/>
          <p:cNvSpPr/>
          <p:nvPr/>
        </p:nvSpPr>
        <p:spPr>
          <a:xfrm>
            <a:off x="5010912" y="2322576"/>
            <a:ext cx="3931920" cy="256032"/>
          </a:xfrm>
          <a:prstGeom prst="rect">
            <a:avLst/>
          </a:prstGeom>
          <a:noFill/>
          <a:ln/>
        </p:spPr>
        <p:txBody>
          <a:bodyPr wrap="square" lIns="0" tIns="0" rIns="0" bIns="0" rtlCol="0" anchor="ctr"/>
          <a:lstStyle/>
          <a:p>
            <a:pPr marL="0" indent="0">
              <a:buNone/>
            </a:pPr>
            <a:r>
              <a:rPr lang="en-US" sz="1100" dirty="0">
                <a:solidFill>
                  <a:srgbClr val="82868B"/>
                </a:solidFill>
                <a:latin typeface="Arial" pitchFamily="34" charset="0"/>
                <a:ea typeface="Arial" pitchFamily="34" charset="-122"/>
                <a:cs typeface="Arial" pitchFamily="34" charset="-120"/>
              </a:rPr>
              <a:t>PDF report export (in progress)</a:t>
            </a:r>
            <a:endParaRPr lang="en-US" sz="1100" dirty="0"/>
          </a:p>
        </p:txBody>
      </p:sp>
      <p:sp>
        <p:nvSpPr>
          <p:cNvPr id="40" name="Shape 37"/>
          <p:cNvSpPr/>
          <p:nvPr/>
        </p:nvSpPr>
        <p:spPr>
          <a:xfrm>
            <a:off x="118872" y="2852928"/>
            <a:ext cx="4407408" cy="2231136"/>
          </a:xfrm>
          <a:prstGeom prst="roundRect">
            <a:avLst>
              <a:gd name="adj" fmla="val 3279"/>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41" name="Text 38"/>
          <p:cNvSpPr/>
          <p:nvPr/>
        </p:nvSpPr>
        <p:spPr>
          <a:xfrm>
            <a:off x="246888" y="2944368"/>
            <a:ext cx="4151376" cy="219456"/>
          </a:xfrm>
          <a:prstGeom prst="rect">
            <a:avLst/>
          </a:prstGeom>
          <a:noFill/>
          <a:ln/>
        </p:spPr>
        <p:txBody>
          <a:bodyPr wrap="square" lIns="0" tIns="0" rIns="0" bIns="0" rtlCol="0" anchor="ctr"/>
          <a:lstStyle/>
          <a:p>
            <a:pPr marL="0" indent="0">
              <a:buNone/>
            </a:pPr>
            <a:r>
              <a:rPr lang="en-US" sz="950" b="1" kern="0" spc="50" dirty="0">
                <a:solidFill>
                  <a:srgbClr val="0F2057"/>
                </a:solidFill>
                <a:latin typeface="Arial" pitchFamily="34" charset="0"/>
                <a:ea typeface="Arial" pitchFamily="34" charset="-122"/>
                <a:cs typeface="Arial" pitchFamily="34" charset="-120"/>
              </a:rPr>
              <a:t>CURRENT SPRINT</a:t>
            </a:r>
            <a:endParaRPr lang="en-US" sz="950" dirty="0"/>
          </a:p>
        </p:txBody>
      </p:sp>
      <p:sp>
        <p:nvSpPr>
          <p:cNvPr id="42" name="Shape 39"/>
          <p:cNvSpPr/>
          <p:nvPr/>
        </p:nvSpPr>
        <p:spPr>
          <a:xfrm>
            <a:off x="246888" y="3182112"/>
            <a:ext cx="4151376" cy="10973"/>
          </a:xfrm>
          <a:prstGeom prst="rect">
            <a:avLst/>
          </a:prstGeom>
          <a:solidFill>
            <a:srgbClr val="D4E9E2"/>
          </a:solidFill>
          <a:ln/>
        </p:spPr>
        <p:txBody>
          <a:bodyPr/>
          <a:lstStyle/>
          <a:p>
            <a:endParaRPr lang="en-MY"/>
          </a:p>
        </p:txBody>
      </p:sp>
      <p:sp>
        <p:nvSpPr>
          <p:cNvPr id="43" name="Shape 40"/>
          <p:cNvSpPr/>
          <p:nvPr/>
        </p:nvSpPr>
        <p:spPr>
          <a:xfrm>
            <a:off x="246888" y="3273552"/>
            <a:ext cx="1353312" cy="1700784"/>
          </a:xfrm>
          <a:prstGeom prst="roundRect">
            <a:avLst>
              <a:gd name="adj" fmla="val 4054"/>
            </a:avLst>
          </a:prstGeom>
          <a:solidFill>
            <a:srgbClr val="E8F5F0"/>
          </a:solidFill>
          <a:ln/>
        </p:spPr>
        <p:txBody>
          <a:bodyPr/>
          <a:lstStyle/>
          <a:p>
            <a:endParaRPr lang="en-MY"/>
          </a:p>
        </p:txBody>
      </p:sp>
      <p:sp>
        <p:nvSpPr>
          <p:cNvPr id="44" name="Shape 41"/>
          <p:cNvSpPr/>
          <p:nvPr/>
        </p:nvSpPr>
        <p:spPr>
          <a:xfrm>
            <a:off x="246888" y="3273552"/>
            <a:ext cx="1353312" cy="256032"/>
          </a:xfrm>
          <a:prstGeom prst="roundRect">
            <a:avLst>
              <a:gd name="adj" fmla="val 21429"/>
            </a:avLst>
          </a:prstGeom>
          <a:solidFill>
            <a:srgbClr val="388E3C"/>
          </a:solidFill>
          <a:ln/>
        </p:spPr>
        <p:txBody>
          <a:bodyPr/>
          <a:lstStyle/>
          <a:p>
            <a:endParaRPr lang="en-MY"/>
          </a:p>
        </p:txBody>
      </p:sp>
      <p:sp>
        <p:nvSpPr>
          <p:cNvPr id="45" name="Shape 42"/>
          <p:cNvSpPr/>
          <p:nvPr/>
        </p:nvSpPr>
        <p:spPr>
          <a:xfrm>
            <a:off x="246888" y="3401568"/>
            <a:ext cx="1353312" cy="128016"/>
          </a:xfrm>
          <a:prstGeom prst="rect">
            <a:avLst/>
          </a:prstGeom>
          <a:solidFill>
            <a:srgbClr val="388E3C"/>
          </a:solidFill>
          <a:ln/>
        </p:spPr>
        <p:txBody>
          <a:bodyPr/>
          <a:lstStyle/>
          <a:p>
            <a:endParaRPr lang="en-MY"/>
          </a:p>
        </p:txBody>
      </p:sp>
      <p:sp>
        <p:nvSpPr>
          <p:cNvPr id="46" name="Text 43"/>
          <p:cNvSpPr/>
          <p:nvPr/>
        </p:nvSpPr>
        <p:spPr>
          <a:xfrm>
            <a:off x="246888" y="3273552"/>
            <a:ext cx="1353312"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Done</a:t>
            </a:r>
            <a:endParaRPr lang="en-US" sz="850" dirty="0"/>
          </a:p>
        </p:txBody>
      </p:sp>
      <p:sp>
        <p:nvSpPr>
          <p:cNvPr id="47" name="Shape 44"/>
          <p:cNvSpPr/>
          <p:nvPr/>
        </p:nvSpPr>
        <p:spPr>
          <a:xfrm>
            <a:off x="301752" y="3602736"/>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48" name="Text 45"/>
          <p:cNvSpPr/>
          <p:nvPr/>
        </p:nvSpPr>
        <p:spPr>
          <a:xfrm>
            <a:off x="301752" y="3602736"/>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Auth system</a:t>
            </a:r>
            <a:endParaRPr lang="en-US" sz="950" dirty="0"/>
          </a:p>
        </p:txBody>
      </p:sp>
      <p:sp>
        <p:nvSpPr>
          <p:cNvPr id="49" name="Shape 46"/>
          <p:cNvSpPr/>
          <p:nvPr/>
        </p:nvSpPr>
        <p:spPr>
          <a:xfrm>
            <a:off x="301752" y="3941064"/>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50" name="Text 47"/>
          <p:cNvSpPr/>
          <p:nvPr/>
        </p:nvSpPr>
        <p:spPr>
          <a:xfrm>
            <a:off x="301752" y="3941064"/>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Database</a:t>
            </a:r>
            <a:endParaRPr lang="en-US" sz="950" dirty="0"/>
          </a:p>
        </p:txBody>
      </p:sp>
      <p:sp>
        <p:nvSpPr>
          <p:cNvPr id="51" name="Shape 48"/>
          <p:cNvSpPr/>
          <p:nvPr/>
        </p:nvSpPr>
        <p:spPr>
          <a:xfrm>
            <a:off x="301752" y="4279392"/>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52" name="Text 49"/>
          <p:cNvSpPr/>
          <p:nvPr/>
        </p:nvSpPr>
        <p:spPr>
          <a:xfrm>
            <a:off x="301752" y="4279392"/>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Score engine</a:t>
            </a:r>
            <a:endParaRPr lang="en-US" sz="950" dirty="0"/>
          </a:p>
        </p:txBody>
      </p:sp>
      <p:sp>
        <p:nvSpPr>
          <p:cNvPr id="53" name="Shape 50"/>
          <p:cNvSpPr/>
          <p:nvPr/>
        </p:nvSpPr>
        <p:spPr>
          <a:xfrm>
            <a:off x="301752" y="4617720"/>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54" name="Text 51"/>
          <p:cNvSpPr/>
          <p:nvPr/>
        </p:nvSpPr>
        <p:spPr>
          <a:xfrm>
            <a:off x="301752" y="4617720"/>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Portal UI</a:t>
            </a:r>
            <a:endParaRPr lang="en-US" sz="950" dirty="0"/>
          </a:p>
        </p:txBody>
      </p:sp>
      <p:sp>
        <p:nvSpPr>
          <p:cNvPr id="55" name="Shape 52"/>
          <p:cNvSpPr/>
          <p:nvPr/>
        </p:nvSpPr>
        <p:spPr>
          <a:xfrm>
            <a:off x="1655064" y="3273552"/>
            <a:ext cx="1353312" cy="1700784"/>
          </a:xfrm>
          <a:prstGeom prst="roundRect">
            <a:avLst>
              <a:gd name="adj" fmla="val 4054"/>
            </a:avLst>
          </a:prstGeom>
          <a:solidFill>
            <a:srgbClr val="E8F5F0"/>
          </a:solidFill>
          <a:ln/>
        </p:spPr>
        <p:txBody>
          <a:bodyPr/>
          <a:lstStyle/>
          <a:p>
            <a:endParaRPr lang="en-MY"/>
          </a:p>
        </p:txBody>
      </p:sp>
      <p:sp>
        <p:nvSpPr>
          <p:cNvPr id="56" name="Shape 53"/>
          <p:cNvSpPr/>
          <p:nvPr/>
        </p:nvSpPr>
        <p:spPr>
          <a:xfrm>
            <a:off x="1655064" y="3273552"/>
            <a:ext cx="1353312" cy="256032"/>
          </a:xfrm>
          <a:prstGeom prst="roundRect">
            <a:avLst>
              <a:gd name="adj" fmla="val 21429"/>
            </a:avLst>
          </a:prstGeom>
          <a:solidFill>
            <a:srgbClr val="1976D2"/>
          </a:solidFill>
          <a:ln/>
        </p:spPr>
        <p:txBody>
          <a:bodyPr/>
          <a:lstStyle/>
          <a:p>
            <a:endParaRPr lang="en-MY"/>
          </a:p>
        </p:txBody>
      </p:sp>
      <p:sp>
        <p:nvSpPr>
          <p:cNvPr id="57" name="Shape 54"/>
          <p:cNvSpPr/>
          <p:nvPr/>
        </p:nvSpPr>
        <p:spPr>
          <a:xfrm>
            <a:off x="1655064" y="3401568"/>
            <a:ext cx="1353312" cy="128016"/>
          </a:xfrm>
          <a:prstGeom prst="rect">
            <a:avLst/>
          </a:prstGeom>
          <a:solidFill>
            <a:srgbClr val="1976D2"/>
          </a:solidFill>
          <a:ln/>
        </p:spPr>
        <p:txBody>
          <a:bodyPr/>
          <a:lstStyle/>
          <a:p>
            <a:endParaRPr lang="en-MY"/>
          </a:p>
        </p:txBody>
      </p:sp>
      <p:sp>
        <p:nvSpPr>
          <p:cNvPr id="58" name="Text 55"/>
          <p:cNvSpPr/>
          <p:nvPr/>
        </p:nvSpPr>
        <p:spPr>
          <a:xfrm>
            <a:off x="1655064" y="3273552"/>
            <a:ext cx="1353312"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In Progress</a:t>
            </a:r>
            <a:endParaRPr lang="en-US" sz="850" dirty="0"/>
          </a:p>
        </p:txBody>
      </p:sp>
      <p:sp>
        <p:nvSpPr>
          <p:cNvPr id="59" name="Shape 56"/>
          <p:cNvSpPr/>
          <p:nvPr/>
        </p:nvSpPr>
        <p:spPr>
          <a:xfrm>
            <a:off x="1709928" y="3602736"/>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60" name="Text 57"/>
          <p:cNvSpPr/>
          <p:nvPr/>
        </p:nvSpPr>
        <p:spPr>
          <a:xfrm>
            <a:off x="1709928" y="3602736"/>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Integration tests</a:t>
            </a:r>
            <a:endParaRPr lang="en-US" sz="950" dirty="0"/>
          </a:p>
        </p:txBody>
      </p:sp>
      <p:sp>
        <p:nvSpPr>
          <p:cNvPr id="61" name="Shape 58"/>
          <p:cNvSpPr/>
          <p:nvPr/>
        </p:nvSpPr>
        <p:spPr>
          <a:xfrm>
            <a:off x="1709928" y="3941064"/>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62" name="Text 59"/>
          <p:cNvSpPr/>
          <p:nvPr/>
        </p:nvSpPr>
        <p:spPr>
          <a:xfrm>
            <a:off x="1709928" y="3941064"/>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Data review</a:t>
            </a:r>
            <a:endParaRPr lang="en-US" sz="950" dirty="0"/>
          </a:p>
        </p:txBody>
      </p:sp>
      <p:sp>
        <p:nvSpPr>
          <p:cNvPr id="63" name="Shape 60"/>
          <p:cNvSpPr/>
          <p:nvPr/>
        </p:nvSpPr>
        <p:spPr>
          <a:xfrm>
            <a:off x="1709928" y="4279392"/>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64" name="Text 61"/>
          <p:cNvSpPr/>
          <p:nvPr/>
        </p:nvSpPr>
        <p:spPr>
          <a:xfrm>
            <a:off x="1709928" y="4279392"/>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ea typeface="Arial" pitchFamily="34" charset="-122"/>
                <a:cs typeface="Arial" pitchFamily="34" charset="-120"/>
              </a:rPr>
              <a:t>UI refinement</a:t>
            </a:r>
            <a:endParaRPr lang="en-US" sz="950" dirty="0"/>
          </a:p>
        </p:txBody>
      </p:sp>
      <p:sp>
        <p:nvSpPr>
          <p:cNvPr id="65" name="Shape 62"/>
          <p:cNvSpPr/>
          <p:nvPr/>
        </p:nvSpPr>
        <p:spPr>
          <a:xfrm>
            <a:off x="3063240" y="3273552"/>
            <a:ext cx="1353312" cy="1700784"/>
          </a:xfrm>
          <a:prstGeom prst="roundRect">
            <a:avLst>
              <a:gd name="adj" fmla="val 4054"/>
            </a:avLst>
          </a:prstGeom>
          <a:solidFill>
            <a:srgbClr val="E8F5F0"/>
          </a:solidFill>
          <a:ln/>
        </p:spPr>
        <p:txBody>
          <a:bodyPr/>
          <a:lstStyle/>
          <a:p>
            <a:endParaRPr lang="en-MY"/>
          </a:p>
        </p:txBody>
      </p:sp>
      <p:sp>
        <p:nvSpPr>
          <p:cNvPr id="66" name="Shape 63"/>
          <p:cNvSpPr/>
          <p:nvPr/>
        </p:nvSpPr>
        <p:spPr>
          <a:xfrm>
            <a:off x="3063240" y="3273552"/>
            <a:ext cx="1353312" cy="256032"/>
          </a:xfrm>
          <a:prstGeom prst="roundRect">
            <a:avLst>
              <a:gd name="adj" fmla="val 21429"/>
            </a:avLst>
          </a:prstGeom>
          <a:solidFill>
            <a:srgbClr val="FF8F00"/>
          </a:solidFill>
          <a:ln/>
        </p:spPr>
        <p:txBody>
          <a:bodyPr/>
          <a:lstStyle/>
          <a:p>
            <a:endParaRPr lang="en-MY"/>
          </a:p>
        </p:txBody>
      </p:sp>
      <p:sp>
        <p:nvSpPr>
          <p:cNvPr id="67" name="Shape 64"/>
          <p:cNvSpPr/>
          <p:nvPr/>
        </p:nvSpPr>
        <p:spPr>
          <a:xfrm>
            <a:off x="3063240" y="3401568"/>
            <a:ext cx="1353312" cy="128016"/>
          </a:xfrm>
          <a:prstGeom prst="rect">
            <a:avLst/>
          </a:prstGeom>
          <a:solidFill>
            <a:srgbClr val="FF8F00"/>
          </a:solidFill>
          <a:ln/>
        </p:spPr>
        <p:txBody>
          <a:bodyPr/>
          <a:lstStyle/>
          <a:p>
            <a:endParaRPr lang="en-MY"/>
          </a:p>
        </p:txBody>
      </p:sp>
      <p:sp>
        <p:nvSpPr>
          <p:cNvPr id="68" name="Text 65"/>
          <p:cNvSpPr/>
          <p:nvPr/>
        </p:nvSpPr>
        <p:spPr>
          <a:xfrm>
            <a:off x="3063240" y="3273552"/>
            <a:ext cx="1353312"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Up Next</a:t>
            </a:r>
            <a:endParaRPr lang="en-US" sz="850" dirty="0"/>
          </a:p>
        </p:txBody>
      </p:sp>
      <p:sp>
        <p:nvSpPr>
          <p:cNvPr id="69" name="Shape 66"/>
          <p:cNvSpPr/>
          <p:nvPr/>
        </p:nvSpPr>
        <p:spPr>
          <a:xfrm>
            <a:off x="3118104" y="3602736"/>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70" name="Text 67"/>
          <p:cNvSpPr/>
          <p:nvPr/>
        </p:nvSpPr>
        <p:spPr>
          <a:xfrm>
            <a:off x="3118104" y="3602736"/>
            <a:ext cx="1243584" cy="274320"/>
          </a:xfrm>
          <a:prstGeom prst="rect">
            <a:avLst/>
          </a:prstGeom>
          <a:noFill/>
          <a:ln/>
        </p:spPr>
        <p:txBody>
          <a:bodyPr wrap="square" lIns="0" tIns="0" rIns="0" bIns="0" rtlCol="0" anchor="ctr"/>
          <a:lstStyle/>
          <a:p>
            <a:pPr marL="0" indent="0" algn="ctr">
              <a:buNone/>
            </a:pPr>
            <a:r>
              <a:rPr lang="en-US" sz="950" dirty="0">
                <a:solidFill>
                  <a:srgbClr val="4B4B4B"/>
                </a:solidFill>
                <a:latin typeface="Arial" pitchFamily="34" charset="0"/>
                <a:cs typeface="Arial" pitchFamily="34" charset="-120"/>
              </a:rPr>
              <a:t>Email to student</a:t>
            </a:r>
            <a:endParaRPr lang="en-US" sz="950" dirty="0"/>
          </a:p>
        </p:txBody>
      </p:sp>
      <p:sp>
        <p:nvSpPr>
          <p:cNvPr id="71" name="Shape 68"/>
          <p:cNvSpPr/>
          <p:nvPr/>
        </p:nvSpPr>
        <p:spPr>
          <a:xfrm>
            <a:off x="3118104" y="3941064"/>
            <a:ext cx="1243584" cy="274320"/>
          </a:xfrm>
          <a:prstGeom prst="roundRect">
            <a:avLst>
              <a:gd name="adj" fmla="val 13333"/>
            </a:avLst>
          </a:prstGeom>
          <a:solidFill>
            <a:srgbClr val="FFFFFF"/>
          </a:solidFill>
          <a:ln w="12700">
            <a:solidFill>
              <a:srgbClr val="D4E9E2"/>
            </a:solidFill>
            <a:prstDash val="solid"/>
          </a:ln>
        </p:spPr>
        <p:txBody>
          <a:bodyPr/>
          <a:lstStyle/>
          <a:p>
            <a:endParaRPr lang="en-MY"/>
          </a:p>
        </p:txBody>
      </p:sp>
      <p:sp>
        <p:nvSpPr>
          <p:cNvPr id="72" name="Text 69"/>
          <p:cNvSpPr/>
          <p:nvPr/>
        </p:nvSpPr>
        <p:spPr>
          <a:xfrm>
            <a:off x="3118104" y="3941064"/>
            <a:ext cx="1243584" cy="274320"/>
          </a:xfrm>
          <a:prstGeom prst="rect">
            <a:avLst/>
          </a:prstGeom>
          <a:noFill/>
          <a:ln/>
        </p:spPr>
        <p:txBody>
          <a:bodyPr wrap="square" lIns="0" tIns="0" rIns="0" bIns="0" rtlCol="0" anchor="ctr"/>
          <a:lstStyle/>
          <a:p>
            <a:pPr algn="ctr"/>
            <a:r>
              <a:rPr lang="en-US" sz="950" dirty="0">
                <a:solidFill>
                  <a:srgbClr val="4B4B4B"/>
                </a:solidFill>
                <a:latin typeface="Arial" pitchFamily="34" charset="0"/>
                <a:ea typeface="Arial" pitchFamily="34" charset="-122"/>
                <a:cs typeface="Arial" pitchFamily="34" charset="-120"/>
              </a:rPr>
              <a:t>Deployment</a:t>
            </a:r>
            <a:endParaRPr lang="en-US" sz="950" dirty="0"/>
          </a:p>
        </p:txBody>
      </p:sp>
      <p:sp>
        <p:nvSpPr>
          <p:cNvPr id="74" name="Text 71"/>
          <p:cNvSpPr/>
          <p:nvPr/>
        </p:nvSpPr>
        <p:spPr>
          <a:xfrm>
            <a:off x="3118104" y="4279392"/>
            <a:ext cx="1243584" cy="274320"/>
          </a:xfrm>
          <a:prstGeom prst="rect">
            <a:avLst/>
          </a:prstGeom>
          <a:noFill/>
          <a:ln/>
        </p:spPr>
        <p:txBody>
          <a:bodyPr wrap="square" lIns="0" tIns="0" rIns="0" bIns="0" rtlCol="0" anchor="ctr"/>
          <a:lstStyle/>
          <a:p>
            <a:pPr marL="0" indent="0" algn="ctr">
              <a:buNone/>
            </a:pPr>
            <a:endParaRPr lang="en-US" sz="950" dirty="0"/>
          </a:p>
        </p:txBody>
      </p:sp>
      <p:sp>
        <p:nvSpPr>
          <p:cNvPr id="75" name="Shape 72"/>
          <p:cNvSpPr/>
          <p:nvPr/>
        </p:nvSpPr>
        <p:spPr>
          <a:xfrm>
            <a:off x="4645152" y="2852928"/>
            <a:ext cx="4407408" cy="2231136"/>
          </a:xfrm>
          <a:prstGeom prst="roundRect">
            <a:avLst>
              <a:gd name="adj" fmla="val 3279"/>
            </a:avLst>
          </a:prstGeom>
          <a:solidFill>
            <a:srgbClr val="FFFFFF"/>
          </a:solidFill>
          <a:ln w="19050">
            <a:solidFill>
              <a:srgbClr val="D4E9E2"/>
            </a:solidFill>
            <a:prstDash val="solid"/>
          </a:ln>
          <a:effectLst>
            <a:outerShdw blurRad="76200" dist="38100" dir="16200000" algn="bl" rotWithShape="0">
              <a:srgbClr val="1A2020">
                <a:alpha val="9000"/>
              </a:srgbClr>
            </a:outerShdw>
          </a:effectLst>
        </p:spPr>
        <p:txBody>
          <a:bodyPr/>
          <a:lstStyle/>
          <a:p>
            <a:endParaRPr lang="en-MY"/>
          </a:p>
        </p:txBody>
      </p:sp>
      <p:sp>
        <p:nvSpPr>
          <p:cNvPr id="76" name="Text 73"/>
          <p:cNvSpPr/>
          <p:nvPr/>
        </p:nvSpPr>
        <p:spPr>
          <a:xfrm>
            <a:off x="4773168" y="2944368"/>
            <a:ext cx="4151376" cy="219456"/>
          </a:xfrm>
          <a:prstGeom prst="rect">
            <a:avLst/>
          </a:prstGeom>
          <a:noFill/>
          <a:ln/>
        </p:spPr>
        <p:txBody>
          <a:bodyPr wrap="square" lIns="0" tIns="0" rIns="0" bIns="0" rtlCol="0" anchor="ctr"/>
          <a:lstStyle/>
          <a:p>
            <a:pPr marL="0" indent="0">
              <a:buNone/>
            </a:pPr>
            <a:r>
              <a:rPr lang="en-US" sz="950" b="1" kern="0" spc="50" dirty="0">
                <a:solidFill>
                  <a:srgbClr val="0F2057"/>
                </a:solidFill>
                <a:latin typeface="Arial" pitchFamily="34" charset="0"/>
                <a:ea typeface="Arial" pitchFamily="34" charset="-122"/>
                <a:cs typeface="Arial" pitchFamily="34" charset="-120"/>
              </a:rPr>
              <a:t>RISK STATUS</a:t>
            </a:r>
            <a:endParaRPr lang="en-US" sz="950" dirty="0"/>
          </a:p>
        </p:txBody>
      </p:sp>
      <p:sp>
        <p:nvSpPr>
          <p:cNvPr id="77" name="Shape 74"/>
          <p:cNvSpPr/>
          <p:nvPr/>
        </p:nvSpPr>
        <p:spPr>
          <a:xfrm>
            <a:off x="4773168" y="3182112"/>
            <a:ext cx="4151376" cy="10973"/>
          </a:xfrm>
          <a:prstGeom prst="rect">
            <a:avLst/>
          </a:prstGeom>
          <a:solidFill>
            <a:srgbClr val="D4E9E2"/>
          </a:solidFill>
          <a:ln/>
        </p:spPr>
        <p:txBody>
          <a:bodyPr/>
          <a:lstStyle/>
          <a:p>
            <a:endParaRPr lang="en-MY"/>
          </a:p>
        </p:txBody>
      </p:sp>
      <p:sp>
        <p:nvSpPr>
          <p:cNvPr id="78" name="Shape 75"/>
          <p:cNvSpPr/>
          <p:nvPr/>
        </p:nvSpPr>
        <p:spPr>
          <a:xfrm>
            <a:off x="4773168" y="3374136"/>
            <a:ext cx="128016" cy="128016"/>
          </a:xfrm>
          <a:prstGeom prst="ellipse">
            <a:avLst/>
          </a:prstGeom>
          <a:solidFill>
            <a:srgbClr val="388E3C"/>
          </a:solidFill>
          <a:ln/>
        </p:spPr>
        <p:txBody>
          <a:bodyPr/>
          <a:lstStyle/>
          <a:p>
            <a:endParaRPr lang="en-MY"/>
          </a:p>
        </p:txBody>
      </p:sp>
      <p:sp>
        <p:nvSpPr>
          <p:cNvPr id="79" name="Text 76"/>
          <p:cNvSpPr/>
          <p:nvPr/>
        </p:nvSpPr>
        <p:spPr>
          <a:xfrm>
            <a:off x="4956048" y="3291840"/>
            <a:ext cx="3063240" cy="292608"/>
          </a:xfrm>
          <a:prstGeom prst="rect">
            <a:avLst/>
          </a:prstGeom>
          <a:noFill/>
          <a:ln/>
        </p:spPr>
        <p:txBody>
          <a:bodyPr wrap="square" lIns="0" tIns="0" rIns="0" bIns="0" rtlCol="0" anchor="ctr"/>
          <a:lstStyle/>
          <a:p>
            <a:pPr marL="0" indent="0">
              <a:buNone/>
            </a:pPr>
            <a:r>
              <a:rPr lang="en-US" sz="1150" b="1" dirty="0">
                <a:solidFill>
                  <a:srgbClr val="4B4B4B"/>
                </a:solidFill>
                <a:latin typeface="Arial" pitchFamily="34" charset="0"/>
                <a:ea typeface="Arial" pitchFamily="34" charset="-122"/>
                <a:cs typeface="Arial" pitchFamily="34" charset="-120"/>
              </a:rPr>
              <a:t>Core matching logic</a:t>
            </a:r>
            <a:endParaRPr lang="en-US" sz="1150" dirty="0"/>
          </a:p>
        </p:txBody>
      </p:sp>
      <p:sp>
        <p:nvSpPr>
          <p:cNvPr id="80" name="Shape 77"/>
          <p:cNvSpPr/>
          <p:nvPr/>
        </p:nvSpPr>
        <p:spPr>
          <a:xfrm>
            <a:off x="8083296" y="3328416"/>
            <a:ext cx="822960" cy="219456"/>
          </a:xfrm>
          <a:prstGeom prst="roundRect">
            <a:avLst>
              <a:gd name="adj" fmla="val 50000"/>
            </a:avLst>
          </a:prstGeom>
          <a:solidFill>
            <a:srgbClr val="E8F5E9"/>
          </a:solidFill>
          <a:ln/>
        </p:spPr>
        <p:txBody>
          <a:bodyPr/>
          <a:lstStyle/>
          <a:p>
            <a:endParaRPr lang="en-MY"/>
          </a:p>
        </p:txBody>
      </p:sp>
      <p:sp>
        <p:nvSpPr>
          <p:cNvPr id="81" name="Text 78"/>
          <p:cNvSpPr/>
          <p:nvPr/>
        </p:nvSpPr>
        <p:spPr>
          <a:xfrm>
            <a:off x="8083296" y="3328416"/>
            <a:ext cx="822960" cy="219456"/>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Low</a:t>
            </a:r>
            <a:endParaRPr lang="en-US" sz="900" dirty="0"/>
          </a:p>
        </p:txBody>
      </p:sp>
      <p:sp>
        <p:nvSpPr>
          <p:cNvPr id="82" name="Shape 79"/>
          <p:cNvSpPr/>
          <p:nvPr/>
        </p:nvSpPr>
        <p:spPr>
          <a:xfrm>
            <a:off x="4773168" y="3794760"/>
            <a:ext cx="128016" cy="128016"/>
          </a:xfrm>
          <a:prstGeom prst="ellipse">
            <a:avLst/>
          </a:prstGeom>
          <a:solidFill>
            <a:srgbClr val="FF8F00"/>
          </a:solidFill>
          <a:ln/>
        </p:spPr>
        <p:txBody>
          <a:bodyPr/>
          <a:lstStyle/>
          <a:p>
            <a:endParaRPr lang="en-MY"/>
          </a:p>
        </p:txBody>
      </p:sp>
      <p:sp>
        <p:nvSpPr>
          <p:cNvPr id="83" name="Text 80"/>
          <p:cNvSpPr/>
          <p:nvPr/>
        </p:nvSpPr>
        <p:spPr>
          <a:xfrm>
            <a:off x="4956048" y="3712464"/>
            <a:ext cx="3063240" cy="292608"/>
          </a:xfrm>
          <a:prstGeom prst="rect">
            <a:avLst/>
          </a:prstGeom>
          <a:noFill/>
          <a:ln/>
        </p:spPr>
        <p:txBody>
          <a:bodyPr wrap="square" lIns="0" tIns="0" rIns="0" bIns="0" rtlCol="0" anchor="ctr"/>
          <a:lstStyle/>
          <a:p>
            <a:pPr marL="0" indent="0">
              <a:buNone/>
            </a:pPr>
            <a:r>
              <a:rPr lang="en-US" sz="1150" b="1" dirty="0">
                <a:solidFill>
                  <a:srgbClr val="4B4B4B"/>
                </a:solidFill>
                <a:latin typeface="Arial" pitchFamily="34" charset="0"/>
                <a:ea typeface="Arial" pitchFamily="34" charset="-122"/>
                <a:cs typeface="Arial" pitchFamily="34" charset="-120"/>
              </a:rPr>
              <a:t>Scholarship data coverage</a:t>
            </a:r>
            <a:endParaRPr lang="en-US" sz="1150" dirty="0"/>
          </a:p>
        </p:txBody>
      </p:sp>
      <p:sp>
        <p:nvSpPr>
          <p:cNvPr id="84" name="Shape 81"/>
          <p:cNvSpPr/>
          <p:nvPr/>
        </p:nvSpPr>
        <p:spPr>
          <a:xfrm>
            <a:off x="8083296" y="3749040"/>
            <a:ext cx="822960" cy="219456"/>
          </a:xfrm>
          <a:prstGeom prst="roundRect">
            <a:avLst>
              <a:gd name="adj" fmla="val 50000"/>
            </a:avLst>
          </a:prstGeom>
          <a:solidFill>
            <a:srgbClr val="FFF8E1"/>
          </a:solidFill>
          <a:ln/>
        </p:spPr>
        <p:txBody>
          <a:bodyPr/>
          <a:lstStyle/>
          <a:p>
            <a:endParaRPr lang="en-MY"/>
          </a:p>
        </p:txBody>
      </p:sp>
      <p:sp>
        <p:nvSpPr>
          <p:cNvPr id="85" name="Text 82"/>
          <p:cNvSpPr/>
          <p:nvPr/>
        </p:nvSpPr>
        <p:spPr>
          <a:xfrm>
            <a:off x="8083296" y="3749040"/>
            <a:ext cx="822960" cy="219456"/>
          </a:xfrm>
          <a:prstGeom prst="rect">
            <a:avLst/>
          </a:prstGeom>
          <a:noFill/>
          <a:ln/>
        </p:spPr>
        <p:txBody>
          <a:bodyPr wrap="square" lIns="0" tIns="0" rIns="0" bIns="0" rtlCol="0" anchor="ctr"/>
          <a:lstStyle/>
          <a:p>
            <a:pPr marL="0" indent="0" algn="ctr">
              <a:buNone/>
            </a:pPr>
            <a:r>
              <a:rPr lang="en-US" sz="900" b="1" dirty="0">
                <a:solidFill>
                  <a:srgbClr val="FF8F00"/>
                </a:solidFill>
                <a:latin typeface="Arial" pitchFamily="34" charset="0"/>
                <a:ea typeface="Arial" pitchFamily="34" charset="-122"/>
                <a:cs typeface="Arial" pitchFamily="34" charset="-120"/>
              </a:rPr>
              <a:t>Moderate</a:t>
            </a:r>
            <a:endParaRPr lang="en-US" sz="900" dirty="0"/>
          </a:p>
        </p:txBody>
      </p:sp>
      <p:sp>
        <p:nvSpPr>
          <p:cNvPr id="86" name="Shape 83"/>
          <p:cNvSpPr/>
          <p:nvPr/>
        </p:nvSpPr>
        <p:spPr>
          <a:xfrm>
            <a:off x="4773168" y="4215384"/>
            <a:ext cx="128016" cy="128016"/>
          </a:xfrm>
          <a:prstGeom prst="ellipse">
            <a:avLst/>
          </a:prstGeom>
          <a:solidFill>
            <a:srgbClr val="388E3C"/>
          </a:solidFill>
          <a:ln/>
        </p:spPr>
        <p:txBody>
          <a:bodyPr/>
          <a:lstStyle/>
          <a:p>
            <a:endParaRPr lang="en-MY"/>
          </a:p>
        </p:txBody>
      </p:sp>
      <p:sp>
        <p:nvSpPr>
          <p:cNvPr id="87" name="Text 84"/>
          <p:cNvSpPr/>
          <p:nvPr/>
        </p:nvSpPr>
        <p:spPr>
          <a:xfrm>
            <a:off x="4956048" y="4133088"/>
            <a:ext cx="3063240" cy="292608"/>
          </a:xfrm>
          <a:prstGeom prst="rect">
            <a:avLst/>
          </a:prstGeom>
          <a:noFill/>
          <a:ln/>
        </p:spPr>
        <p:txBody>
          <a:bodyPr wrap="square" lIns="0" tIns="0" rIns="0" bIns="0" rtlCol="0" anchor="ctr"/>
          <a:lstStyle/>
          <a:p>
            <a:pPr marL="0" indent="0">
              <a:buNone/>
            </a:pPr>
            <a:r>
              <a:rPr lang="en-US" sz="1150" b="1" dirty="0">
                <a:solidFill>
                  <a:srgbClr val="4B4B4B"/>
                </a:solidFill>
                <a:latin typeface="Arial" pitchFamily="34" charset="0"/>
                <a:ea typeface="Arial" pitchFamily="34" charset="-122"/>
                <a:cs typeface="Arial" pitchFamily="34" charset="-120"/>
              </a:rPr>
              <a:t>Project scope</a:t>
            </a:r>
            <a:endParaRPr lang="en-US" sz="1150" dirty="0"/>
          </a:p>
        </p:txBody>
      </p:sp>
      <p:sp>
        <p:nvSpPr>
          <p:cNvPr id="88" name="Shape 85"/>
          <p:cNvSpPr/>
          <p:nvPr/>
        </p:nvSpPr>
        <p:spPr>
          <a:xfrm>
            <a:off x="8083296" y="4169664"/>
            <a:ext cx="822960" cy="219456"/>
          </a:xfrm>
          <a:prstGeom prst="roundRect">
            <a:avLst>
              <a:gd name="adj" fmla="val 50000"/>
            </a:avLst>
          </a:prstGeom>
          <a:solidFill>
            <a:srgbClr val="E8F5E9"/>
          </a:solidFill>
          <a:ln/>
        </p:spPr>
        <p:txBody>
          <a:bodyPr/>
          <a:lstStyle/>
          <a:p>
            <a:endParaRPr lang="en-MY"/>
          </a:p>
        </p:txBody>
      </p:sp>
      <p:sp>
        <p:nvSpPr>
          <p:cNvPr id="89" name="Text 86"/>
          <p:cNvSpPr/>
          <p:nvPr/>
        </p:nvSpPr>
        <p:spPr>
          <a:xfrm>
            <a:off x="8083296" y="4169664"/>
            <a:ext cx="822960" cy="219456"/>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Controlled</a:t>
            </a:r>
            <a:endParaRPr lang="en-US" sz="900" dirty="0"/>
          </a:p>
        </p:txBody>
      </p:sp>
      <p:sp>
        <p:nvSpPr>
          <p:cNvPr id="90" name="Shape 87"/>
          <p:cNvSpPr/>
          <p:nvPr/>
        </p:nvSpPr>
        <p:spPr>
          <a:xfrm>
            <a:off x="4773168" y="4636008"/>
            <a:ext cx="128016" cy="128016"/>
          </a:xfrm>
          <a:prstGeom prst="ellipse">
            <a:avLst/>
          </a:prstGeom>
          <a:solidFill>
            <a:srgbClr val="388E3C"/>
          </a:solidFill>
          <a:ln/>
        </p:spPr>
        <p:txBody>
          <a:bodyPr/>
          <a:lstStyle/>
          <a:p>
            <a:endParaRPr lang="en-MY"/>
          </a:p>
        </p:txBody>
      </p:sp>
      <p:sp>
        <p:nvSpPr>
          <p:cNvPr id="91" name="Text 88"/>
          <p:cNvSpPr/>
          <p:nvPr/>
        </p:nvSpPr>
        <p:spPr>
          <a:xfrm>
            <a:off x="4956048" y="4553712"/>
            <a:ext cx="3063240" cy="292608"/>
          </a:xfrm>
          <a:prstGeom prst="rect">
            <a:avLst/>
          </a:prstGeom>
          <a:noFill/>
          <a:ln/>
        </p:spPr>
        <p:txBody>
          <a:bodyPr wrap="square" lIns="0" tIns="0" rIns="0" bIns="0" rtlCol="0" anchor="ctr"/>
          <a:lstStyle/>
          <a:p>
            <a:pPr marL="0" indent="0">
              <a:buNone/>
            </a:pPr>
            <a:r>
              <a:rPr lang="en-US" sz="1150" b="1" dirty="0">
                <a:solidFill>
                  <a:srgbClr val="4B4B4B"/>
                </a:solidFill>
                <a:latin typeface="Arial" pitchFamily="34" charset="0"/>
                <a:ea typeface="Arial" pitchFamily="34" charset="-122"/>
                <a:cs typeface="Arial" pitchFamily="34" charset="-120"/>
              </a:rPr>
              <a:t>Student data security</a:t>
            </a:r>
            <a:endParaRPr lang="en-US" sz="1150" dirty="0"/>
          </a:p>
        </p:txBody>
      </p:sp>
      <p:sp>
        <p:nvSpPr>
          <p:cNvPr id="92" name="Shape 89"/>
          <p:cNvSpPr/>
          <p:nvPr/>
        </p:nvSpPr>
        <p:spPr>
          <a:xfrm>
            <a:off x="8083296" y="4590288"/>
            <a:ext cx="822960" cy="219456"/>
          </a:xfrm>
          <a:prstGeom prst="roundRect">
            <a:avLst>
              <a:gd name="adj" fmla="val 50000"/>
            </a:avLst>
          </a:prstGeom>
          <a:solidFill>
            <a:srgbClr val="E8F5E9"/>
          </a:solidFill>
          <a:ln/>
        </p:spPr>
        <p:txBody>
          <a:bodyPr/>
          <a:lstStyle/>
          <a:p>
            <a:endParaRPr lang="en-MY"/>
          </a:p>
        </p:txBody>
      </p:sp>
      <p:sp>
        <p:nvSpPr>
          <p:cNvPr id="93" name="Text 90"/>
          <p:cNvSpPr/>
          <p:nvPr/>
        </p:nvSpPr>
        <p:spPr>
          <a:xfrm>
            <a:off x="8083296" y="4590288"/>
            <a:ext cx="822960" cy="219456"/>
          </a:xfrm>
          <a:prstGeom prst="rect">
            <a:avLst/>
          </a:prstGeom>
          <a:noFill/>
          <a:ln/>
        </p:spPr>
        <p:txBody>
          <a:bodyPr wrap="square" lIns="0" tIns="0" rIns="0" bIns="0" rtlCol="0" anchor="ctr"/>
          <a:lstStyle/>
          <a:p>
            <a:pPr marL="0" indent="0" algn="ctr">
              <a:buNone/>
            </a:pPr>
            <a:r>
              <a:rPr lang="en-US" sz="900" b="1" dirty="0">
                <a:solidFill>
                  <a:srgbClr val="388E3C"/>
                </a:solidFill>
                <a:latin typeface="Arial" pitchFamily="34" charset="0"/>
                <a:ea typeface="Arial" pitchFamily="34" charset="-122"/>
                <a:cs typeface="Arial" pitchFamily="34" charset="-120"/>
              </a:rPr>
              <a:t>Low</a:t>
            </a:r>
            <a:endParaRPr lang="en-US" sz="900" dirty="0"/>
          </a:p>
        </p:txBody>
      </p:sp>
      <p:sp>
        <p:nvSpPr>
          <p:cNvPr id="94" name="Shape 91"/>
          <p:cNvSpPr/>
          <p:nvPr/>
        </p:nvSpPr>
        <p:spPr>
          <a:xfrm>
            <a:off x="4913844" y="4828734"/>
            <a:ext cx="3807586" cy="230004"/>
          </a:xfrm>
          <a:prstGeom prst="roundRect">
            <a:avLst>
              <a:gd name="adj" fmla="val 17647"/>
            </a:avLst>
          </a:prstGeom>
          <a:solidFill>
            <a:srgbClr val="E8F5F0"/>
          </a:solidFill>
          <a:ln/>
        </p:spPr>
        <p:txBody>
          <a:bodyPr/>
          <a:lstStyle/>
          <a:p>
            <a:endParaRPr lang="en-MY" sz="1600"/>
          </a:p>
        </p:txBody>
      </p:sp>
      <p:sp>
        <p:nvSpPr>
          <p:cNvPr id="95" name="Text 92"/>
          <p:cNvSpPr/>
          <p:nvPr/>
        </p:nvSpPr>
        <p:spPr>
          <a:xfrm>
            <a:off x="5005284" y="4828734"/>
            <a:ext cx="3723718" cy="230004"/>
          </a:xfrm>
          <a:prstGeom prst="rect">
            <a:avLst/>
          </a:prstGeom>
          <a:noFill/>
          <a:ln/>
        </p:spPr>
        <p:txBody>
          <a:bodyPr wrap="square" lIns="0" tIns="0" rIns="0" bIns="0" rtlCol="0" anchor="ctr"/>
          <a:lstStyle/>
          <a:p>
            <a:pPr marL="0" indent="0">
              <a:buNone/>
            </a:pPr>
            <a:r>
              <a:rPr lang="en-US" sz="1000" dirty="0">
                <a:solidFill>
                  <a:srgbClr val="82868B"/>
                </a:solidFill>
                <a:latin typeface="Arial" pitchFamily="34" charset="0"/>
                <a:ea typeface="Arial" pitchFamily="34" charset="-122"/>
                <a:cs typeface="Arial" pitchFamily="34" charset="-120"/>
              </a:rPr>
              <a:t>No critical risks, development is on track and within schedule.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057"/>
        </a:solidFill>
        <a:effectLst/>
      </p:bgPr>
    </p:bg>
    <p:spTree>
      <p:nvGrpSpPr>
        <p:cNvPr id="1" name=""/>
        <p:cNvGrpSpPr/>
        <p:nvPr/>
      </p:nvGrpSpPr>
      <p:grpSpPr>
        <a:xfrm>
          <a:off x="0" y="0"/>
          <a:ext cx="0" cy="0"/>
          <a:chOff x="0" y="0"/>
          <a:chExt cx="0" cy="0"/>
        </a:xfrm>
      </p:grpSpPr>
      <p:sp>
        <p:nvSpPr>
          <p:cNvPr id="2" name="Shape 0"/>
          <p:cNvSpPr/>
          <p:nvPr/>
        </p:nvSpPr>
        <p:spPr>
          <a:xfrm>
            <a:off x="3474720" y="0"/>
            <a:ext cx="5669280" cy="5143500"/>
          </a:xfrm>
          <a:prstGeom prst="rect">
            <a:avLst/>
          </a:prstGeom>
          <a:solidFill>
            <a:srgbClr val="1976D2">
              <a:alpha val="46000"/>
            </a:srgbClr>
          </a:solidFill>
          <a:ln/>
        </p:spPr>
        <p:txBody>
          <a:bodyPr/>
          <a:lstStyle/>
          <a:p>
            <a:endParaRPr lang="en-MY"/>
          </a:p>
        </p:txBody>
      </p:sp>
      <p:sp>
        <p:nvSpPr>
          <p:cNvPr id="3" name="Shape 1"/>
          <p:cNvSpPr/>
          <p:nvPr/>
        </p:nvSpPr>
        <p:spPr>
          <a:xfrm>
            <a:off x="-1828800" y="-1828800"/>
            <a:ext cx="5303520" cy="5303520"/>
          </a:xfrm>
          <a:prstGeom prst="ellipse">
            <a:avLst/>
          </a:prstGeom>
          <a:solidFill>
            <a:srgbClr val="FFFFFF">
              <a:alpha val="7000"/>
            </a:srgbClr>
          </a:solidFill>
          <a:ln/>
        </p:spPr>
        <p:txBody>
          <a:bodyPr/>
          <a:lstStyle/>
          <a:p>
            <a:endParaRPr lang="en-MY"/>
          </a:p>
        </p:txBody>
      </p:sp>
      <p:sp>
        <p:nvSpPr>
          <p:cNvPr id="4" name="Shape 2"/>
          <p:cNvSpPr/>
          <p:nvPr/>
        </p:nvSpPr>
        <p:spPr>
          <a:xfrm>
            <a:off x="6217920" y="2560320"/>
            <a:ext cx="4114800" cy="4114800"/>
          </a:xfrm>
          <a:prstGeom prst="ellipse">
            <a:avLst/>
          </a:prstGeom>
          <a:solidFill>
            <a:srgbClr val="FFFFFF">
              <a:alpha val="7000"/>
            </a:srgbClr>
          </a:solidFill>
          <a:ln/>
        </p:spPr>
        <p:txBody>
          <a:bodyPr/>
          <a:lstStyle/>
          <a:p>
            <a:endParaRPr lang="en-MY"/>
          </a:p>
        </p:txBody>
      </p:sp>
      <p:sp>
        <p:nvSpPr>
          <p:cNvPr id="5" name="Text 3"/>
          <p:cNvSpPr/>
          <p:nvPr/>
        </p:nvSpPr>
        <p:spPr>
          <a:xfrm>
            <a:off x="914400" y="658368"/>
            <a:ext cx="7315200" cy="256032"/>
          </a:xfrm>
          <a:prstGeom prst="rect">
            <a:avLst/>
          </a:prstGeom>
          <a:noFill/>
          <a:ln/>
        </p:spPr>
        <p:txBody>
          <a:bodyPr wrap="square" lIns="0" tIns="0" rIns="0" bIns="0" rtlCol="0" anchor="ctr"/>
          <a:lstStyle/>
          <a:p>
            <a:pPr marL="0" indent="0" algn="ctr">
              <a:buNone/>
            </a:pPr>
            <a:r>
              <a:rPr lang="en-US" sz="950" kern="0" spc="150" dirty="0">
                <a:solidFill>
                  <a:srgbClr val="FFFFFF">
                    <a:alpha val="52000"/>
                  </a:srgbClr>
                </a:solidFill>
                <a:latin typeface="Arial" pitchFamily="34" charset="0"/>
                <a:ea typeface="Arial" pitchFamily="34" charset="-122"/>
                <a:cs typeface="Arial" pitchFamily="34" charset="-120"/>
              </a:rPr>
              <a:t>Decision Intelligence for Malaysian Students</a:t>
            </a:r>
            <a:endParaRPr lang="en-US" sz="950" dirty="0"/>
          </a:p>
        </p:txBody>
      </p:sp>
      <p:sp>
        <p:nvSpPr>
          <p:cNvPr id="6" name="Text 4"/>
          <p:cNvSpPr/>
          <p:nvPr/>
        </p:nvSpPr>
        <p:spPr>
          <a:xfrm>
            <a:off x="457200" y="950976"/>
            <a:ext cx="8229600" cy="1078992"/>
          </a:xfrm>
          <a:prstGeom prst="rect">
            <a:avLst/>
          </a:prstGeom>
          <a:noFill/>
          <a:ln/>
        </p:spPr>
        <p:txBody>
          <a:bodyPr wrap="square" lIns="0" tIns="0" rIns="0" bIns="0" rtlCol="0" anchor="ctr"/>
          <a:lstStyle/>
          <a:p>
            <a:pPr marL="0" indent="0" algn="ctr">
              <a:buNone/>
            </a:pPr>
            <a:r>
              <a:rPr lang="en-US" sz="7000" b="1" kern="0" spc="-200" dirty="0">
                <a:solidFill>
                  <a:srgbClr val="FFFFFF"/>
                </a:solidFill>
                <a:latin typeface="Arial" pitchFamily="34" charset="0"/>
                <a:ea typeface="Arial" pitchFamily="34" charset="-122"/>
                <a:cs typeface="Arial" pitchFamily="34" charset="-120"/>
              </a:rPr>
              <a:t>Thank You</a:t>
            </a:r>
            <a:endParaRPr lang="en-US" sz="7000" dirty="0"/>
          </a:p>
        </p:txBody>
      </p:sp>
      <p:sp>
        <p:nvSpPr>
          <p:cNvPr id="7" name="Text 5"/>
          <p:cNvSpPr/>
          <p:nvPr/>
        </p:nvSpPr>
        <p:spPr>
          <a:xfrm>
            <a:off x="1097280" y="2121408"/>
            <a:ext cx="6949440" cy="768096"/>
          </a:xfrm>
          <a:prstGeom prst="rect">
            <a:avLst/>
          </a:prstGeom>
          <a:noFill/>
          <a:ln/>
        </p:spPr>
        <p:txBody>
          <a:bodyPr wrap="square" lIns="0" tIns="0" rIns="0" bIns="0" rtlCol="0" anchor="ctr"/>
          <a:lstStyle/>
          <a:p>
            <a:pPr marL="0" indent="0" algn="ctr">
              <a:buNone/>
            </a:pPr>
            <a:r>
              <a:rPr lang="en-US" sz="1300" dirty="0">
                <a:solidFill>
                  <a:srgbClr val="FFFFFF">
                    <a:alpha val="74000"/>
                  </a:srgbClr>
                </a:solidFill>
                <a:latin typeface="Arial" pitchFamily="34" charset="0"/>
                <a:ea typeface="Arial" pitchFamily="34" charset="-122"/>
                <a:cs typeface="Arial" pitchFamily="34" charset="-120"/>
              </a:rPr>
              <a:t>This system was built to ensure that every post-SPM student in Malaysia receives clear direction, the right scholarship, the right course, and the best Higher Education Institution for their future.</a:t>
            </a:r>
            <a:endParaRPr lang="en-US" sz="1300" dirty="0"/>
          </a:p>
        </p:txBody>
      </p:sp>
      <p:sp>
        <p:nvSpPr>
          <p:cNvPr id="8" name="Shape 6"/>
          <p:cNvSpPr/>
          <p:nvPr/>
        </p:nvSpPr>
        <p:spPr>
          <a:xfrm>
            <a:off x="1143000" y="2980944"/>
            <a:ext cx="6858000" cy="1097280"/>
          </a:xfrm>
          <a:prstGeom prst="roundRect">
            <a:avLst>
              <a:gd name="adj" fmla="val 8333"/>
            </a:avLst>
          </a:prstGeom>
          <a:solidFill>
            <a:srgbClr val="FFFFFF">
              <a:alpha val="14000"/>
            </a:srgbClr>
          </a:solidFill>
          <a:ln w="12700">
            <a:solidFill>
              <a:srgbClr val="FFFFFF">
                <a:alpha val="30000"/>
              </a:srgbClr>
            </a:solidFill>
            <a:prstDash val="solid"/>
          </a:ln>
        </p:spPr>
        <p:txBody>
          <a:bodyPr/>
          <a:lstStyle/>
          <a:p>
            <a:endParaRPr lang="en-MY"/>
          </a:p>
        </p:txBody>
      </p:sp>
      <p:sp>
        <p:nvSpPr>
          <p:cNvPr id="9" name="Shape 7"/>
          <p:cNvSpPr/>
          <p:nvPr/>
        </p:nvSpPr>
        <p:spPr>
          <a:xfrm>
            <a:off x="2857500" y="3035808"/>
            <a:ext cx="10973" cy="987552"/>
          </a:xfrm>
          <a:prstGeom prst="rect">
            <a:avLst/>
          </a:prstGeom>
          <a:solidFill>
            <a:srgbClr val="FFFFFF">
              <a:alpha val="28000"/>
            </a:srgbClr>
          </a:solidFill>
          <a:ln/>
        </p:spPr>
        <p:txBody>
          <a:bodyPr/>
          <a:lstStyle/>
          <a:p>
            <a:endParaRPr lang="en-MY"/>
          </a:p>
        </p:txBody>
      </p:sp>
      <p:sp>
        <p:nvSpPr>
          <p:cNvPr id="10" name="Shape 8"/>
          <p:cNvSpPr/>
          <p:nvPr/>
        </p:nvSpPr>
        <p:spPr>
          <a:xfrm>
            <a:off x="4572000" y="3035808"/>
            <a:ext cx="10973" cy="987552"/>
          </a:xfrm>
          <a:prstGeom prst="rect">
            <a:avLst/>
          </a:prstGeom>
          <a:solidFill>
            <a:srgbClr val="FFFFFF">
              <a:alpha val="28000"/>
            </a:srgbClr>
          </a:solidFill>
          <a:ln/>
        </p:spPr>
        <p:txBody>
          <a:bodyPr/>
          <a:lstStyle/>
          <a:p>
            <a:endParaRPr lang="en-MY"/>
          </a:p>
        </p:txBody>
      </p:sp>
      <p:sp>
        <p:nvSpPr>
          <p:cNvPr id="11" name="Shape 9"/>
          <p:cNvSpPr/>
          <p:nvPr/>
        </p:nvSpPr>
        <p:spPr>
          <a:xfrm>
            <a:off x="6286500" y="3035808"/>
            <a:ext cx="10973" cy="987552"/>
          </a:xfrm>
          <a:prstGeom prst="rect">
            <a:avLst/>
          </a:prstGeom>
          <a:solidFill>
            <a:srgbClr val="FFFFFF">
              <a:alpha val="28000"/>
            </a:srgbClr>
          </a:solidFill>
          <a:ln/>
        </p:spPr>
        <p:txBody>
          <a:bodyPr/>
          <a:lstStyle/>
          <a:p>
            <a:endParaRPr lang="en-MY"/>
          </a:p>
        </p:txBody>
      </p:sp>
      <p:sp>
        <p:nvSpPr>
          <p:cNvPr id="12" name="Text 10"/>
          <p:cNvSpPr/>
          <p:nvPr/>
        </p:nvSpPr>
        <p:spPr>
          <a:xfrm>
            <a:off x="1143000" y="3054096"/>
            <a:ext cx="1714500" cy="585216"/>
          </a:xfrm>
          <a:prstGeom prst="rect">
            <a:avLst/>
          </a:prstGeom>
          <a:noFill/>
          <a:ln/>
        </p:spPr>
        <p:txBody>
          <a:bodyPr wrap="square" lIns="0" tIns="0" rIns="0" bIns="0" rtlCol="0" anchor="b"/>
          <a:lstStyle/>
          <a:p>
            <a:pPr marL="0" indent="0" algn="ctr">
              <a:buNone/>
            </a:pPr>
            <a:r>
              <a:rPr lang="en-US" sz="3000" b="1" dirty="0">
                <a:solidFill>
                  <a:srgbClr val="F7C948"/>
                </a:solidFill>
                <a:latin typeface="Arial" pitchFamily="34" charset="0"/>
                <a:ea typeface="Arial" pitchFamily="34" charset="-122"/>
                <a:cs typeface="Arial" pitchFamily="34" charset="-120"/>
              </a:rPr>
              <a:t>23</a:t>
            </a:r>
            <a:endParaRPr lang="en-US" sz="3000" dirty="0"/>
          </a:p>
        </p:txBody>
      </p:sp>
      <p:sp>
        <p:nvSpPr>
          <p:cNvPr id="13" name="Text 11"/>
          <p:cNvSpPr/>
          <p:nvPr/>
        </p:nvSpPr>
        <p:spPr>
          <a:xfrm>
            <a:off x="1143000" y="3639312"/>
            <a:ext cx="1714500" cy="274320"/>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SCHOLARSHIPS</a:t>
            </a:r>
            <a:endParaRPr lang="en-US" sz="850" dirty="0"/>
          </a:p>
        </p:txBody>
      </p:sp>
      <p:sp>
        <p:nvSpPr>
          <p:cNvPr id="14" name="Text 12"/>
          <p:cNvSpPr/>
          <p:nvPr/>
        </p:nvSpPr>
        <p:spPr>
          <a:xfrm>
            <a:off x="2857500" y="3054096"/>
            <a:ext cx="1714500" cy="585216"/>
          </a:xfrm>
          <a:prstGeom prst="rect">
            <a:avLst/>
          </a:prstGeom>
          <a:noFill/>
          <a:ln/>
        </p:spPr>
        <p:txBody>
          <a:bodyPr wrap="square" lIns="0" tIns="0" rIns="0" bIns="0" rtlCol="0" anchor="b"/>
          <a:lstStyle/>
          <a:p>
            <a:pPr marL="0" indent="0" algn="ctr">
              <a:buNone/>
            </a:pPr>
            <a:r>
              <a:rPr lang="en-US" sz="3000" b="1" dirty="0">
                <a:solidFill>
                  <a:srgbClr val="F7C948"/>
                </a:solidFill>
                <a:latin typeface="Arial" pitchFamily="34" charset="0"/>
                <a:ea typeface="Arial" pitchFamily="34" charset="-122"/>
                <a:cs typeface="Arial" pitchFamily="34" charset="-120"/>
              </a:rPr>
              <a:t>30</a:t>
            </a:r>
            <a:endParaRPr lang="en-US" sz="3000" dirty="0"/>
          </a:p>
        </p:txBody>
      </p:sp>
      <p:sp>
        <p:nvSpPr>
          <p:cNvPr id="15" name="Text 13"/>
          <p:cNvSpPr/>
          <p:nvPr/>
        </p:nvSpPr>
        <p:spPr>
          <a:xfrm>
            <a:off x="2857500" y="3639312"/>
            <a:ext cx="1714500" cy="274320"/>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IPT INSTITUTIONS</a:t>
            </a:r>
            <a:endParaRPr lang="en-US" sz="850" dirty="0"/>
          </a:p>
        </p:txBody>
      </p:sp>
      <p:sp>
        <p:nvSpPr>
          <p:cNvPr id="16" name="Text 14"/>
          <p:cNvSpPr/>
          <p:nvPr/>
        </p:nvSpPr>
        <p:spPr>
          <a:xfrm>
            <a:off x="4572000" y="3054096"/>
            <a:ext cx="1714500" cy="585216"/>
          </a:xfrm>
          <a:prstGeom prst="rect">
            <a:avLst/>
          </a:prstGeom>
          <a:noFill/>
          <a:ln/>
        </p:spPr>
        <p:txBody>
          <a:bodyPr wrap="square" lIns="0" tIns="0" rIns="0" bIns="0" rtlCol="0" anchor="b"/>
          <a:lstStyle/>
          <a:p>
            <a:pPr marL="0" indent="0" algn="ctr">
              <a:buNone/>
            </a:pPr>
            <a:r>
              <a:rPr lang="en-US" sz="3000" b="1" dirty="0">
                <a:solidFill>
                  <a:srgbClr val="F7C948"/>
                </a:solidFill>
                <a:latin typeface="Arial" pitchFamily="34" charset="0"/>
                <a:ea typeface="Arial" pitchFamily="34" charset="-122"/>
                <a:cs typeface="Arial" pitchFamily="34" charset="-120"/>
              </a:rPr>
              <a:t>100%</a:t>
            </a:r>
            <a:endParaRPr lang="en-US" sz="3000" dirty="0"/>
          </a:p>
        </p:txBody>
      </p:sp>
      <p:sp>
        <p:nvSpPr>
          <p:cNvPr id="17" name="Text 15"/>
          <p:cNvSpPr/>
          <p:nvPr/>
        </p:nvSpPr>
        <p:spPr>
          <a:xfrm>
            <a:off x="4572000" y="3639312"/>
            <a:ext cx="1714500" cy="274320"/>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FREE</a:t>
            </a:r>
            <a:endParaRPr lang="en-US" sz="850" dirty="0"/>
          </a:p>
        </p:txBody>
      </p:sp>
      <p:sp>
        <p:nvSpPr>
          <p:cNvPr id="18" name="Text 16"/>
          <p:cNvSpPr/>
          <p:nvPr/>
        </p:nvSpPr>
        <p:spPr>
          <a:xfrm>
            <a:off x="6286500" y="3054096"/>
            <a:ext cx="1714500" cy="585216"/>
          </a:xfrm>
          <a:prstGeom prst="rect">
            <a:avLst/>
          </a:prstGeom>
          <a:noFill/>
          <a:ln/>
        </p:spPr>
        <p:txBody>
          <a:bodyPr wrap="square" lIns="0" tIns="0" rIns="0" bIns="0" rtlCol="0" anchor="b"/>
          <a:lstStyle/>
          <a:p>
            <a:pPr marL="0" indent="0" algn="ctr">
              <a:buNone/>
            </a:pPr>
            <a:r>
              <a:rPr lang="en-US" sz="3000" b="1" dirty="0">
                <a:solidFill>
                  <a:srgbClr val="F7C948"/>
                </a:solidFill>
                <a:latin typeface="Arial" pitchFamily="34" charset="0"/>
                <a:ea typeface="Arial" pitchFamily="34" charset="-122"/>
                <a:cs typeface="Arial" pitchFamily="34" charset="-120"/>
              </a:rPr>
              <a:t>1</a:t>
            </a:r>
            <a:endParaRPr lang="en-US" sz="3000" dirty="0"/>
          </a:p>
        </p:txBody>
      </p:sp>
      <p:sp>
        <p:nvSpPr>
          <p:cNvPr id="19" name="Text 17"/>
          <p:cNvSpPr/>
          <p:nvPr/>
        </p:nvSpPr>
        <p:spPr>
          <a:xfrm>
            <a:off x="6286500" y="3639312"/>
            <a:ext cx="1714500" cy="274320"/>
          </a:xfrm>
          <a:prstGeom prst="rect">
            <a:avLst/>
          </a:prstGeom>
          <a:noFill/>
          <a:ln/>
        </p:spPr>
        <p:txBody>
          <a:bodyPr wrap="square" lIns="0" tIns="0" rIns="0" bIns="0" rtlCol="0" anchor="ctr"/>
          <a:lstStyle/>
          <a:p>
            <a:pPr marL="0" indent="0" algn="ctr">
              <a:buNone/>
            </a:pPr>
            <a:r>
              <a:rPr lang="en-US" sz="850" kern="0" spc="150" dirty="0">
                <a:solidFill>
                  <a:srgbClr val="FFFFFF">
                    <a:alpha val="70000"/>
                  </a:srgbClr>
                </a:solidFill>
                <a:latin typeface="Arial" pitchFamily="34" charset="0"/>
                <a:ea typeface="Arial" pitchFamily="34" charset="-122"/>
                <a:cs typeface="Arial" pitchFamily="34" charset="-120"/>
              </a:rPr>
              <a:t>PLATFORM</a:t>
            </a:r>
            <a:endParaRPr lang="en-US" sz="850" dirty="0"/>
          </a:p>
        </p:txBody>
      </p:sp>
      <p:sp>
        <p:nvSpPr>
          <p:cNvPr id="20" name="Text 18"/>
          <p:cNvSpPr/>
          <p:nvPr/>
        </p:nvSpPr>
        <p:spPr>
          <a:xfrm>
            <a:off x="1828800" y="4279392"/>
            <a:ext cx="5486400" cy="256032"/>
          </a:xfrm>
          <a:prstGeom prst="rect">
            <a:avLst/>
          </a:prstGeom>
          <a:noFill/>
          <a:ln/>
        </p:spPr>
        <p:txBody>
          <a:bodyPr wrap="square" lIns="0" tIns="0" rIns="0" bIns="0" rtlCol="0" anchor="ctr"/>
          <a:lstStyle/>
          <a:p>
            <a:pPr marL="0" indent="0" algn="ctr">
              <a:buNone/>
            </a:pPr>
            <a:r>
              <a:rPr lang="en-US" sz="1100" dirty="0">
                <a:solidFill>
                  <a:srgbClr val="FFFFFF">
                    <a:alpha val="42000"/>
                  </a:srgbClr>
                </a:solidFill>
                <a:latin typeface="Arial" pitchFamily="34" charset="0"/>
                <a:ea typeface="Arial" pitchFamily="34" charset="-122"/>
                <a:cs typeface="Arial" pitchFamily="34" charset="-120"/>
              </a:rPr>
              <a:t>Information Systems Project  ·  2025 – 2026</a:t>
            </a:r>
            <a:endParaRPr lang="en-US" sz="1100" dirty="0"/>
          </a:p>
        </p:txBody>
      </p:sp>
      <p:sp>
        <p:nvSpPr>
          <p:cNvPr id="21" name="Shape 19"/>
          <p:cNvSpPr/>
          <p:nvPr/>
        </p:nvSpPr>
        <p:spPr>
          <a:xfrm>
            <a:off x="8430768" y="4828032"/>
            <a:ext cx="137160" cy="137160"/>
          </a:xfrm>
          <a:prstGeom prst="ellipse">
            <a:avLst/>
          </a:prstGeom>
          <a:solidFill>
            <a:srgbClr val="4FC3F7"/>
          </a:solidFill>
          <a:ln/>
        </p:spPr>
        <p:txBody>
          <a:bodyPr/>
          <a:lstStyle/>
          <a:p>
            <a:endParaRPr lang="en-MY"/>
          </a:p>
        </p:txBody>
      </p:sp>
      <p:sp>
        <p:nvSpPr>
          <p:cNvPr id="22" name="Shape 20"/>
          <p:cNvSpPr/>
          <p:nvPr/>
        </p:nvSpPr>
        <p:spPr>
          <a:xfrm>
            <a:off x="8613648" y="4828032"/>
            <a:ext cx="137160" cy="137160"/>
          </a:xfrm>
          <a:prstGeom prst="ellipse">
            <a:avLst/>
          </a:prstGeom>
          <a:solidFill>
            <a:srgbClr val="F7C948"/>
          </a:solidFill>
          <a:ln/>
        </p:spPr>
        <p:txBody>
          <a:bodyPr/>
          <a:lstStyle/>
          <a:p>
            <a:endParaRPr lang="en-MY"/>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TotalTime>
  <Words>1323</Words>
  <Application>Microsoft Office PowerPoint</Application>
  <PresentationFormat>On-screen Show (16:9)</PresentationFormat>
  <Paragraphs>261</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iegpc1</cp:lastModifiedBy>
  <cp:revision>7</cp:revision>
  <dcterms:created xsi:type="dcterms:W3CDTF">2026-07-20T10:31:46Z</dcterms:created>
  <dcterms:modified xsi:type="dcterms:W3CDTF">2026-07-21T09:05:15Z</dcterms:modified>
</cp:coreProperties>
</file>