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Wajaran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C11-4863-9154-8B21B4F2F245}"/>
              </c:ext>
            </c:extLst>
          </c:dPt>
          <c:dPt>
            <c:idx val="1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11-4863-9154-8B21B4F2F245}"/>
              </c:ext>
            </c:extLst>
          </c:dPt>
          <c:cat>
            <c:strRef>
              <c:f>Sheet1!$A$2:$A$3</c:f>
              <c:strCache>
                <c:ptCount val="2"/>
                <c:pt idx="0">
                  <c:v>Akademik SPM</c:v>
                </c:pt>
                <c:pt idx="1">
                  <c:v>Ko-Kurikulum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11-4863-9154-8B21B4F2F2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00-4C2C-8534-38A041EF94E0}"/>
              </c:ext>
            </c:extLst>
          </c:dPt>
          <c:dPt>
            <c:idx val="1"/>
            <c:bubble3D val="0"/>
            <c:spPr>
              <a:solidFill>
                <a:srgbClr val="EEEE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00-4C2C-8534-38A041EF94E0}"/>
              </c:ext>
            </c:extLst>
          </c:dPt>
          <c:cat>
            <c:strRef>
              <c:f>Sheet1!$A$2:$A$3</c:f>
              <c:strCache>
                <c:ptCount val="2"/>
                <c:pt idx="0">
                  <c:v>Selesai</c:v>
                </c:pt>
                <c:pt idx="1">
                  <c:v>Dalam Proses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00-4C2C-8534-38A041EF9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42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1976D2">
              <a:alpha val="4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840480" cy="384048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FFFFFF">
                    <a:alpha val="6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PADANAN BIASISWA MALAYSIA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969264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36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2514600" y="9692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DELIMa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Intelligence for Malaysian Students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>
                    <a:alpha val="6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Biasiswa, Kursus &amp; IPT Selepas SPM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3000" y="2706624"/>
            <a:ext cx="68580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2857500" y="2770632"/>
            <a:ext cx="10973" cy="987552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4572000" y="2770632"/>
            <a:ext cx="10973" cy="987552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6286500" y="2770632"/>
            <a:ext cx="10973" cy="987552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1143000" y="2770632"/>
            <a:ext cx="17145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143000" y="3392424"/>
            <a:ext cx="1714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BIASISWA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57500" y="2770632"/>
            <a:ext cx="17145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857500" y="3392424"/>
            <a:ext cx="1714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770632"/>
            <a:ext cx="17145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0" y="3392424"/>
            <a:ext cx="1714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86500" y="2770632"/>
            <a:ext cx="17145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86500" y="3392424"/>
            <a:ext cx="1714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PERCUMA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30768" y="4828032"/>
            <a:ext cx="137160" cy="13716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8613648" y="4828032"/>
            <a:ext cx="137160" cy="137160"/>
          </a:xfrm>
          <a:prstGeom prst="ellips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Mana Ia Bermula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12064"/>
            <a:ext cx="5138928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18872" y="512064"/>
            <a:ext cx="5138928" cy="64008"/>
          </a:xfrm>
          <a:prstGeom prst="roundRect">
            <a:avLst>
              <a:gd name="adj" fmla="val 85714"/>
            </a:avLst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201168" y="658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42416" y="6217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Sebenar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42416" y="932688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Selepas keputusan SPM diumumkan, kaunselor sekolah terpaksa menghubungi setiap pelajar satu persatu untuk mendapatkan maklumat pengajian </a:t>
            </a:r>
            <a:r>
              <a:rPr lang="en-US" sz="105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lanjutan</a:t>
            </a: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mereka</a:t>
            </a: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setiap pelajar, satu-satu panggilan telefon. Tiada sebarang sistem.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" y="2304288"/>
            <a:ext cx="1389888" cy="201168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237744" y="23042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Manual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00784" y="2304288"/>
            <a:ext cx="1389888" cy="201168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1700784" y="23042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Tiada Sistem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63824" y="2304288"/>
            <a:ext cx="1389888" cy="20116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163824" y="23042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Memakan Masa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8872" y="2706624"/>
            <a:ext cx="5138928" cy="235000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118872" y="2706624"/>
            <a:ext cx="5138928" cy="64008"/>
          </a:xfrm>
          <a:prstGeom prst="roundRect">
            <a:avLst>
              <a:gd name="adj" fmla="val 85714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237744" y="277977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Soalan Penting Yang Mencetuskan Projek Ini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" y="3090672"/>
            <a:ext cx="4773168" cy="10973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237744" y="3255264"/>
            <a:ext cx="292608" cy="292608"/>
          </a:xfrm>
          <a:prstGeom prst="ellipse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23774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" y="3200400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Sambung belajar?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340156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pelajar meneruskan pengajian selepas SPM?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" y="3822192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237744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" y="376732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IPT mana?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" y="396849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mana mereka mendaftar — universiti awam, swasta, politeknik atau lain?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" y="4389120"/>
            <a:ext cx="292608" cy="292608"/>
          </a:xfrm>
          <a:prstGeom prst="ellipse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237744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" y="433425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biasiswa / tajaan?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" y="4535424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pelajar B40 mendapat sokongan kewangan yang mereka perlukan?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76672" y="512064"/>
            <a:ext cx="3648456" cy="4544568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5376672" y="512064"/>
            <a:ext cx="3648456" cy="64008"/>
          </a:xfrm>
          <a:prstGeom prst="roundRect">
            <a:avLst>
              <a:gd name="adj" fmla="val 85714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5376672" y="585216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Sebenar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68112" y="859536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sebenar yang </a:t>
            </a:r>
            <a:r>
              <a:rPr lang="en-US" sz="1000" dirty="0" err="1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dikumpul</a:t>
            </a: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kaunselor</a:t>
            </a: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secara manual melalui panggilan telefon kepada setiap pelajar selepas SPM</a:t>
            </a:r>
            <a:endParaRPr lang="en-US" sz="10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316736"/>
            <a:ext cx="3401568" cy="219456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5468112" y="3657600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E8F5E9"/>
          </a:solidFill>
          <a:ln w="1524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7"/>
          <p:cNvSpPr/>
          <p:nvPr/>
        </p:nvSpPr>
        <p:spPr>
          <a:xfrm>
            <a:off x="5577840" y="373075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Penemuan Penting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577840" y="3968496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Ramai pelajar dalam data ini berasal dari keluarga B40. Kaunselor tiada cara untuk mengetahui biasiswa yang layak </a:t>
            </a:r>
            <a:r>
              <a:rPr lang="en-US" sz="100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</a:t>
            </a: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mereka</a:t>
            </a: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inilah yang mencetuskan idea sistem padanan berkuasa AI ini.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Masalah, Penyelesaian &amp; Impak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71800" y="2706624"/>
            <a:ext cx="109728" cy="109728"/>
          </a:xfrm>
          <a:prstGeom prst="ellipse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2962656" y="269748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61888" y="2706624"/>
            <a:ext cx="109728" cy="109728"/>
          </a:xfrm>
          <a:prstGeom prst="ellipse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952744" y="269748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8872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18872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118872" y="932688"/>
            <a:ext cx="2944368" cy="1828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228600" y="630936"/>
            <a:ext cx="347472" cy="347472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49224" y="585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Cabaran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" y="85953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FFFFFF">
                    <a:alpha val="6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" y="1225296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237744" y="1225296"/>
            <a:ext cx="38405" cy="11704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329184" y="1271016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Pilihan Biasiswa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" y="1453896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tahu biasiswa yang layak dan cara memohon dengan betul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" y="2487168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237744" y="2487168"/>
            <a:ext cx="38405" cy="11704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329184" y="2532888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Pilihan IPT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" y="27157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Keliru memilih IPT dan kursus yang sesuai dengan keputusan SPM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" y="3749040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237744" y="3749040"/>
            <a:ext cx="38405" cy="11704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329184" y="3794760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Ibu Bapa Keliru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" y="3977640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Tiada maklumat lengkap untuk membantu anak membuat pilihan terbaik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99816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3099816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3099816" y="932688"/>
            <a:ext cx="2944368" cy="182880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3099816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1976D2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3099816" y="932688"/>
            <a:ext cx="2944368" cy="182880"/>
          </a:xfrm>
          <a:prstGeom prst="rect">
            <a:avLst/>
          </a:prstGeom>
          <a:solidFill>
            <a:srgbClr val="1976D2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3209544" y="630936"/>
            <a:ext cx="347472" cy="347472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3630168" y="585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630168" y="85953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FFFFFF">
                    <a:alpha val="6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18688" y="1225296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3218688" y="1225296"/>
            <a:ext cx="38405" cy="117043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3310128" y="1271016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Pintar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10128" y="1453896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menganalisis profil pelajar secara automatik dan menyeluruh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18688" y="2487168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Shape 39"/>
          <p:cNvSpPr/>
          <p:nvPr/>
        </p:nvSpPr>
        <p:spPr>
          <a:xfrm>
            <a:off x="3218688" y="2487168"/>
            <a:ext cx="38405" cy="1170432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3310128" y="2532888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Tepat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10128" y="27157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biasiswa &amp; 30 IPT dipadankan dengan skor kesesuaian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18688" y="3749040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3218688" y="3749040"/>
            <a:ext cx="38405" cy="1170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3310128" y="3794760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Peribadi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310128" y="3977640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cadangan dijana secara automatik untuk setiap pelajar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80760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9" name="Shape 47"/>
          <p:cNvSpPr/>
          <p:nvPr/>
        </p:nvSpPr>
        <p:spPr>
          <a:xfrm>
            <a:off x="6080760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0" name="Shape 48"/>
          <p:cNvSpPr/>
          <p:nvPr/>
        </p:nvSpPr>
        <p:spPr>
          <a:xfrm>
            <a:off x="6080760" y="932688"/>
            <a:ext cx="2944368" cy="18288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1" name="Shape 49"/>
          <p:cNvSpPr/>
          <p:nvPr/>
        </p:nvSpPr>
        <p:spPr>
          <a:xfrm>
            <a:off x="6190488" y="630936"/>
            <a:ext cx="347472" cy="347472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6611112" y="585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Impak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611112" y="85953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FFFFFF">
                    <a:alpha val="6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99632" y="1225296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5" name="Shape 53"/>
          <p:cNvSpPr/>
          <p:nvPr/>
        </p:nvSpPr>
        <p:spPr>
          <a:xfrm>
            <a:off x="6199632" y="1225296"/>
            <a:ext cx="38405" cy="1170432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6291072" y="1271016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 Yakin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91072" y="1453896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keputusan berdasarkan data dan profil diri sendiri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99632" y="2487168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9" name="Shape 57"/>
          <p:cNvSpPr/>
          <p:nvPr/>
        </p:nvSpPr>
        <p:spPr>
          <a:xfrm>
            <a:off x="6199632" y="2487168"/>
            <a:ext cx="38405" cy="117043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6291072" y="2532888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Ibu Bapa Tenang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91072" y="27157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Mendapat gambaran jelas tentang pilihan yang tersedia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99632" y="3749040"/>
            <a:ext cx="2706624" cy="1170432"/>
          </a:xfrm>
          <a:prstGeom prst="roundRect">
            <a:avLst>
              <a:gd name="adj" fmla="val 4688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3" name="Shape 61"/>
          <p:cNvSpPr/>
          <p:nvPr/>
        </p:nvSpPr>
        <p:spPr>
          <a:xfrm>
            <a:off x="6199632" y="3749040"/>
            <a:ext cx="38405" cy="1170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6291072" y="3794760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Pendidik Berdaya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291072" y="3977640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sokongan bimbingan pelajar yang berkesan dan tepat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Keseluruhan Sistem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12064"/>
            <a:ext cx="1956816" cy="454456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645920" cy="164592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1645920" cy="1645920"/>
          </a:xfrm>
          <a:prstGeom prst="ellipse">
            <a:avLst/>
          </a:prstGeom>
          <a:solidFill>
            <a:srgbClr val="1976D2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7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1168" y="242316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Padanan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Biasiswa &amp; IPT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310128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274320" y="3310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Biasiswa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274320" y="3566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27432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Percuma 100%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4078224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274320" y="4078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PostgreSQL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31136" y="1298448"/>
            <a:ext cx="29261" cy="2743200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2075688" y="1344168"/>
            <a:ext cx="384048" cy="29261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2075688" y="2670048"/>
            <a:ext cx="384048" cy="29261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2075688" y="4005072"/>
            <a:ext cx="384048" cy="29261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2368296" y="512064"/>
            <a:ext cx="665683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2368296" y="512064"/>
            <a:ext cx="274320" cy="1243584"/>
          </a:xfrm>
          <a:prstGeom prst="roundRect">
            <a:avLst>
              <a:gd name="adj" fmla="val 20000"/>
            </a:avLst>
          </a:prstGeom>
          <a:solidFill>
            <a:srgbClr val="388E3C">
              <a:alpha val="2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2368296" y="566928"/>
            <a:ext cx="274320" cy="1133856"/>
          </a:xfrm>
          <a:prstGeom prst="rect">
            <a:avLst/>
          </a:prstGeom>
          <a:solidFill>
            <a:srgbClr val="388E3C">
              <a:alpha val="2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2432304" y="1069848"/>
            <a:ext cx="128016" cy="128016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2743200" y="60350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Kami Bina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743200" y="89611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lengkap merangkumi pendaftaran pelajar, analisis profil, semakan kelayakan biasiswa, padanan IPT, dan penjanaan laporan peribadi — semuanya dalam satu platform.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0" y="1481328"/>
            <a:ext cx="1691640" cy="20116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2743200" y="14813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App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07992" y="1481328"/>
            <a:ext cx="1691640" cy="20116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4507992" y="14813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PostgreSQL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68296" y="1837944"/>
            <a:ext cx="665683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2368296" y="1837944"/>
            <a:ext cx="274320" cy="1243584"/>
          </a:xfrm>
          <a:prstGeom prst="roundRect">
            <a:avLst>
              <a:gd name="adj" fmla="val 20000"/>
            </a:avLst>
          </a:prstGeom>
          <a:solidFill>
            <a:srgbClr val="1976D2">
              <a:alpha val="2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>
            <a:off x="2368296" y="1892808"/>
            <a:ext cx="274320" cy="1133856"/>
          </a:xfrm>
          <a:prstGeom prst="rect">
            <a:avLst/>
          </a:prstGeom>
          <a:solidFill>
            <a:srgbClr val="1976D2">
              <a:alpha val="2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2432304" y="2395728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2743200" y="192938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Penggunanya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743200" y="222199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 lepasan SPM seluruh Malaysia tanpa mengira jenis sekolah, kumpulan pendapatan, atau latar belakang akademik. Sistem direka untuk saksama dan mudah diakses oleh semua.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2807208"/>
            <a:ext cx="1691640" cy="20116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2743200" y="2807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Pelajar SPM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07992" y="2807208"/>
            <a:ext cx="1691640" cy="20116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4507992" y="2807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B40 / M40 / T20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368296" y="3172968"/>
            <a:ext cx="665683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2368296" y="3172968"/>
            <a:ext cx="274320" cy="1243584"/>
          </a:xfrm>
          <a:prstGeom prst="roundRect">
            <a:avLst>
              <a:gd name="adj" fmla="val 20000"/>
            </a:avLst>
          </a:prstGeom>
          <a:solidFill>
            <a:srgbClr val="00897B">
              <a:alpha val="2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Shape 44"/>
          <p:cNvSpPr/>
          <p:nvPr/>
        </p:nvSpPr>
        <p:spPr>
          <a:xfrm>
            <a:off x="2368296" y="3227832"/>
            <a:ext cx="274320" cy="1133856"/>
          </a:xfrm>
          <a:prstGeom prst="rect">
            <a:avLst/>
          </a:prstGeom>
          <a:solidFill>
            <a:srgbClr val="00897B">
              <a:alpha val="2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7" name="Shape 45"/>
          <p:cNvSpPr/>
          <p:nvPr/>
        </p:nvSpPr>
        <p:spPr>
          <a:xfrm>
            <a:off x="2432304" y="3730752"/>
            <a:ext cx="128016" cy="12801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2743200" y="326440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Kandungan Sistem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2743200" y="355701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biasiswa dan 30 IPT dimuatkan dengan kriteria lengkap. Profil pelajar merangkumi keputusan SPM, skor ko-kurikulum, bidang pilihan, dan pendapatan keluarga.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0" y="4142232"/>
            <a:ext cx="1691640" cy="201168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1" name="Text 49"/>
          <p:cNvSpPr/>
          <p:nvPr/>
        </p:nvSpPr>
        <p:spPr>
          <a:xfrm>
            <a:off x="2743200" y="4142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Biasiswa Lengkap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07992" y="4142232"/>
            <a:ext cx="1691640" cy="20116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3" name="Text 51"/>
          <p:cNvSpPr/>
          <p:nvPr/>
        </p:nvSpPr>
        <p:spPr>
          <a:xfrm>
            <a:off x="4507992" y="4142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66928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18872" y="566928"/>
            <a:ext cx="2788920" cy="64008"/>
          </a:xfrm>
          <a:prstGeom prst="roundRect">
            <a:avLst>
              <a:gd name="adj" fmla="val 85714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228600" y="694944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228600" y="6949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 MUKA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4712" y="6583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Â· CSS3 Â· JavaScript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" y="950976"/>
            <a:ext cx="2569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pelajar, papan pemuka &amp; pensuisan dwibahasa masa </a:t>
            </a:r>
            <a:r>
              <a:rPr lang="en-US" sz="95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nyata</a:t>
            </a: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tiada framework, boleh diakses mana-mana pelayar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35808" y="566928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3035808" y="566928"/>
            <a:ext cx="2788920" cy="64008"/>
          </a:xfrm>
          <a:prstGeom prst="roundRect">
            <a:avLst>
              <a:gd name="adj" fmla="val 85714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3145536" y="694944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3145536" y="6949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41648" y="6583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45536" y="950976"/>
            <a:ext cx="2569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 HTTP </a:t>
            </a:r>
            <a:r>
              <a:rPr lang="en-US" sz="95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ringan</a:t>
            </a: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mengendalikan semua penghalaan API dan logik perniagaan tanpa framework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8872" y="1956816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118872" y="1956816"/>
            <a:ext cx="2788920" cy="64008"/>
          </a:xfrm>
          <a:prstGeom prst="roundRect">
            <a:avLst>
              <a:gd name="adj" fmla="val 85714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228600" y="208483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228600" y="20848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PANGKALAN DATA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" y="204825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8600" y="2340864"/>
            <a:ext cx="2569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profil pelajar, keputusan SPM, skor PAJSK, semua data biasiswa &amp; IPT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35808" y="1956816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3035808" y="1956816"/>
            <a:ext cx="2788920" cy="64008"/>
          </a:xfrm>
          <a:prstGeom prst="roundRect">
            <a:avLst>
              <a:gd name="adj" fmla="val 85714"/>
            </a:avLst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3145536" y="208483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3145536" y="20848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AI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41648" y="204825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 (LLaMA 3)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45536" y="2340864"/>
            <a:ext cx="2569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Jana laporan cadangan biasiswa secara automatik dalam Bahasa Melayu bagi setiap pelajar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8872" y="3346704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118872" y="3346704"/>
            <a:ext cx="2788920" cy="64008"/>
          </a:xfrm>
          <a:prstGeom prst="roundRect">
            <a:avLst>
              <a:gd name="adj" fmla="val 85714"/>
            </a:avLst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228600" y="347472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228600" y="34747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SKRIP AGEN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4712" y="343814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28600" y="3730752"/>
            <a:ext cx="2569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padanan biasiswa (agent2.py) dan penjana laporan PDF automatik (agent3.py)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35808" y="3346704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3035808" y="3346704"/>
            <a:ext cx="2788920" cy="64008"/>
          </a:xfrm>
          <a:prstGeom prst="roundRect">
            <a:avLst>
              <a:gd name="adj" fmla="val 85714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3145536" y="347472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3145536" y="34747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DWIBAHASA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41648" y="343814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JS Tersuai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145536" y="3730752"/>
            <a:ext cx="2569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Pensuisan BM â†” EN secara langsung melalui atribut data-ms / data-</a:t>
            </a:r>
            <a:r>
              <a:rPr lang="en-US" sz="95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tanpa muat semula halaman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0" y="512064"/>
            <a:ext cx="3081528" cy="454456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5943600" y="57607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 Bina Sistem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53328" y="914400"/>
            <a:ext cx="2862072" cy="54864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152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6126480" y="1124712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6309360" y="969264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Pelayar / Klien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0" y="120700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28816" y="1463040"/>
            <a:ext cx="18288" cy="14630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9" name="Shape 47"/>
          <p:cNvSpPr/>
          <p:nvPr/>
        </p:nvSpPr>
        <p:spPr>
          <a:xfrm>
            <a:off x="6053328" y="1609344"/>
            <a:ext cx="2862072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524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Shape 48"/>
          <p:cNvSpPr/>
          <p:nvPr/>
        </p:nvSpPr>
        <p:spPr>
          <a:xfrm>
            <a:off x="6126480" y="1819656"/>
            <a:ext cx="128016" cy="128016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1" name="Text 49"/>
          <p:cNvSpPr/>
          <p:nvPr/>
        </p:nvSpPr>
        <p:spPr>
          <a:xfrm>
            <a:off x="6309360" y="1664208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 Node.js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09360" y="190195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Â· Penghalaan Â· Logik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28816" y="2157984"/>
            <a:ext cx="18288" cy="14630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4" name="Shape 52"/>
          <p:cNvSpPr/>
          <p:nvPr/>
        </p:nvSpPr>
        <p:spPr>
          <a:xfrm>
            <a:off x="6053328" y="2304288"/>
            <a:ext cx="2862072" cy="548640"/>
          </a:xfrm>
          <a:prstGeom prst="roundRect">
            <a:avLst>
              <a:gd name="adj" fmla="val 13333"/>
            </a:avLst>
          </a:prstGeom>
          <a:solidFill>
            <a:srgbClr val="E0F2F1"/>
          </a:solidFill>
          <a:ln w="1524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5" name="Shape 53"/>
          <p:cNvSpPr/>
          <p:nvPr/>
        </p:nvSpPr>
        <p:spPr>
          <a:xfrm>
            <a:off x="6126480" y="2514600"/>
            <a:ext cx="128016" cy="12801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6309360" y="235915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259689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Data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528816" y="2852928"/>
            <a:ext cx="18288" cy="14630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9" name="Shape 57"/>
          <p:cNvSpPr/>
          <p:nvPr/>
        </p:nvSpPr>
        <p:spPr>
          <a:xfrm>
            <a:off x="6053328" y="2999232"/>
            <a:ext cx="2862072" cy="548640"/>
          </a:xfrm>
          <a:prstGeom prst="roundRect">
            <a:avLst>
              <a:gd name="adj" fmla="val 13333"/>
            </a:avLst>
          </a:prstGeom>
          <a:solidFill>
            <a:srgbClr val="F3E5F5"/>
          </a:solidFill>
          <a:ln w="1524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Shape 58"/>
          <p:cNvSpPr/>
          <p:nvPr/>
        </p:nvSpPr>
        <p:spPr>
          <a:xfrm>
            <a:off x="6126480" y="3209544"/>
            <a:ext cx="128016" cy="128016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6309360" y="30540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309360" y="329184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Penjana Laporan AI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528816" y="3547872"/>
            <a:ext cx="18288" cy="146304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6053328" y="3694176"/>
            <a:ext cx="2862072" cy="54864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1524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Shape 63"/>
          <p:cNvSpPr/>
          <p:nvPr/>
        </p:nvSpPr>
        <p:spPr>
          <a:xfrm>
            <a:off x="6126480" y="3904488"/>
            <a:ext cx="128016" cy="128016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6309360" y="3749040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Python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09360" y="39867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Â· Skrip PDF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53328" y="4407408"/>
            <a:ext cx="2862072" cy="292608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9" name="Text 67"/>
          <p:cNvSpPr/>
          <p:nvPr/>
        </p:nvSpPr>
        <p:spPr>
          <a:xfrm>
            <a:off x="6053328" y="440740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Sumber Terbuka Â· Tiada Kos Lesen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Sistem Berfungsi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18872" y="512064"/>
            <a:ext cx="2944368" cy="82296"/>
          </a:xfrm>
          <a:prstGeom prst="roundRect">
            <a:avLst>
              <a:gd name="adj" fmla="val 66667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246888" y="658368"/>
            <a:ext cx="530352" cy="530352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246888" y="658368"/>
            <a:ext cx="530352" cy="530352"/>
          </a:xfrm>
          <a:prstGeom prst="ellipse">
            <a:avLst/>
          </a:prstGeom>
          <a:solidFill>
            <a:srgbClr val="1976D2">
              <a:alpha val="4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246888" y="658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392" y="7132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PERTAMA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" y="12618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 Masukkan Profil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5176" y="1874520"/>
            <a:ext cx="91440" cy="9144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peperiksaan SPM semua subjek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" y="2350008"/>
            <a:ext cx="91440" cy="9144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11480" y="22585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ko-kurikulum (skala 0 — 100)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" y="2825496"/>
            <a:ext cx="91440" cy="9144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11480" y="273405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Bidang pelajaran pilihan (Sains / Sastera / Teknik)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" y="3300984"/>
            <a:ext cx="91440" cy="9144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11480" y="320954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IPT: Awam / Swasta / Politeknik / Lain-lain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" y="3776472"/>
            <a:ext cx="91440" cy="9144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411480" y="368503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pendapatan keluarga: B40 / M40 / T20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6888" y="4626864"/>
            <a:ext cx="2688336" cy="100584"/>
          </a:xfrm>
          <a:prstGeom prst="roundRect">
            <a:avLst>
              <a:gd name="adj" fmla="val 50000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246888" y="4626864"/>
            <a:ext cx="887151" cy="100584"/>
          </a:xfrm>
          <a:prstGeom prst="roundRect">
            <a:avLst>
              <a:gd name="adj" fmla="val 50000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246888" y="47457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Lengkap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27248" y="2560320"/>
            <a:ext cx="173736" cy="173736"/>
          </a:xfrm>
          <a:prstGeom prst="ellipse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3122676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3154680" y="512064"/>
            <a:ext cx="2944368" cy="82296"/>
          </a:xfrm>
          <a:prstGeom prst="roundRect">
            <a:avLst>
              <a:gd name="adj" fmla="val 66667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3282696" y="658368"/>
            <a:ext cx="530352" cy="530352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3282696" y="658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86200" y="7132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KEDUA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82696" y="12618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Analisis &amp; Padankan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300984" y="1874520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3447288" y="17830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dibanding dengan 23 biasiswa dalam pangkalan data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00984" y="2350008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3447288" y="22585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= Akademik SPM (90%) + Ko-kurikulum PAJSK (10%)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00984" y="2825496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3447288" y="273405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pendapatan tentukan kelayakan biasiswa (B40/M40/T20)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00984" y="3300984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3447288" y="320954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IPT disaring mengikut kriteria profil pelajar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00984" y="3776472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3447288" y="368503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Pilihan disusun atur mengikut skor kesesuaian tertinggi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82696" y="4626864"/>
            <a:ext cx="2688336" cy="100584"/>
          </a:xfrm>
          <a:prstGeom prst="roundRect">
            <a:avLst>
              <a:gd name="adj" fmla="val 50000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3282696" y="4626864"/>
            <a:ext cx="1774302" cy="100584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3282696" y="47457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 Lengkap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63056" y="2560320"/>
            <a:ext cx="173736" cy="173736"/>
          </a:xfrm>
          <a:prstGeom prst="ellipse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6158484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90488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0" name="Shape 48"/>
          <p:cNvSpPr/>
          <p:nvPr/>
        </p:nvSpPr>
        <p:spPr>
          <a:xfrm>
            <a:off x="6190488" y="512064"/>
            <a:ext cx="2944368" cy="82296"/>
          </a:xfrm>
          <a:prstGeom prst="roundRect">
            <a:avLst>
              <a:gd name="adj" fmla="val 66667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1" name="Shape 49"/>
          <p:cNvSpPr/>
          <p:nvPr/>
        </p:nvSpPr>
        <p:spPr>
          <a:xfrm>
            <a:off x="6318504" y="658368"/>
            <a:ext cx="530352" cy="53035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6318504" y="658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922008" y="7132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KETIGA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18504" y="12618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 Terima Cadangan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6336792" y="1874520"/>
            <a:ext cx="91440" cy="9144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6483096" y="17830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peribadi dijana secara automatik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36792" y="2350008"/>
            <a:ext cx="91440" cy="9144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6483096" y="22585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Senarai biasiswa terbaik disusun mengikut skor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36792" y="2825496"/>
            <a:ext cx="91440" cy="9144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6483096" y="273405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kursus berdasarkan bidang dan keputusan SPM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36792" y="3300984"/>
            <a:ext cx="91440" cy="9144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6483096" y="320954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 disyorkan dengan skor padanan penuh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18504" y="4626864"/>
            <a:ext cx="2688336" cy="100584"/>
          </a:xfrm>
          <a:prstGeom prst="roundRect">
            <a:avLst>
              <a:gd name="adj" fmla="val 50000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6318504" y="4626864"/>
            <a:ext cx="2688336" cy="100584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5" name="Text 63"/>
          <p:cNvSpPr/>
          <p:nvPr/>
        </p:nvSpPr>
        <p:spPr>
          <a:xfrm>
            <a:off x="6318504" y="474573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Cara Sistem Menilai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12064"/>
            <a:ext cx="6035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82880" y="5760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82880" y="5760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976D2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182880" y="5760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548640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pelajar mendapat skor kesesuaian berdasarkan markah akademik SPM (90%) dan pencapaian ko-kurikulum (10%). Kategori pendapatan keluarga menentukan kelayakan </a:t>
            </a:r>
            <a:r>
              <a:rPr lang="en-US" sz="110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biasiswa</a:t>
            </a: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pelajar B40 layak untuk lebih banyak biasiswa.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" y="1408176"/>
            <a:ext cx="6035040" cy="3648456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237744" y="16824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603504" y="1664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Markah Akademik SPM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49240" y="1664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" y="2029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mata pelajaran teras + 3 terbaik lain Â· A+ = 18 markah, A = 16 markah, Aâˆ’ = 14 markah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" y="2322576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237744" y="2322576"/>
            <a:ext cx="4937760" cy="310896"/>
          </a:xfrm>
          <a:prstGeom prst="roundRect">
            <a:avLst>
              <a:gd name="adj" fmla="val 17647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256032" y="232257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03504" y="3054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Ko-Kurikulum (PAJSK)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49240" y="30540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3504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 pencapaian tertinggi di peringkat sekolah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" y="3712464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237744" y="3712464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256032" y="37124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" y="4425696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384048" y="44439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Pendapatan </a:t>
            </a:r>
            <a:r>
              <a:rPr lang="en-US" sz="1000" b="1" dirty="0" err="1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Keluarga</a:t>
            </a: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Faktor Kelayakan: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6451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B40 layak untuk lebih banyak biasiswa  Â·  M40  standard  Â·  T20  merit sahaja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1928" y="512064"/>
            <a:ext cx="2743200" cy="454456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6281928" y="576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Pecahan Skor</a:t>
            </a:r>
            <a:endParaRPr lang="en-US" sz="11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6373368" y="859536"/>
          <a:ext cx="25603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 29"/>
          <p:cNvSpPr/>
          <p:nvPr/>
        </p:nvSpPr>
        <p:spPr>
          <a:xfrm>
            <a:off x="6373368" y="1773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73368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373368" y="3474720"/>
            <a:ext cx="164592" cy="164592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Text 32"/>
          <p:cNvSpPr/>
          <p:nvPr/>
        </p:nvSpPr>
        <p:spPr>
          <a:xfrm>
            <a:off x="6601968" y="3419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 SPM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284464" y="34198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373368" y="3950208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Text 35"/>
          <p:cNvSpPr/>
          <p:nvPr/>
        </p:nvSpPr>
        <p:spPr>
          <a:xfrm>
            <a:off x="6601968" y="38953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Ko-Kurikulum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284464" y="3895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400800" y="4425696"/>
            <a:ext cx="2468880" cy="512064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8"/>
          <p:cNvSpPr/>
          <p:nvPr/>
        </p:nvSpPr>
        <p:spPr>
          <a:xfrm>
            <a:off x="6492240" y="4443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=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492240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SPM(90%) + PAJSK(10%)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Cabaran, Penyelesaian &amp; Pengajaran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18872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18872" y="932688"/>
            <a:ext cx="2944368" cy="18288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228600" y="630936"/>
            <a:ext cx="347472" cy="347472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9224" y="58521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Cabaran Dihadapi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" y="1225296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237744" y="1225296"/>
            <a:ext cx="38405" cy="115214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29184" y="1271016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 Dwibahasa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" y="1453896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biasiswa wujud dalam BM dan BI dengan format tidak konsisten antara pelbagai sumber data yang digunakan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" y="2468880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237744" y="2468880"/>
            <a:ext cx="38405" cy="115214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29184" y="2514600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Tidak Seragam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" y="2697480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daripada pelbagai sumber dengan format berbeza, termasuk masalah rekod pendua yang perlu dibersihkan sepenuhnya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" y="3712464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237744" y="3712464"/>
            <a:ext cx="38405" cy="115214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329184" y="3758184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Ketepatan Padanan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" y="3941064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Memastikan padanan tepat dan relevan tanpa menunjukkan biasiswa yang pelajar tidak layak untuk memohon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99816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3099816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3099816" y="932688"/>
            <a:ext cx="2944368" cy="182880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3209544" y="630936"/>
            <a:ext cx="347472" cy="347472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3630168" y="58521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Kami Selesaikan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18688" y="1225296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3218688" y="1225296"/>
            <a:ext cx="38405" cy="115214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3310128" y="1271016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Dwibahasa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0128" y="1453896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normalisasi sedar bahasa dibina untuk mengendalikan kriteria biasiswa dalam kedua-dua bahasa dengan tepat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18688" y="2468880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3218688" y="2468880"/>
            <a:ext cx="38405" cy="115214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3310128" y="2514600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Pembersihan Data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10128" y="2697480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Skrip pembersihan data digunakan bersama ID unik untuk mencegah rekod pendua masuk ke dalam sistem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18688" y="3712464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3218688" y="3712464"/>
            <a:ext cx="38405" cy="115214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3310128" y="3758184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 Berbilang Lapis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10128" y="3941064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multi-kriteria memastikan hanya pilihan yang benar-benar layak ditunjukkan kepada setiap pelajar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0760" y="512064"/>
            <a:ext cx="2944368" cy="45445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Shape 39"/>
          <p:cNvSpPr/>
          <p:nvPr/>
        </p:nvSpPr>
        <p:spPr>
          <a:xfrm>
            <a:off x="6080760" y="512064"/>
            <a:ext cx="2944368" cy="603504"/>
          </a:xfrm>
          <a:prstGeom prst="roundRect">
            <a:avLst>
              <a:gd name="adj" fmla="val 12121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Shape 40"/>
          <p:cNvSpPr/>
          <p:nvPr/>
        </p:nvSpPr>
        <p:spPr>
          <a:xfrm>
            <a:off x="6080760" y="932688"/>
            <a:ext cx="2944368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6190488" y="630936"/>
            <a:ext cx="347472" cy="347472"/>
          </a:xfrm>
          <a:prstGeom prst="ellipse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6611112" y="58521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Pengajaran Diperoleh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99632" y="1225296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Shape 44"/>
          <p:cNvSpPr/>
          <p:nvPr/>
        </p:nvSpPr>
        <p:spPr>
          <a:xfrm>
            <a:off x="6199632" y="1225296"/>
            <a:ext cx="38405" cy="115214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7" name="Text 45"/>
          <p:cNvSpPr/>
          <p:nvPr/>
        </p:nvSpPr>
        <p:spPr>
          <a:xfrm>
            <a:off x="6291072" y="1271016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Berasaskan Peraturan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91072" y="1453896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Tepat, boleh diaudit, dan </a:t>
            </a:r>
            <a:r>
              <a:rPr lang="en-US" sz="100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laju</a:t>
            </a: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beroperasi dalam milisaat tanpa memerlukan AI atau Machine Learning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99632" y="2468880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0" name="Shape 48"/>
          <p:cNvSpPr/>
          <p:nvPr/>
        </p:nvSpPr>
        <p:spPr>
          <a:xfrm>
            <a:off x="6199632" y="2468880"/>
            <a:ext cx="38405" cy="115214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1" name="Text 49"/>
          <p:cNvSpPr/>
          <p:nvPr/>
        </p:nvSpPr>
        <p:spPr>
          <a:xfrm>
            <a:off x="6291072" y="2514600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Sesi Tersimpan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91072" y="2697480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pelajar disimpan merentas </a:t>
            </a:r>
            <a:r>
              <a:rPr lang="en-US" sz="100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kunjungan</a:t>
            </a: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tiada keperluan untuk memasukkan maklumat semula setiap kali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99632" y="3712464"/>
            <a:ext cx="2706624" cy="1152144"/>
          </a:xfrm>
          <a:prstGeom prst="roundRect">
            <a:avLst>
              <a:gd name="adj" fmla="val 4762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4" name="Shape 52"/>
          <p:cNvSpPr/>
          <p:nvPr/>
        </p:nvSpPr>
        <p:spPr>
          <a:xfrm>
            <a:off x="6199632" y="3712464"/>
            <a:ext cx="38405" cy="115214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5" name="Text 53"/>
          <p:cNvSpPr/>
          <p:nvPr/>
        </p:nvSpPr>
        <p:spPr>
          <a:xfrm>
            <a:off x="6291072" y="3758184"/>
            <a:ext cx="2578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IPT Berlapis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291072" y="3941064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IPT gunakan kriteria berbilang: bidang + gred + pendapatan + jenis untuk ketepatan lebih tinggi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420624"/>
          </a:xfrm>
          <a:prstGeom prst="rect">
            <a:avLst/>
          </a:prstGeom>
          <a:solidFill>
            <a:srgbClr val="1976D2">
              <a:alpha val="5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Projek Semasa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" y="512064"/>
            <a:ext cx="4407408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246888" y="603504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KEMAJUAN KESELURUHAN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" y="841248"/>
            <a:ext cx="4151376" cy="10973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graphicFrame>
        <p:nvGraphicFramePr>
          <p:cNvPr id="9" name="Chart 0"/>
          <p:cNvGraphicFramePr/>
          <p:nvPr/>
        </p:nvGraphicFramePr>
        <p:xfrm>
          <a:off x="228600" y="932688"/>
          <a:ext cx="192024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228600" y="14996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286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67712" y="1225296"/>
            <a:ext cx="128016" cy="128016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2441448" y="11704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25%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67712" y="1517904"/>
            <a:ext cx="128016" cy="128016"/>
          </a:xfrm>
          <a:prstGeom prst="ellipse">
            <a:avLst/>
          </a:prstGeom>
          <a:solidFill>
            <a:srgbClr val="82868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2"/>
          <p:cNvSpPr/>
          <p:nvPr/>
        </p:nvSpPr>
        <p:spPr>
          <a:xfrm>
            <a:off x="2441448" y="1463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Proses  75%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67712" y="1828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padanan, portal, dan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pangkalan data aktif.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67712" y="2304288"/>
            <a:ext cx="1920240" cy="20116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2267712" y="2304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Live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45152" y="512064"/>
            <a:ext cx="4407408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ext 17"/>
          <p:cNvSpPr/>
          <p:nvPr/>
        </p:nvSpPr>
        <p:spPr>
          <a:xfrm>
            <a:off x="4773168" y="603504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PENCAPAIAN SPRINT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73168" y="841248"/>
            <a:ext cx="4151376" cy="10973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9"/>
          <p:cNvSpPr/>
          <p:nvPr/>
        </p:nvSpPr>
        <p:spPr>
          <a:xfrm>
            <a:off x="4773168" y="987552"/>
            <a:ext cx="182880" cy="18288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Text 20"/>
          <p:cNvSpPr/>
          <p:nvPr/>
        </p:nvSpPr>
        <p:spPr>
          <a:xfrm>
            <a:off x="4773168" y="987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10912" y="950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 pangkalan data &amp; data dimuatkan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73168" y="1261872"/>
            <a:ext cx="182880" cy="18288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3"/>
          <p:cNvSpPr/>
          <p:nvPr/>
        </p:nvSpPr>
        <p:spPr>
          <a:xfrm>
            <a:off x="4773168" y="1261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10912" y="1225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 &amp; log masuk pelajar berfungsi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773168" y="1536192"/>
            <a:ext cx="182880" cy="18288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6"/>
          <p:cNvSpPr/>
          <p:nvPr/>
        </p:nvSpPr>
        <p:spPr>
          <a:xfrm>
            <a:off x="4773168" y="1536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10912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padanan biasiswa siap &amp; diuji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73168" y="1810512"/>
            <a:ext cx="182880" cy="18288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29"/>
          <p:cNvSpPr/>
          <p:nvPr/>
        </p:nvSpPr>
        <p:spPr>
          <a:xfrm>
            <a:off x="4773168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10912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IPT berbilang lapis selesai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73168" y="2084832"/>
            <a:ext cx="182880" cy="18288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Text 32"/>
          <p:cNvSpPr/>
          <p:nvPr/>
        </p:nvSpPr>
        <p:spPr>
          <a:xfrm>
            <a:off x="4773168" y="2084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10912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dwibahasa BM / EN aktif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773168" y="2359152"/>
            <a:ext cx="182880" cy="182880"/>
          </a:xfrm>
          <a:prstGeom prst="ellipse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Text 35"/>
          <p:cNvSpPr/>
          <p:nvPr/>
        </p:nvSpPr>
        <p:spPr>
          <a:xfrm>
            <a:off x="4773168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010912" y="2322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Eksport laporan PDF (dalam proses)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18872" y="2852928"/>
            <a:ext cx="4407408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Text 38"/>
          <p:cNvSpPr/>
          <p:nvPr/>
        </p:nvSpPr>
        <p:spPr>
          <a:xfrm>
            <a:off x="246888" y="2944368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SEMASA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46888" y="3182112"/>
            <a:ext cx="4151376" cy="10973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3" name="Shape 40"/>
          <p:cNvSpPr/>
          <p:nvPr/>
        </p:nvSpPr>
        <p:spPr>
          <a:xfrm>
            <a:off x="246888" y="3273552"/>
            <a:ext cx="1353312" cy="1700784"/>
          </a:xfrm>
          <a:prstGeom prst="roundRect">
            <a:avLst>
              <a:gd name="adj" fmla="val 4054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4" name="Shape 41"/>
          <p:cNvSpPr/>
          <p:nvPr/>
        </p:nvSpPr>
        <p:spPr>
          <a:xfrm>
            <a:off x="246888" y="3273552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5" name="Shape 42"/>
          <p:cNvSpPr/>
          <p:nvPr/>
        </p:nvSpPr>
        <p:spPr>
          <a:xfrm>
            <a:off x="246888" y="3401568"/>
            <a:ext cx="1353312" cy="128016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6" name="Text 43"/>
          <p:cNvSpPr/>
          <p:nvPr/>
        </p:nvSpPr>
        <p:spPr>
          <a:xfrm>
            <a:off x="246888" y="32735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01752" y="3602736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5"/>
          <p:cNvSpPr/>
          <p:nvPr/>
        </p:nvSpPr>
        <p:spPr>
          <a:xfrm>
            <a:off x="301752" y="36027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sistem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01752" y="3941064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7"/>
          <p:cNvSpPr/>
          <p:nvPr/>
        </p:nvSpPr>
        <p:spPr>
          <a:xfrm>
            <a:off x="301752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Pangkalan data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301752" y="4279392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49"/>
          <p:cNvSpPr/>
          <p:nvPr/>
        </p:nvSpPr>
        <p:spPr>
          <a:xfrm>
            <a:off x="301752" y="42793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skor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01752" y="4617720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1"/>
          <p:cNvSpPr/>
          <p:nvPr/>
        </p:nvSpPr>
        <p:spPr>
          <a:xfrm>
            <a:off x="301752" y="46177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portal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1655064" y="3273552"/>
            <a:ext cx="1353312" cy="1700784"/>
          </a:xfrm>
          <a:prstGeom prst="roundRect">
            <a:avLst>
              <a:gd name="adj" fmla="val 4054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6" name="Shape 53"/>
          <p:cNvSpPr/>
          <p:nvPr/>
        </p:nvSpPr>
        <p:spPr>
          <a:xfrm>
            <a:off x="1655064" y="3273552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7" name="Shape 54"/>
          <p:cNvSpPr/>
          <p:nvPr/>
        </p:nvSpPr>
        <p:spPr>
          <a:xfrm>
            <a:off x="1655064" y="3401568"/>
            <a:ext cx="1353312" cy="128016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8" name="Text 55"/>
          <p:cNvSpPr/>
          <p:nvPr/>
        </p:nvSpPr>
        <p:spPr>
          <a:xfrm>
            <a:off x="1655064" y="32735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Proses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1709928" y="3602736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7"/>
          <p:cNvSpPr/>
          <p:nvPr/>
        </p:nvSpPr>
        <p:spPr>
          <a:xfrm>
            <a:off x="1709928" y="36027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Ujian integrasi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1709928" y="3941064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59"/>
          <p:cNvSpPr/>
          <p:nvPr/>
        </p:nvSpPr>
        <p:spPr>
          <a:xfrm>
            <a:off x="1709928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Semak data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709928" y="4279392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1"/>
          <p:cNvSpPr/>
          <p:nvPr/>
        </p:nvSpPr>
        <p:spPr>
          <a:xfrm>
            <a:off x="1709928" y="42793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refinement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3063240" y="3273552"/>
            <a:ext cx="1353312" cy="1700784"/>
          </a:xfrm>
          <a:prstGeom prst="roundRect">
            <a:avLst>
              <a:gd name="adj" fmla="val 4054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6" name="Shape 63"/>
          <p:cNvSpPr/>
          <p:nvPr/>
        </p:nvSpPr>
        <p:spPr>
          <a:xfrm>
            <a:off x="3063240" y="3273552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7" name="Shape 64"/>
          <p:cNvSpPr/>
          <p:nvPr/>
        </p:nvSpPr>
        <p:spPr>
          <a:xfrm>
            <a:off x="3063240" y="3401568"/>
            <a:ext cx="1353312" cy="128016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8" name="Text 65"/>
          <p:cNvSpPr/>
          <p:nvPr/>
        </p:nvSpPr>
        <p:spPr>
          <a:xfrm>
            <a:off x="3063240" y="32735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Akan Datang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3118104" y="3602736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7"/>
          <p:cNvSpPr/>
          <p:nvPr/>
        </p:nvSpPr>
        <p:spPr>
          <a:xfrm>
            <a:off x="3118104" y="36027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Eksport PDF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118104" y="3941064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69"/>
          <p:cNvSpPr/>
          <p:nvPr/>
        </p:nvSpPr>
        <p:spPr>
          <a:xfrm>
            <a:off x="3118104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pelajar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3118104" y="4279392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4E9E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1"/>
          <p:cNvSpPr/>
          <p:nvPr/>
        </p:nvSpPr>
        <p:spPr>
          <a:xfrm>
            <a:off x="3118104" y="42793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645152" y="2852928"/>
            <a:ext cx="4407408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D4E9E2"/>
            </a:solidFill>
            <a:prstDash val="solid"/>
          </a:ln>
          <a:effectLst>
            <a:outerShdw blurRad="76200" dist="38100" dir="16200000" algn="bl" rotWithShape="0">
              <a:srgbClr val="1A2020">
                <a:alpha val="9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6" name="Text 73"/>
          <p:cNvSpPr/>
          <p:nvPr/>
        </p:nvSpPr>
        <p:spPr>
          <a:xfrm>
            <a:off x="4773168" y="2944368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2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RISIKO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4773168" y="3182112"/>
            <a:ext cx="4151376" cy="10973"/>
          </a:xfrm>
          <a:prstGeom prst="rect">
            <a:avLst/>
          </a:prstGeom>
          <a:solidFill>
            <a:srgbClr val="D4E9E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8" name="Shape 75"/>
          <p:cNvSpPr/>
          <p:nvPr/>
        </p:nvSpPr>
        <p:spPr>
          <a:xfrm>
            <a:off x="4773168" y="3374136"/>
            <a:ext cx="128016" cy="128016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9" name="Text 76"/>
          <p:cNvSpPr/>
          <p:nvPr/>
        </p:nvSpPr>
        <p:spPr>
          <a:xfrm>
            <a:off x="4956048" y="3291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 padanan utama</a:t>
            </a:r>
            <a:endParaRPr lang="en-US" sz="1150" dirty="0"/>
          </a:p>
        </p:txBody>
      </p:sp>
      <p:sp>
        <p:nvSpPr>
          <p:cNvPr id="80" name="Shape 77"/>
          <p:cNvSpPr/>
          <p:nvPr/>
        </p:nvSpPr>
        <p:spPr>
          <a:xfrm>
            <a:off x="8083296" y="332841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1" name="Text 78"/>
          <p:cNvSpPr/>
          <p:nvPr/>
        </p:nvSpPr>
        <p:spPr>
          <a:xfrm>
            <a:off x="8083296" y="33284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Rendah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4773168" y="3794760"/>
            <a:ext cx="128016" cy="128016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3" name="Text 80"/>
          <p:cNvSpPr/>
          <p:nvPr/>
        </p:nvSpPr>
        <p:spPr>
          <a:xfrm>
            <a:off x="4956048" y="37124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Kelengkapan data biasiswa</a:t>
            </a:r>
            <a:endParaRPr lang="en-US" sz="1150" dirty="0"/>
          </a:p>
        </p:txBody>
      </p:sp>
      <p:sp>
        <p:nvSpPr>
          <p:cNvPr id="84" name="Shape 81"/>
          <p:cNvSpPr/>
          <p:nvPr/>
        </p:nvSpPr>
        <p:spPr>
          <a:xfrm>
            <a:off x="8083296" y="374904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5" name="Text 82"/>
          <p:cNvSpPr/>
          <p:nvPr/>
        </p:nvSpPr>
        <p:spPr>
          <a:xfrm>
            <a:off x="8083296" y="3749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Sederhana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4773168" y="4215384"/>
            <a:ext cx="128016" cy="128016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7" name="Text 84"/>
          <p:cNvSpPr/>
          <p:nvPr/>
        </p:nvSpPr>
        <p:spPr>
          <a:xfrm>
            <a:off x="4956048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Skop projek</a:t>
            </a:r>
            <a:endParaRPr lang="en-US" sz="1150" dirty="0"/>
          </a:p>
        </p:txBody>
      </p:sp>
      <p:sp>
        <p:nvSpPr>
          <p:cNvPr id="88" name="Shape 85"/>
          <p:cNvSpPr/>
          <p:nvPr/>
        </p:nvSpPr>
        <p:spPr>
          <a:xfrm>
            <a:off x="8083296" y="416966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9" name="Text 86"/>
          <p:cNvSpPr/>
          <p:nvPr/>
        </p:nvSpPr>
        <p:spPr>
          <a:xfrm>
            <a:off x="8083296" y="4169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Terkawal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4773168" y="4636008"/>
            <a:ext cx="128016" cy="128016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1" name="Text 88"/>
          <p:cNvSpPr/>
          <p:nvPr/>
        </p:nvSpPr>
        <p:spPr>
          <a:xfrm>
            <a:off x="4956048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Keselamatan data pelajar</a:t>
            </a:r>
            <a:endParaRPr lang="en-US" sz="1150" dirty="0"/>
          </a:p>
        </p:txBody>
      </p:sp>
      <p:sp>
        <p:nvSpPr>
          <p:cNvPr id="92" name="Shape 89"/>
          <p:cNvSpPr/>
          <p:nvPr/>
        </p:nvSpPr>
        <p:spPr>
          <a:xfrm>
            <a:off x="8083296" y="4590288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3" name="Text 90"/>
          <p:cNvSpPr/>
          <p:nvPr/>
        </p:nvSpPr>
        <p:spPr>
          <a:xfrm>
            <a:off x="8083296" y="45902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Rendah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4773168" y="4937760"/>
            <a:ext cx="4151376" cy="310896"/>
          </a:xfrm>
          <a:prstGeom prst="roundRect">
            <a:avLst>
              <a:gd name="adj" fmla="val 17647"/>
            </a:avLst>
          </a:prstGeom>
          <a:solidFill>
            <a:srgbClr val="E8F5F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5" name="Text 92"/>
          <p:cNvSpPr/>
          <p:nvPr/>
        </p:nvSpPr>
        <p:spPr>
          <a:xfrm>
            <a:off x="4864608" y="4937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Tiada risiko </a:t>
            </a:r>
            <a:r>
              <a:rPr lang="en-US" sz="1050" dirty="0" err="1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kritikal</a:t>
            </a:r>
            <a:r>
              <a:rPr lang="en-US" sz="1050" dirty="0">
                <a:solidFill>
                  <a:srgbClr val="82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pembangunan berjalan mengikut jadual.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1976D2">
              <a:alpha val="46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303520" cy="530352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7920" y="2560320"/>
            <a:ext cx="4114800" cy="41148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50" dirty="0" err="1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DELIMa</a:t>
            </a:r>
            <a:r>
              <a:rPr lang="en-US" sz="950" kern="0" spc="150" dirty="0">
                <a:solidFill>
                  <a:srgbClr val="FFFFFF">
                    <a:alpha val="5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Decision Intelligence for Malaysian Students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95097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1097280" y="2121408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ini dibina untuk memastikan setiap pelajar lepasan SPM mendapat hala tuju yang jelas — biasiswa yang tepat, kursus yang sesuai, dan IPT terbaik untuk masa depan mereka.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2980944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2857500" y="3035808"/>
            <a:ext cx="10973" cy="987552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572000" y="3035808"/>
            <a:ext cx="10973" cy="987552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6286500" y="3035808"/>
            <a:ext cx="10973" cy="987552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143000" y="3054096"/>
            <a:ext cx="17145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43000" y="363931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BIASISWA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57500" y="3054096"/>
            <a:ext cx="17145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57500" y="363931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3054096"/>
            <a:ext cx="17145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PERCUMA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86500" y="3054096"/>
            <a:ext cx="17145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86500" y="363931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0" y="4279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 Sistem Maklumat  Â·  2025  2026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30768" y="4828032"/>
            <a:ext cx="137160" cy="13716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8613648" y="4828032"/>
            <a:ext cx="137160" cy="137160"/>
          </a:xfrm>
          <a:prstGeom prst="ellips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1243</Words>
  <Application>Microsoft Office PowerPoint</Application>
  <PresentationFormat>On-screen Show (16:9)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iegpc1</cp:lastModifiedBy>
  <cp:revision>2</cp:revision>
  <dcterms:created xsi:type="dcterms:W3CDTF">2026-07-20T10:31:46Z</dcterms:created>
  <dcterms:modified xsi:type="dcterms:W3CDTF">2026-07-21T05:14:56Z</dcterms:modified>
</cp:coreProperties>
</file>